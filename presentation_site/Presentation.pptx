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4630400" cy="8229600"/>
  <p:notesSz cx="8229600" cy="14630400"/>
  <p:embeddedFontLst>
    <p:embeddedFont>
      <p:font typeface="Poppins Light" panose="00000400000000000000" pitchFamily="2" charset="0"/>
      <p:regular r:id="rId23"/>
      <p:italic r:id="rId24"/>
    </p:embeddedFont>
    <p:embeddedFont>
      <p:font typeface="Roboto Light" panose="02000000000000000000" pitchFamily="2" charset="0"/>
      <p:regular r:id="rId25"/>
      <p:italic r:id="rId26"/>
    </p:embeddedFont>
  </p:embeddedFontLst>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2A77E4-A1C4-24DC-8668-BB63B0669CFD}" v="32" dt="2026-04-21T10:33:42.5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suario invitado" userId="S::urn:spo:tenantanon#f8dd01b8-7276-4ace-aa9d-5767f0f4a5af::" providerId="AD" clId="Web-{152A77E4-A1C4-24DC-8668-BB63B0669CFD}"/>
    <pc:docChg chg="modSld">
      <pc:chgData name="Usuario invitado" userId="S::urn:spo:tenantanon#f8dd01b8-7276-4ace-aa9d-5767f0f4a5af::" providerId="AD" clId="Web-{152A77E4-A1C4-24DC-8668-BB63B0669CFD}" dt="2026-04-21T10:33:42.547" v="31" actId="14100"/>
      <pc:docMkLst>
        <pc:docMk/>
      </pc:docMkLst>
      <pc:sldChg chg="modSp">
        <pc:chgData name="Usuario invitado" userId="S::urn:spo:tenantanon#f8dd01b8-7276-4ace-aa9d-5767f0f4a5af::" providerId="AD" clId="Web-{152A77E4-A1C4-24DC-8668-BB63B0669CFD}" dt="2026-04-21T10:10:33.764" v="0" actId="14100"/>
        <pc:sldMkLst>
          <pc:docMk/>
          <pc:sldMk cId="0" sldId="257"/>
        </pc:sldMkLst>
        <pc:spChg chg="mod">
          <ac:chgData name="Usuario invitado" userId="S::urn:spo:tenantanon#f8dd01b8-7276-4ace-aa9d-5767f0f4a5af::" providerId="AD" clId="Web-{152A77E4-A1C4-24DC-8668-BB63B0669CFD}" dt="2026-04-21T10:10:33.764" v="0" actId="14100"/>
          <ac:spMkLst>
            <pc:docMk/>
            <pc:sldMk cId="0" sldId="257"/>
            <ac:spMk id="4" creationId="{00000000-0000-0000-0000-000000000000}"/>
          </ac:spMkLst>
        </pc:spChg>
      </pc:sldChg>
      <pc:sldChg chg="modSp">
        <pc:chgData name="Usuario invitado" userId="S::urn:spo:tenantanon#f8dd01b8-7276-4ace-aa9d-5767f0f4a5af::" providerId="AD" clId="Web-{152A77E4-A1C4-24DC-8668-BB63B0669CFD}" dt="2026-04-21T10:10:43.967" v="1" actId="14100"/>
        <pc:sldMkLst>
          <pc:docMk/>
          <pc:sldMk cId="0" sldId="258"/>
        </pc:sldMkLst>
        <pc:spChg chg="mod">
          <ac:chgData name="Usuario invitado" userId="S::urn:spo:tenantanon#f8dd01b8-7276-4ace-aa9d-5767f0f4a5af::" providerId="AD" clId="Web-{152A77E4-A1C4-24DC-8668-BB63B0669CFD}" dt="2026-04-21T10:10:43.967" v="1" actId="14100"/>
          <ac:spMkLst>
            <pc:docMk/>
            <pc:sldMk cId="0" sldId="258"/>
            <ac:spMk id="4" creationId="{00000000-0000-0000-0000-000000000000}"/>
          </ac:spMkLst>
        </pc:spChg>
      </pc:sldChg>
      <pc:sldChg chg="modSp">
        <pc:chgData name="Usuario invitado" userId="S::urn:spo:tenantanon#f8dd01b8-7276-4ace-aa9d-5767f0f4a5af::" providerId="AD" clId="Web-{152A77E4-A1C4-24DC-8668-BB63B0669CFD}" dt="2026-04-21T10:12:09.577" v="11" actId="14100"/>
        <pc:sldMkLst>
          <pc:docMk/>
          <pc:sldMk cId="0" sldId="259"/>
        </pc:sldMkLst>
        <pc:spChg chg="mod">
          <ac:chgData name="Usuario invitado" userId="S::urn:spo:tenantanon#f8dd01b8-7276-4ace-aa9d-5767f0f4a5af::" providerId="AD" clId="Web-{152A77E4-A1C4-24DC-8668-BB63B0669CFD}" dt="2026-04-21T10:12:09.577" v="11" actId="14100"/>
          <ac:spMkLst>
            <pc:docMk/>
            <pc:sldMk cId="0" sldId="259"/>
            <ac:spMk id="4" creationId="{00000000-0000-0000-0000-000000000000}"/>
          </ac:spMkLst>
        </pc:spChg>
        <pc:spChg chg="mod">
          <ac:chgData name="Usuario invitado" userId="S::urn:spo:tenantanon#f8dd01b8-7276-4ace-aa9d-5767f0f4a5af::" providerId="AD" clId="Web-{152A77E4-A1C4-24DC-8668-BB63B0669CFD}" dt="2026-04-21T10:11:54.608" v="8" actId="14100"/>
          <ac:spMkLst>
            <pc:docMk/>
            <pc:sldMk cId="0" sldId="259"/>
            <ac:spMk id="7" creationId="{00000000-0000-0000-0000-000000000000}"/>
          </ac:spMkLst>
        </pc:spChg>
        <pc:spChg chg="mod">
          <ac:chgData name="Usuario invitado" userId="S::urn:spo:tenantanon#f8dd01b8-7276-4ace-aa9d-5767f0f4a5af::" providerId="AD" clId="Web-{152A77E4-A1C4-24DC-8668-BB63B0669CFD}" dt="2026-04-21T10:11:50.092" v="7" actId="14100"/>
          <ac:spMkLst>
            <pc:docMk/>
            <pc:sldMk cId="0" sldId="259"/>
            <ac:spMk id="10" creationId="{00000000-0000-0000-0000-000000000000}"/>
          </ac:spMkLst>
        </pc:spChg>
        <pc:spChg chg="mod">
          <ac:chgData name="Usuario invitado" userId="S::urn:spo:tenantanon#f8dd01b8-7276-4ace-aa9d-5767f0f4a5af::" providerId="AD" clId="Web-{152A77E4-A1C4-24DC-8668-BB63B0669CFD}" dt="2026-04-21T10:11:58.201" v="9" actId="14100"/>
          <ac:spMkLst>
            <pc:docMk/>
            <pc:sldMk cId="0" sldId="259"/>
            <ac:spMk id="13" creationId="{00000000-0000-0000-0000-000000000000}"/>
          </ac:spMkLst>
        </pc:spChg>
        <pc:spChg chg="mod">
          <ac:chgData name="Usuario invitado" userId="S::urn:spo:tenantanon#f8dd01b8-7276-4ace-aa9d-5767f0f4a5af::" providerId="AD" clId="Web-{152A77E4-A1C4-24DC-8668-BB63B0669CFD}" dt="2026-04-21T10:12:05.576" v="10" actId="14100"/>
          <ac:spMkLst>
            <pc:docMk/>
            <pc:sldMk cId="0" sldId="259"/>
            <ac:spMk id="16" creationId="{00000000-0000-0000-0000-000000000000}"/>
          </ac:spMkLst>
        </pc:spChg>
      </pc:sldChg>
      <pc:sldChg chg="modSp">
        <pc:chgData name="Usuario invitado" userId="S::urn:spo:tenantanon#f8dd01b8-7276-4ace-aa9d-5767f0f4a5af::" providerId="AD" clId="Web-{152A77E4-A1C4-24DC-8668-BB63B0669CFD}" dt="2026-04-21T10:11:40.186" v="6" actId="14100"/>
        <pc:sldMkLst>
          <pc:docMk/>
          <pc:sldMk cId="0" sldId="260"/>
        </pc:sldMkLst>
        <pc:spChg chg="mod">
          <ac:chgData name="Usuario invitado" userId="S::urn:spo:tenantanon#f8dd01b8-7276-4ace-aa9d-5767f0f4a5af::" providerId="AD" clId="Web-{152A77E4-A1C4-24DC-8668-BB63B0669CFD}" dt="2026-04-21T10:11:40.186" v="6" actId="14100"/>
          <ac:spMkLst>
            <pc:docMk/>
            <pc:sldMk cId="0" sldId="260"/>
            <ac:spMk id="21" creationId="{00000000-0000-0000-0000-000000000000}"/>
          </ac:spMkLst>
        </pc:spChg>
      </pc:sldChg>
      <pc:sldChg chg="modSp">
        <pc:chgData name="Usuario invitado" userId="S::urn:spo:tenantanon#f8dd01b8-7276-4ace-aa9d-5767f0f4a5af::" providerId="AD" clId="Web-{152A77E4-A1C4-24DC-8668-BB63B0669CFD}" dt="2026-04-21T10:11:27.092" v="5" actId="14100"/>
        <pc:sldMkLst>
          <pc:docMk/>
          <pc:sldMk cId="0" sldId="261"/>
        </pc:sldMkLst>
        <pc:spChg chg="mod">
          <ac:chgData name="Usuario invitado" userId="S::urn:spo:tenantanon#f8dd01b8-7276-4ace-aa9d-5767f0f4a5af::" providerId="AD" clId="Web-{152A77E4-A1C4-24DC-8668-BB63B0669CFD}" dt="2026-04-21T10:11:06.248" v="3" actId="14100"/>
          <ac:spMkLst>
            <pc:docMk/>
            <pc:sldMk cId="0" sldId="261"/>
            <ac:spMk id="4" creationId="{00000000-0000-0000-0000-000000000000}"/>
          </ac:spMkLst>
        </pc:spChg>
        <pc:spChg chg="mod">
          <ac:chgData name="Usuario invitado" userId="S::urn:spo:tenantanon#f8dd01b8-7276-4ace-aa9d-5767f0f4a5af::" providerId="AD" clId="Web-{152A77E4-A1C4-24DC-8668-BB63B0669CFD}" dt="2026-04-21T10:11:27.092" v="5" actId="14100"/>
          <ac:spMkLst>
            <pc:docMk/>
            <pc:sldMk cId="0" sldId="261"/>
            <ac:spMk id="10" creationId="{00000000-0000-0000-0000-000000000000}"/>
          </ac:spMkLst>
        </pc:spChg>
        <pc:spChg chg="mod">
          <ac:chgData name="Usuario invitado" userId="S::urn:spo:tenantanon#f8dd01b8-7276-4ace-aa9d-5767f0f4a5af::" providerId="AD" clId="Web-{152A77E4-A1C4-24DC-8668-BB63B0669CFD}" dt="2026-04-21T10:11:23.701" v="4" actId="14100"/>
          <ac:spMkLst>
            <pc:docMk/>
            <pc:sldMk cId="0" sldId="261"/>
            <ac:spMk id="13" creationId="{00000000-0000-0000-0000-000000000000}"/>
          </ac:spMkLst>
        </pc:spChg>
      </pc:sldChg>
      <pc:sldChg chg="modSp">
        <pc:chgData name="Usuario invitado" userId="S::urn:spo:tenantanon#f8dd01b8-7276-4ace-aa9d-5767f0f4a5af::" providerId="AD" clId="Web-{152A77E4-A1C4-24DC-8668-BB63B0669CFD}" dt="2026-04-21T10:10:58.295" v="2" actId="14100"/>
        <pc:sldMkLst>
          <pc:docMk/>
          <pc:sldMk cId="0" sldId="262"/>
        </pc:sldMkLst>
        <pc:spChg chg="mod">
          <ac:chgData name="Usuario invitado" userId="S::urn:spo:tenantanon#f8dd01b8-7276-4ace-aa9d-5767f0f4a5af::" providerId="AD" clId="Web-{152A77E4-A1C4-24DC-8668-BB63B0669CFD}" dt="2026-04-21T10:10:58.295" v="2" actId="14100"/>
          <ac:spMkLst>
            <pc:docMk/>
            <pc:sldMk cId="0" sldId="262"/>
            <ac:spMk id="4" creationId="{00000000-0000-0000-0000-000000000000}"/>
          </ac:spMkLst>
        </pc:spChg>
      </pc:sldChg>
      <pc:sldChg chg="modSp">
        <pc:chgData name="Usuario invitado" userId="S::urn:spo:tenantanon#f8dd01b8-7276-4ace-aa9d-5767f0f4a5af::" providerId="AD" clId="Web-{152A77E4-A1C4-24DC-8668-BB63B0669CFD}" dt="2026-04-21T10:12:37.639" v="16" actId="14100"/>
        <pc:sldMkLst>
          <pc:docMk/>
          <pc:sldMk cId="0" sldId="265"/>
        </pc:sldMkLst>
        <pc:spChg chg="mod">
          <ac:chgData name="Usuario invitado" userId="S::urn:spo:tenantanon#f8dd01b8-7276-4ace-aa9d-5767f0f4a5af::" providerId="AD" clId="Web-{152A77E4-A1C4-24DC-8668-BB63B0669CFD}" dt="2026-04-21T10:12:24.873" v="12" actId="14100"/>
          <ac:spMkLst>
            <pc:docMk/>
            <pc:sldMk cId="0" sldId="265"/>
            <ac:spMk id="4" creationId="{00000000-0000-0000-0000-000000000000}"/>
          </ac:spMkLst>
        </pc:spChg>
        <pc:spChg chg="mod">
          <ac:chgData name="Usuario invitado" userId="S::urn:spo:tenantanon#f8dd01b8-7276-4ace-aa9d-5767f0f4a5af::" providerId="AD" clId="Web-{152A77E4-A1C4-24DC-8668-BB63B0669CFD}" dt="2026-04-21T10:12:37.639" v="16" actId="14100"/>
          <ac:spMkLst>
            <pc:docMk/>
            <pc:sldMk cId="0" sldId="265"/>
            <ac:spMk id="8" creationId="{00000000-0000-0000-0000-000000000000}"/>
          </ac:spMkLst>
        </pc:spChg>
        <pc:spChg chg="mod">
          <ac:chgData name="Usuario invitado" userId="S::urn:spo:tenantanon#f8dd01b8-7276-4ace-aa9d-5767f0f4a5af::" providerId="AD" clId="Web-{152A77E4-A1C4-24DC-8668-BB63B0669CFD}" dt="2026-04-21T10:12:29.139" v="13" actId="14100"/>
          <ac:spMkLst>
            <pc:docMk/>
            <pc:sldMk cId="0" sldId="265"/>
            <ac:spMk id="10" creationId="{00000000-0000-0000-0000-000000000000}"/>
          </ac:spMkLst>
        </pc:spChg>
      </pc:sldChg>
      <pc:sldChg chg="modSp">
        <pc:chgData name="Usuario invitado" userId="S::urn:spo:tenantanon#f8dd01b8-7276-4ace-aa9d-5767f0f4a5af::" providerId="AD" clId="Web-{152A77E4-A1C4-24DC-8668-BB63B0669CFD}" dt="2026-04-21T10:13:18.564" v="18" actId="14100"/>
        <pc:sldMkLst>
          <pc:docMk/>
          <pc:sldMk cId="0" sldId="266"/>
        </pc:sldMkLst>
        <pc:spChg chg="mod">
          <ac:chgData name="Usuario invitado" userId="S::urn:spo:tenantanon#f8dd01b8-7276-4ace-aa9d-5767f0f4a5af::" providerId="AD" clId="Web-{152A77E4-A1C4-24DC-8668-BB63B0669CFD}" dt="2026-04-21T10:13:13.453" v="17" actId="14100"/>
          <ac:spMkLst>
            <pc:docMk/>
            <pc:sldMk cId="0" sldId="266"/>
            <ac:spMk id="4" creationId="{00000000-0000-0000-0000-000000000000}"/>
          </ac:spMkLst>
        </pc:spChg>
        <pc:spChg chg="mod">
          <ac:chgData name="Usuario invitado" userId="S::urn:spo:tenantanon#f8dd01b8-7276-4ace-aa9d-5767f0f4a5af::" providerId="AD" clId="Web-{152A77E4-A1C4-24DC-8668-BB63B0669CFD}" dt="2026-04-21T10:13:18.564" v="18" actId="14100"/>
          <ac:spMkLst>
            <pc:docMk/>
            <pc:sldMk cId="0" sldId="266"/>
            <ac:spMk id="18" creationId="{00000000-0000-0000-0000-000000000000}"/>
          </ac:spMkLst>
        </pc:spChg>
      </pc:sldChg>
      <pc:sldChg chg="modSp">
        <pc:chgData name="Usuario invitado" userId="S::urn:spo:tenantanon#f8dd01b8-7276-4ace-aa9d-5767f0f4a5af::" providerId="AD" clId="Web-{152A77E4-A1C4-24DC-8668-BB63B0669CFD}" dt="2026-04-21T10:14:47.087" v="23" actId="14100"/>
        <pc:sldMkLst>
          <pc:docMk/>
          <pc:sldMk cId="0" sldId="267"/>
        </pc:sldMkLst>
        <pc:spChg chg="mod">
          <ac:chgData name="Usuario invitado" userId="S::urn:spo:tenantanon#f8dd01b8-7276-4ace-aa9d-5767f0f4a5af::" providerId="AD" clId="Web-{152A77E4-A1C4-24DC-8668-BB63B0669CFD}" dt="2026-04-21T10:13:26.097" v="19" actId="14100"/>
          <ac:spMkLst>
            <pc:docMk/>
            <pc:sldMk cId="0" sldId="267"/>
            <ac:spMk id="4" creationId="{00000000-0000-0000-0000-000000000000}"/>
          </ac:spMkLst>
        </pc:spChg>
        <pc:spChg chg="mod">
          <ac:chgData name="Usuario invitado" userId="S::urn:spo:tenantanon#f8dd01b8-7276-4ace-aa9d-5767f0f4a5af::" providerId="AD" clId="Web-{152A77E4-A1C4-24DC-8668-BB63B0669CFD}" dt="2026-04-21T10:14:21.102" v="20" actId="14100"/>
          <ac:spMkLst>
            <pc:docMk/>
            <pc:sldMk cId="0" sldId="267"/>
            <ac:spMk id="8" creationId="{00000000-0000-0000-0000-000000000000}"/>
          </ac:spMkLst>
        </pc:spChg>
        <pc:spChg chg="mod">
          <ac:chgData name="Usuario invitado" userId="S::urn:spo:tenantanon#f8dd01b8-7276-4ace-aa9d-5767f0f4a5af::" providerId="AD" clId="Web-{152A77E4-A1C4-24DC-8668-BB63B0669CFD}" dt="2026-04-21T10:14:26.555" v="21" actId="14100"/>
          <ac:spMkLst>
            <pc:docMk/>
            <pc:sldMk cId="0" sldId="267"/>
            <ac:spMk id="13" creationId="{00000000-0000-0000-0000-000000000000}"/>
          </ac:spMkLst>
        </pc:spChg>
        <pc:spChg chg="mod">
          <ac:chgData name="Usuario invitado" userId="S::urn:spo:tenantanon#f8dd01b8-7276-4ace-aa9d-5767f0f4a5af::" providerId="AD" clId="Web-{152A77E4-A1C4-24DC-8668-BB63B0669CFD}" dt="2026-04-21T10:14:36.071" v="22" actId="14100"/>
          <ac:spMkLst>
            <pc:docMk/>
            <pc:sldMk cId="0" sldId="267"/>
            <ac:spMk id="18" creationId="{00000000-0000-0000-0000-000000000000}"/>
          </ac:spMkLst>
        </pc:spChg>
        <pc:spChg chg="mod">
          <ac:chgData name="Usuario invitado" userId="S::urn:spo:tenantanon#f8dd01b8-7276-4ace-aa9d-5767f0f4a5af::" providerId="AD" clId="Web-{152A77E4-A1C4-24DC-8668-BB63B0669CFD}" dt="2026-04-21T10:14:47.087" v="23" actId="14100"/>
          <ac:spMkLst>
            <pc:docMk/>
            <pc:sldMk cId="0" sldId="267"/>
            <ac:spMk id="23" creationId="{00000000-0000-0000-0000-000000000000}"/>
          </ac:spMkLst>
        </pc:spChg>
      </pc:sldChg>
      <pc:sldChg chg="modSp">
        <pc:chgData name="Usuario invitado" userId="S::urn:spo:tenantanon#f8dd01b8-7276-4ace-aa9d-5767f0f4a5af::" providerId="AD" clId="Web-{152A77E4-A1C4-24DC-8668-BB63B0669CFD}" dt="2026-04-21T10:15:01.024" v="24" actId="14100"/>
        <pc:sldMkLst>
          <pc:docMk/>
          <pc:sldMk cId="0" sldId="268"/>
        </pc:sldMkLst>
        <pc:spChg chg="mod">
          <ac:chgData name="Usuario invitado" userId="S::urn:spo:tenantanon#f8dd01b8-7276-4ace-aa9d-5767f0f4a5af::" providerId="AD" clId="Web-{152A77E4-A1C4-24DC-8668-BB63B0669CFD}" dt="2026-04-21T10:15:01.024" v="24" actId="14100"/>
          <ac:spMkLst>
            <pc:docMk/>
            <pc:sldMk cId="0" sldId="268"/>
            <ac:spMk id="4" creationId="{00000000-0000-0000-0000-000000000000}"/>
          </ac:spMkLst>
        </pc:spChg>
      </pc:sldChg>
      <pc:sldChg chg="modSp">
        <pc:chgData name="Usuario invitado" userId="S::urn:spo:tenantanon#f8dd01b8-7276-4ace-aa9d-5767f0f4a5af::" providerId="AD" clId="Web-{152A77E4-A1C4-24DC-8668-BB63B0669CFD}" dt="2026-04-21T10:15:24.368" v="25" actId="14100"/>
        <pc:sldMkLst>
          <pc:docMk/>
          <pc:sldMk cId="0" sldId="269"/>
        </pc:sldMkLst>
        <pc:spChg chg="mod">
          <ac:chgData name="Usuario invitado" userId="S::urn:spo:tenantanon#f8dd01b8-7276-4ace-aa9d-5767f0f4a5af::" providerId="AD" clId="Web-{152A77E4-A1C4-24DC-8668-BB63B0669CFD}" dt="2026-04-21T10:15:24.368" v="25" actId="14100"/>
          <ac:spMkLst>
            <pc:docMk/>
            <pc:sldMk cId="0" sldId="269"/>
            <ac:spMk id="4" creationId="{00000000-0000-0000-0000-000000000000}"/>
          </ac:spMkLst>
        </pc:spChg>
      </pc:sldChg>
      <pc:sldChg chg="modSp">
        <pc:chgData name="Usuario invitado" userId="S::urn:spo:tenantanon#f8dd01b8-7276-4ace-aa9d-5767f0f4a5af::" providerId="AD" clId="Web-{152A77E4-A1C4-24DC-8668-BB63B0669CFD}" dt="2026-04-21T10:16:06.446" v="26" actId="14100"/>
        <pc:sldMkLst>
          <pc:docMk/>
          <pc:sldMk cId="0" sldId="270"/>
        </pc:sldMkLst>
        <pc:spChg chg="mod">
          <ac:chgData name="Usuario invitado" userId="S::urn:spo:tenantanon#f8dd01b8-7276-4ace-aa9d-5767f0f4a5af::" providerId="AD" clId="Web-{152A77E4-A1C4-24DC-8668-BB63B0669CFD}" dt="2026-04-21T10:16:06.446" v="26" actId="14100"/>
          <ac:spMkLst>
            <pc:docMk/>
            <pc:sldMk cId="0" sldId="270"/>
            <ac:spMk id="4" creationId="{00000000-0000-0000-0000-000000000000}"/>
          </ac:spMkLst>
        </pc:spChg>
      </pc:sldChg>
      <pc:sldChg chg="modSp">
        <pc:chgData name="Usuario invitado" userId="S::urn:spo:tenantanon#f8dd01b8-7276-4ace-aa9d-5767f0f4a5af::" providerId="AD" clId="Web-{152A77E4-A1C4-24DC-8668-BB63B0669CFD}" dt="2026-04-21T10:16:41.574" v="27" actId="14100"/>
        <pc:sldMkLst>
          <pc:docMk/>
          <pc:sldMk cId="0" sldId="271"/>
        </pc:sldMkLst>
        <pc:spChg chg="mod">
          <ac:chgData name="Usuario invitado" userId="S::urn:spo:tenantanon#f8dd01b8-7276-4ace-aa9d-5767f0f4a5af::" providerId="AD" clId="Web-{152A77E4-A1C4-24DC-8668-BB63B0669CFD}" dt="2026-04-21T10:16:41.574" v="27" actId="14100"/>
          <ac:spMkLst>
            <pc:docMk/>
            <pc:sldMk cId="0" sldId="271"/>
            <ac:spMk id="4" creationId="{00000000-0000-0000-0000-000000000000}"/>
          </ac:spMkLst>
        </pc:spChg>
      </pc:sldChg>
      <pc:sldChg chg="modSp">
        <pc:chgData name="Usuario invitado" userId="S::urn:spo:tenantanon#f8dd01b8-7276-4ace-aa9d-5767f0f4a5af::" providerId="AD" clId="Web-{152A77E4-A1C4-24DC-8668-BB63B0669CFD}" dt="2026-04-21T10:17:24.373" v="29" actId="14100"/>
        <pc:sldMkLst>
          <pc:docMk/>
          <pc:sldMk cId="0" sldId="272"/>
        </pc:sldMkLst>
        <pc:spChg chg="mod">
          <ac:chgData name="Usuario invitado" userId="S::urn:spo:tenantanon#f8dd01b8-7276-4ace-aa9d-5767f0f4a5af::" providerId="AD" clId="Web-{152A77E4-A1C4-24DC-8668-BB63B0669CFD}" dt="2026-04-21T10:17:06.919" v="28" actId="14100"/>
          <ac:spMkLst>
            <pc:docMk/>
            <pc:sldMk cId="0" sldId="272"/>
            <ac:spMk id="4" creationId="{00000000-0000-0000-0000-000000000000}"/>
          </ac:spMkLst>
        </pc:spChg>
        <pc:spChg chg="mod">
          <ac:chgData name="Usuario invitado" userId="S::urn:spo:tenantanon#f8dd01b8-7276-4ace-aa9d-5767f0f4a5af::" providerId="AD" clId="Web-{152A77E4-A1C4-24DC-8668-BB63B0669CFD}" dt="2026-04-21T10:17:24.373" v="29" actId="14100"/>
          <ac:spMkLst>
            <pc:docMk/>
            <pc:sldMk cId="0" sldId="272"/>
            <ac:spMk id="20" creationId="{00000000-0000-0000-0000-000000000000}"/>
          </ac:spMkLst>
        </pc:spChg>
      </pc:sldChg>
      <pc:sldChg chg="modSp">
        <pc:chgData name="Usuario invitado" userId="S::urn:spo:tenantanon#f8dd01b8-7276-4ace-aa9d-5767f0f4a5af::" providerId="AD" clId="Web-{152A77E4-A1C4-24DC-8668-BB63B0669CFD}" dt="2026-04-21T10:17:45.545" v="30" actId="14100"/>
        <pc:sldMkLst>
          <pc:docMk/>
          <pc:sldMk cId="0" sldId="273"/>
        </pc:sldMkLst>
        <pc:spChg chg="mod">
          <ac:chgData name="Usuario invitado" userId="S::urn:spo:tenantanon#f8dd01b8-7276-4ace-aa9d-5767f0f4a5af::" providerId="AD" clId="Web-{152A77E4-A1C4-24DC-8668-BB63B0669CFD}" dt="2026-04-21T10:17:45.545" v="30" actId="14100"/>
          <ac:spMkLst>
            <pc:docMk/>
            <pc:sldMk cId="0" sldId="273"/>
            <ac:spMk id="4" creationId="{00000000-0000-0000-0000-000000000000}"/>
          </ac:spMkLst>
        </pc:spChg>
      </pc:sldChg>
      <pc:sldChg chg="modSp">
        <pc:chgData name="Usuario invitado" userId="S::urn:spo:tenantanon#f8dd01b8-7276-4ace-aa9d-5767f0f4a5af::" providerId="AD" clId="Web-{152A77E4-A1C4-24DC-8668-BB63B0669CFD}" dt="2026-04-21T10:33:42.547" v="31" actId="14100"/>
        <pc:sldMkLst>
          <pc:docMk/>
          <pc:sldMk cId="0" sldId="274"/>
        </pc:sldMkLst>
        <pc:picChg chg="mod">
          <ac:chgData name="Usuario invitado" userId="S::urn:spo:tenantanon#f8dd01b8-7276-4ace-aa9d-5767f0f4a5af::" providerId="AD" clId="Web-{152A77E4-A1C4-24DC-8668-BB63B0669CFD}" dt="2026-04-21T10:33:42.547" v="31" actId="14100"/>
          <ac:picMkLst>
            <pc:docMk/>
            <pc:sldMk cId="0" sldId="274"/>
            <ac:picMk id="6"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3565525" cy="733425"/>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4660900" y="0"/>
            <a:ext cx="3567113" cy="733425"/>
          </a:xfrm>
          <a:prstGeom prst="rect">
            <a:avLst/>
          </a:prstGeom>
        </p:spPr>
        <p:txBody>
          <a:bodyPr vert="horz" lIns="91440" tIns="45720" rIns="91440" bIns="45720" rtlCol="0"/>
          <a:lstStyle>
            <a:lvl1pPr algn="r">
              <a:defRPr sz="1200"/>
            </a:lvl1pPr>
          </a:lstStyle>
          <a:p>
            <a:fld id="{F85B1867-6292-42CD-BDC9-EAA50EAFABA7}" type="datetimeFigureOut">
              <a:t>21/04/2026</a:t>
            </a:fld>
            <a:endParaRPr lang="es-ES"/>
          </a:p>
        </p:txBody>
      </p:sp>
      <p:sp>
        <p:nvSpPr>
          <p:cNvPr id="4" name="Marcador de imagen de diapositiva 3"/>
          <p:cNvSpPr>
            <a:spLocks noGrp="1" noRot="1" noChangeAspect="1"/>
          </p:cNvSpPr>
          <p:nvPr>
            <p:ph type="sldImg" idx="2"/>
          </p:nvPr>
        </p:nvSpPr>
        <p:spPr>
          <a:xfrm>
            <a:off x="-273050" y="1828800"/>
            <a:ext cx="8775700" cy="493712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822325" y="7040563"/>
            <a:ext cx="6584950" cy="57610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13896975"/>
            <a:ext cx="3565525" cy="733425"/>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4660900" y="13896975"/>
            <a:ext cx="3567113" cy="733425"/>
          </a:xfrm>
          <a:prstGeom prst="rect">
            <a:avLst/>
          </a:prstGeom>
        </p:spPr>
        <p:txBody>
          <a:bodyPr vert="horz" lIns="91440" tIns="45720" rIns="91440" bIns="45720" rtlCol="0" anchor="b"/>
          <a:lstStyle>
            <a:lvl1pPr algn="r">
              <a:defRPr sz="1200"/>
            </a:lvl1pPr>
          </a:lstStyle>
          <a:p>
            <a:fld id="{AC68ED71-84D2-40D0-8FF3-E47B630CDDAC}" type="slidenum">
              <a:t>‹Nº›</a:t>
            </a:fld>
            <a:endParaRPr lang="es-ES"/>
          </a:p>
        </p:txBody>
      </p:sp>
    </p:spTree>
    <p:extLst>
      <p:ext uri="{BB962C8B-B14F-4D97-AF65-F5344CB8AC3E}">
        <p14:creationId xmlns:p14="http://schemas.microsoft.com/office/powerpoint/2010/main" val="2217637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3.sv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svg"/><Relationship Id="rId2" Type="http://schemas.openxmlformats.org/officeDocument/2006/relationships/notesSlide" Target="../notesSlides/notesSlide15.xml"/><Relationship Id="rId1" Type="http://schemas.openxmlformats.org/officeDocument/2006/relationships/slideLayout" Target="../slideLayouts/slideLayout16.xml"/><Relationship Id="rId6" Type="http://schemas.openxmlformats.org/officeDocument/2006/relationships/image" Target="../media/image17.svg"/><Relationship Id="rId5" Type="http://schemas.openxmlformats.org/officeDocument/2006/relationships/image" Target="../media/image16.svg"/><Relationship Id="rId4" Type="http://schemas.openxmlformats.org/officeDocument/2006/relationships/image" Target="../media/image15.svg"/></Relationships>
</file>

<file path=ppt/slides/_rels/slide16.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16.xml"/><Relationship Id="rId1" Type="http://schemas.openxmlformats.org/officeDocument/2006/relationships/slideLayout" Target="../slideLayouts/slideLayout17.xml"/><Relationship Id="rId5" Type="http://schemas.openxmlformats.org/officeDocument/2006/relationships/image" Target="../media/image22.svg"/><Relationship Id="rId4" Type="http://schemas.openxmlformats.org/officeDocument/2006/relationships/image" Target="../media/image21.sv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20.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notesSlide" Target="../notesSlides/notesSlide20.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1699855" y="3008590"/>
            <a:ext cx="11230570" cy="620078"/>
          </a:xfrm>
          <a:prstGeom prst="rect">
            <a:avLst/>
          </a:prstGeom>
          <a:noFill/>
          <a:ln/>
        </p:spPr>
        <p:txBody>
          <a:bodyPr wrap="none" lIns="0" tIns="0" rIns="0" bIns="0" rtlCol="0" anchor="t"/>
          <a:lstStyle/>
          <a:p>
            <a:pPr marL="0" indent="0" algn="ctr">
              <a:lnSpc>
                <a:spcPts val="4850"/>
              </a:lnSpc>
              <a:buNone/>
            </a:pPr>
            <a:r>
              <a:rPr lang="en-US" sz="3900" dirty="0">
                <a:solidFill>
                  <a:srgbClr val="F2F2F3"/>
                </a:solidFill>
                <a:latin typeface="Poppins Light" pitchFamily="34" charset="0"/>
                <a:ea typeface="Poppins Light" pitchFamily="34" charset="-122"/>
                <a:cs typeface="Poppins Light" pitchFamily="34" charset="-120"/>
              </a:rPr>
              <a:t>Customer Churn Prediction as a Data Product</a:t>
            </a:r>
            <a:endParaRPr lang="en-US" sz="3900" dirty="0"/>
          </a:p>
        </p:txBody>
      </p:sp>
      <p:sp>
        <p:nvSpPr>
          <p:cNvPr id="3" name="Text 1"/>
          <p:cNvSpPr/>
          <p:nvPr/>
        </p:nvSpPr>
        <p:spPr>
          <a:xfrm>
            <a:off x="793790" y="4025503"/>
            <a:ext cx="13042821" cy="317540"/>
          </a:xfrm>
          <a:prstGeom prst="rect">
            <a:avLst/>
          </a:prstGeom>
          <a:noFill/>
          <a:ln/>
        </p:spPr>
        <p:txBody>
          <a:bodyPr wrap="none" lIns="0" tIns="0" rIns="0" bIns="0" rtlCol="0" anchor="t"/>
          <a:lstStyle/>
          <a:p>
            <a:pPr marL="0" indent="0" algn="ctr">
              <a:lnSpc>
                <a:spcPts val="2500"/>
              </a:lnSpc>
              <a:buNone/>
            </a:pPr>
            <a:r>
              <a:rPr lang="en-US" sz="1550" dirty="0">
                <a:solidFill>
                  <a:srgbClr val="E5E0DF"/>
                </a:solidFill>
                <a:latin typeface="Roboto Light" pitchFamily="34" charset="0"/>
                <a:ea typeface="Roboto Light" pitchFamily="34" charset="-122"/>
                <a:cs typeface="Roboto Light" pitchFamily="34" charset="-120"/>
              </a:rPr>
              <a:t>From Machine Learning Model to Deployable Retention Solution — Hungarian Telecom Company</a:t>
            </a:r>
            <a:endParaRPr lang="en-US" sz="1550" dirty="0"/>
          </a:p>
        </p:txBody>
      </p:sp>
      <p:sp>
        <p:nvSpPr>
          <p:cNvPr id="4" name="Shape 2"/>
          <p:cNvSpPr/>
          <p:nvPr/>
        </p:nvSpPr>
        <p:spPr>
          <a:xfrm>
            <a:off x="793790" y="4615815"/>
            <a:ext cx="13042821" cy="14883"/>
          </a:xfrm>
          <a:prstGeom prst="rect">
            <a:avLst/>
          </a:prstGeom>
          <a:solidFill>
            <a:srgbClr val="E5E0DF">
              <a:alpha val="50000"/>
            </a:srgbClr>
          </a:solidFill>
          <a:ln/>
        </p:spPr>
      </p:sp>
      <p:sp>
        <p:nvSpPr>
          <p:cNvPr id="5" name="Text 3"/>
          <p:cNvSpPr/>
          <p:nvPr/>
        </p:nvSpPr>
        <p:spPr>
          <a:xfrm>
            <a:off x="793790" y="4903470"/>
            <a:ext cx="13042821" cy="317540"/>
          </a:xfrm>
          <a:prstGeom prst="rect">
            <a:avLst/>
          </a:prstGeom>
          <a:noFill/>
          <a:ln/>
        </p:spPr>
        <p:txBody>
          <a:bodyPr wrap="none" lIns="0" tIns="0" rIns="0" bIns="0" rtlCol="0" anchor="t"/>
          <a:lstStyle/>
          <a:p>
            <a:pPr marL="0" indent="0" algn="ctr">
              <a:lnSpc>
                <a:spcPts val="2500"/>
              </a:lnSpc>
              <a:buNone/>
            </a:pPr>
            <a:r>
              <a:rPr lang="en-US" sz="1550" dirty="0">
                <a:solidFill>
                  <a:srgbClr val="E5E0DF"/>
                </a:solidFill>
                <a:latin typeface="Roboto Light" pitchFamily="34" charset="0"/>
                <a:ea typeface="Roboto Light" pitchFamily="34" charset="-122"/>
                <a:cs typeface="Roboto Light" pitchFamily="34" charset="-120"/>
              </a:rPr>
              <a:t>Presented by </a:t>
            </a:r>
            <a:r>
              <a:rPr lang="en-US" sz="1550" b="1" dirty="0">
                <a:solidFill>
                  <a:srgbClr val="E5E0DF"/>
                </a:solidFill>
                <a:latin typeface="Roboto Light" pitchFamily="34" charset="0"/>
                <a:ea typeface="Roboto Light" pitchFamily="34" charset="-122"/>
                <a:cs typeface="Roboto Light" pitchFamily="34" charset="-120"/>
              </a:rPr>
              <a:t>Mukhammad Azim</a:t>
            </a:r>
            <a:r>
              <a:rPr lang="en-US" sz="1550" dirty="0">
                <a:solidFill>
                  <a:srgbClr val="E5E0DF"/>
                </a:solidFill>
                <a:latin typeface="Roboto Light" pitchFamily="34" charset="0"/>
                <a:ea typeface="Roboto Light" pitchFamily="34" charset="-122"/>
                <a:cs typeface="Roboto Light" pitchFamily="34" charset="-120"/>
              </a:rPr>
              <a:t> · </a:t>
            </a:r>
            <a:r>
              <a:rPr lang="en-US" sz="1550" b="1" dirty="0">
                <a:solidFill>
                  <a:srgbClr val="E5E0DF"/>
                </a:solidFill>
                <a:latin typeface="Roboto Light" pitchFamily="34" charset="0"/>
                <a:ea typeface="Roboto Light" pitchFamily="34" charset="-122"/>
                <a:cs typeface="Roboto Light" pitchFamily="34" charset="-120"/>
              </a:rPr>
              <a:t>Móger Máté</a:t>
            </a:r>
            <a:r>
              <a:rPr lang="en-US" sz="1550" dirty="0">
                <a:solidFill>
                  <a:srgbClr val="E5E0DF"/>
                </a:solidFill>
                <a:latin typeface="Roboto Light" pitchFamily="34" charset="0"/>
                <a:ea typeface="Roboto Light" pitchFamily="34" charset="-122"/>
                <a:cs typeface="Roboto Light" pitchFamily="34" charset="-120"/>
              </a:rPr>
              <a:t> · </a:t>
            </a:r>
            <a:r>
              <a:rPr lang="en-US" sz="1550" b="1" dirty="0">
                <a:solidFill>
                  <a:srgbClr val="E5E0DF"/>
                </a:solidFill>
                <a:latin typeface="Roboto Light" pitchFamily="34" charset="0"/>
                <a:ea typeface="Roboto Light" pitchFamily="34" charset="-122"/>
                <a:cs typeface="Roboto Light" pitchFamily="34" charset="-120"/>
              </a:rPr>
              <a:t>Jose Ocoro</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93790" y="1749147"/>
            <a:ext cx="1720810" cy="373142"/>
          </a:xfrm>
          <a:prstGeom prst="roundRect">
            <a:avLst>
              <a:gd name="adj" fmla="val 17872"/>
            </a:avLst>
          </a:prstGeom>
          <a:solidFill>
            <a:srgbClr val="252528"/>
          </a:solidFill>
          <a:ln/>
        </p:spPr>
      </p:sp>
      <p:sp>
        <p:nvSpPr>
          <p:cNvPr id="3" name="Text 1"/>
          <p:cNvSpPr/>
          <p:nvPr/>
        </p:nvSpPr>
        <p:spPr>
          <a:xfrm>
            <a:off x="912852" y="1808678"/>
            <a:ext cx="1482685" cy="254079"/>
          </a:xfrm>
          <a:prstGeom prst="rect">
            <a:avLst/>
          </a:prstGeom>
          <a:noFill/>
          <a:ln/>
        </p:spPr>
        <p:txBody>
          <a:bodyPr wrap="none" lIns="0" tIns="0" rIns="0" bIns="0" rtlCol="0" anchor="t"/>
          <a:lstStyle/>
          <a:p>
            <a:pPr marL="0" indent="0" algn="l">
              <a:lnSpc>
                <a:spcPts val="2000"/>
              </a:lnSpc>
              <a:buNone/>
            </a:pPr>
            <a:r>
              <a:rPr lang="en-US" sz="1250" dirty="0">
                <a:solidFill>
                  <a:srgbClr val="E5E0DF"/>
                </a:solidFill>
                <a:latin typeface="Roboto Light" pitchFamily="34" charset="0"/>
                <a:ea typeface="Roboto Light" pitchFamily="34" charset="-122"/>
                <a:cs typeface="Roboto Light" pitchFamily="34" charset="-120"/>
              </a:rPr>
              <a:t>BUSINESS PROBLEM</a:t>
            </a:r>
            <a:endParaRPr lang="en-US" sz="1250" dirty="0"/>
          </a:p>
        </p:txBody>
      </p:sp>
      <p:sp>
        <p:nvSpPr>
          <p:cNvPr id="4" name="Text 2"/>
          <p:cNvSpPr/>
          <p:nvPr/>
        </p:nvSpPr>
        <p:spPr>
          <a:xfrm>
            <a:off x="834131" y="2134350"/>
            <a:ext cx="10151164" cy="687313"/>
          </a:xfrm>
          <a:prstGeom prst="rect">
            <a:avLst/>
          </a:prstGeom>
          <a:noFill/>
          <a:ln/>
        </p:spPr>
        <p:txBody>
          <a:bodyPr wrap="none" lIns="0" tIns="0" rIns="0" bIns="0" rtlCol="0" anchor="t"/>
          <a:lstStyle/>
          <a:p>
            <a:pPr marL="0" indent="0" algn="l">
              <a:lnSpc>
                <a:spcPts val="4850"/>
              </a:lnSpc>
              <a:buNone/>
            </a:pPr>
            <a:r>
              <a:rPr lang="en-US" sz="3900" dirty="0">
                <a:solidFill>
                  <a:srgbClr val="F2F2F3"/>
                </a:solidFill>
                <a:latin typeface="Poppins Light" pitchFamily="34" charset="0"/>
                <a:ea typeface="Poppins Light" pitchFamily="34" charset="-122"/>
                <a:cs typeface="Poppins Light" pitchFamily="34" charset="-120"/>
              </a:rPr>
              <a:t>The Retention Crisis Facing Telecom</a:t>
            </a:r>
            <a:endParaRPr lang="en-US" sz="3900" dirty="0"/>
          </a:p>
        </p:txBody>
      </p:sp>
      <p:sp>
        <p:nvSpPr>
          <p:cNvPr id="5" name="Text 3"/>
          <p:cNvSpPr/>
          <p:nvPr/>
        </p:nvSpPr>
        <p:spPr>
          <a:xfrm>
            <a:off x="793790" y="3119318"/>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In a market defined by fierce competition and commoditized offerings, customer churn has become one of the most pressing financial threats for telecom operators. When customers leave, they take recurring revenue with them — and winning them back costs far more than keeping them.</a:t>
            </a:r>
            <a:endParaRPr lang="en-US" sz="1550" dirty="0"/>
          </a:p>
        </p:txBody>
      </p:sp>
      <p:sp>
        <p:nvSpPr>
          <p:cNvPr id="6" name="Shape 4"/>
          <p:cNvSpPr/>
          <p:nvPr/>
        </p:nvSpPr>
        <p:spPr>
          <a:xfrm>
            <a:off x="650915" y="3977640"/>
            <a:ext cx="6565106" cy="2502813"/>
          </a:xfrm>
          <a:prstGeom prst="roundRect">
            <a:avLst>
              <a:gd name="adj" fmla="val 5710"/>
            </a:avLst>
          </a:prstGeom>
          <a:solidFill>
            <a:srgbClr val="F2F2F3"/>
          </a:solidFill>
          <a:ln/>
        </p:spPr>
      </p:sp>
      <p:sp>
        <p:nvSpPr>
          <p:cNvPr id="7" name="Text 5"/>
          <p:cNvSpPr/>
          <p:nvPr/>
        </p:nvSpPr>
        <p:spPr>
          <a:xfrm>
            <a:off x="849273" y="4175998"/>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000000"/>
                </a:solidFill>
                <a:latin typeface="Poppins Light" pitchFamily="34" charset="0"/>
                <a:ea typeface="Poppins Light" pitchFamily="34" charset="-122"/>
                <a:cs typeface="Poppins Light" pitchFamily="34" charset="-120"/>
              </a:rPr>
              <a:t>The Core Challenge</a:t>
            </a:r>
            <a:endParaRPr lang="en-US" sz="1950" dirty="0"/>
          </a:p>
        </p:txBody>
      </p:sp>
      <p:sp>
        <p:nvSpPr>
          <p:cNvPr id="8" name="Text 6"/>
          <p:cNvSpPr/>
          <p:nvPr/>
        </p:nvSpPr>
        <p:spPr>
          <a:xfrm>
            <a:off x="849273" y="4684514"/>
            <a:ext cx="6168390" cy="1726525"/>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000000"/>
                </a:solidFill>
                <a:latin typeface="Roboto Light" pitchFamily="34" charset="0"/>
                <a:ea typeface="Roboto Light" pitchFamily="34" charset="-122"/>
                <a:cs typeface="Roboto Light" pitchFamily="34" charset="-120"/>
              </a:rPr>
              <a:t>Intense competitive pressure accelerates customer switching</a:t>
            </a:r>
            <a:endParaRPr lang="en-US" sz="1550" dirty="0"/>
          </a:p>
          <a:p>
            <a:pPr marL="342900" indent="-342900" algn="l">
              <a:lnSpc>
                <a:spcPts val="2500"/>
              </a:lnSpc>
              <a:buSzPct val="100000"/>
              <a:buChar char="•"/>
            </a:pPr>
            <a:r>
              <a:rPr lang="en-US" sz="1550" dirty="0">
                <a:solidFill>
                  <a:srgbClr val="000000"/>
                </a:solidFill>
                <a:latin typeface="Roboto Light" pitchFamily="34" charset="0"/>
                <a:ea typeface="Roboto Light" pitchFamily="34" charset="-122"/>
                <a:cs typeface="Roboto Light" pitchFamily="34" charset="-120"/>
              </a:rPr>
              <a:t>Churn erodes revenue, shrinks the customer base, and reduces lifetime value</a:t>
            </a:r>
            <a:endParaRPr lang="en-US" sz="1550" dirty="0"/>
          </a:p>
          <a:p>
            <a:pPr marL="342900" indent="-342900" algn="l">
              <a:lnSpc>
                <a:spcPts val="2500"/>
              </a:lnSpc>
              <a:buSzPct val="100000"/>
              <a:buChar char="•"/>
            </a:pPr>
            <a:r>
              <a:rPr lang="en-US" sz="1550" dirty="0">
                <a:solidFill>
                  <a:srgbClr val="000000"/>
                </a:solidFill>
                <a:latin typeface="Roboto Light" pitchFamily="34" charset="0"/>
                <a:ea typeface="Roboto Light" pitchFamily="34" charset="-122"/>
                <a:cs typeface="Roboto Light" pitchFamily="34" charset="-120"/>
              </a:rPr>
              <a:t>Traditional retention is reactive — acting only after customers have already decided to leave</a:t>
            </a:r>
            <a:endParaRPr lang="en-US" sz="1550" dirty="0"/>
          </a:p>
        </p:txBody>
      </p:sp>
      <p:sp>
        <p:nvSpPr>
          <p:cNvPr id="9" name="Text 7"/>
          <p:cNvSpPr/>
          <p:nvPr/>
        </p:nvSpPr>
        <p:spPr>
          <a:xfrm>
            <a:off x="7564874" y="4175998"/>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F2F2F3"/>
                </a:solidFill>
                <a:latin typeface="Poppins Light" pitchFamily="34" charset="0"/>
                <a:ea typeface="Poppins Light" pitchFamily="34" charset="-122"/>
                <a:cs typeface="Poppins Light" pitchFamily="34" charset="-120"/>
              </a:rPr>
              <a:t>The Strategic Shift</a:t>
            </a:r>
            <a:endParaRPr lang="en-US" sz="1950" dirty="0"/>
          </a:p>
        </p:txBody>
      </p:sp>
      <p:sp>
        <p:nvSpPr>
          <p:cNvPr id="10" name="Text 8"/>
          <p:cNvSpPr/>
          <p:nvPr/>
        </p:nvSpPr>
        <p:spPr>
          <a:xfrm>
            <a:off x="7564874" y="4684514"/>
            <a:ext cx="6279356" cy="127015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The goal is clear: move from </a:t>
            </a:r>
            <a:r>
              <a:rPr lang="en-US" sz="1550" b="1" dirty="0">
                <a:solidFill>
                  <a:srgbClr val="E5E0DF"/>
                </a:solidFill>
                <a:latin typeface="Roboto Light" pitchFamily="34" charset="0"/>
                <a:ea typeface="Roboto Light" pitchFamily="34" charset="-122"/>
                <a:cs typeface="Roboto Light" pitchFamily="34" charset="-120"/>
              </a:rPr>
              <a:t>reactive damage control</a:t>
            </a:r>
            <a:r>
              <a:rPr lang="en-US" sz="1550" dirty="0">
                <a:solidFill>
                  <a:srgbClr val="E5E0DF"/>
                </a:solidFill>
                <a:latin typeface="Roboto Light" pitchFamily="34" charset="0"/>
                <a:ea typeface="Roboto Light" pitchFamily="34" charset="-122"/>
                <a:cs typeface="Roboto Light" pitchFamily="34" charset="-120"/>
              </a:rPr>
              <a:t> to </a:t>
            </a:r>
            <a:r>
              <a:rPr lang="en-US" sz="1550" b="1" dirty="0">
                <a:solidFill>
                  <a:srgbClr val="E5E0DF"/>
                </a:solidFill>
                <a:latin typeface="Roboto Light" pitchFamily="34" charset="0"/>
                <a:ea typeface="Roboto Light" pitchFamily="34" charset="-122"/>
                <a:cs typeface="Roboto Light" pitchFamily="34" charset="-120"/>
              </a:rPr>
              <a:t>proactive, data-driven retention</a:t>
            </a:r>
            <a:r>
              <a:rPr lang="en-US" sz="1550" dirty="0">
                <a:solidFill>
                  <a:srgbClr val="E5E0DF"/>
                </a:solidFill>
                <a:latin typeface="Roboto Light" pitchFamily="34" charset="0"/>
                <a:ea typeface="Roboto Light" pitchFamily="34" charset="-122"/>
                <a:cs typeface="Roboto Light" pitchFamily="34" charset="-120"/>
              </a:rPr>
              <a:t>. By predicting churn before it happens, telecom companies can intervene at the right moment — with the right offer — and protect revenue at scale.</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93790" y="1053227"/>
            <a:ext cx="2030254" cy="373142"/>
          </a:xfrm>
          <a:prstGeom prst="roundRect">
            <a:avLst>
              <a:gd name="adj" fmla="val 17872"/>
            </a:avLst>
          </a:prstGeom>
          <a:solidFill>
            <a:srgbClr val="252528"/>
          </a:solidFill>
          <a:ln/>
        </p:spPr>
      </p:sp>
      <p:sp>
        <p:nvSpPr>
          <p:cNvPr id="3" name="Text 1"/>
          <p:cNvSpPr/>
          <p:nvPr/>
        </p:nvSpPr>
        <p:spPr>
          <a:xfrm>
            <a:off x="912852" y="1112758"/>
            <a:ext cx="1792129" cy="254079"/>
          </a:xfrm>
          <a:prstGeom prst="rect">
            <a:avLst/>
          </a:prstGeom>
          <a:noFill/>
          <a:ln/>
        </p:spPr>
        <p:txBody>
          <a:bodyPr wrap="none" lIns="0" tIns="0" rIns="0" bIns="0" rtlCol="0" anchor="t"/>
          <a:lstStyle/>
          <a:p>
            <a:pPr marL="0" indent="0" algn="l">
              <a:lnSpc>
                <a:spcPts val="2000"/>
              </a:lnSpc>
              <a:buNone/>
            </a:pPr>
            <a:r>
              <a:rPr lang="en-US" sz="1250" dirty="0">
                <a:solidFill>
                  <a:srgbClr val="E5E0DF"/>
                </a:solidFill>
                <a:latin typeface="Roboto Light" pitchFamily="34" charset="0"/>
                <a:ea typeface="Roboto Light" pitchFamily="34" charset="-122"/>
                <a:cs typeface="Roboto Light" pitchFamily="34" charset="-120"/>
              </a:rPr>
              <a:t>SCALE OF THE PROBLEM</a:t>
            </a:r>
            <a:endParaRPr lang="en-US" sz="1250" dirty="0"/>
          </a:p>
        </p:txBody>
      </p:sp>
      <p:sp>
        <p:nvSpPr>
          <p:cNvPr id="4" name="Text 2"/>
          <p:cNvSpPr/>
          <p:nvPr/>
        </p:nvSpPr>
        <p:spPr>
          <a:xfrm>
            <a:off x="793790" y="1438429"/>
            <a:ext cx="7938709" cy="633525"/>
          </a:xfrm>
          <a:prstGeom prst="rect">
            <a:avLst/>
          </a:prstGeom>
          <a:noFill/>
          <a:ln/>
        </p:spPr>
        <p:txBody>
          <a:bodyPr wrap="none" lIns="0" tIns="0" rIns="0" bIns="0" rtlCol="0" anchor="t"/>
          <a:lstStyle/>
          <a:p>
            <a:pPr marL="0" indent="0" algn="l">
              <a:lnSpc>
                <a:spcPts val="4850"/>
              </a:lnSpc>
              <a:buNone/>
            </a:pPr>
            <a:r>
              <a:rPr lang="en-US" sz="3900" dirty="0">
                <a:solidFill>
                  <a:srgbClr val="F2F2F3"/>
                </a:solidFill>
                <a:latin typeface="Poppins Light" pitchFamily="34" charset="0"/>
                <a:ea typeface="Poppins Light" pitchFamily="34" charset="-122"/>
                <a:cs typeface="Poppins Light" pitchFamily="34" charset="-120"/>
              </a:rPr>
              <a:t>$54M in Annual Revenue at Risk</a:t>
            </a:r>
            <a:endParaRPr lang="en-US" sz="3900" dirty="0"/>
          </a:p>
        </p:txBody>
      </p:sp>
      <p:sp>
        <p:nvSpPr>
          <p:cNvPr id="5" name="Text 3"/>
          <p:cNvSpPr/>
          <p:nvPr/>
        </p:nvSpPr>
        <p:spPr>
          <a:xfrm>
            <a:off x="793790" y="2423398"/>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The financial stakes of unmanaged churn are significant. Across a base of one million customers, even a modest annual churn rate compounds into a massive revenue exposure — making predictive retention not just a strategic priority, but a financial imperative.</a:t>
            </a:r>
            <a:endParaRPr lang="en-US" sz="1550" dirty="0"/>
          </a:p>
        </p:txBody>
      </p:sp>
      <p:sp>
        <p:nvSpPr>
          <p:cNvPr id="6" name="Text 4"/>
          <p:cNvSpPr/>
          <p:nvPr/>
        </p:nvSpPr>
        <p:spPr>
          <a:xfrm>
            <a:off x="793790" y="3380899"/>
            <a:ext cx="6397347" cy="654963"/>
          </a:xfrm>
          <a:prstGeom prst="rect">
            <a:avLst/>
          </a:prstGeom>
          <a:noFill/>
          <a:ln/>
        </p:spPr>
        <p:txBody>
          <a:bodyPr wrap="none" lIns="0" tIns="0" rIns="0" bIns="0" rtlCol="0" anchor="t"/>
          <a:lstStyle/>
          <a:p>
            <a:pPr marL="0" indent="0" algn="ctr">
              <a:lnSpc>
                <a:spcPts val="5150"/>
              </a:lnSpc>
              <a:buNone/>
            </a:pPr>
            <a:r>
              <a:rPr lang="en-US" sz="5150" dirty="0">
                <a:solidFill>
                  <a:srgbClr val="E5E0DF"/>
                </a:solidFill>
                <a:latin typeface="Poppins Light" pitchFamily="34" charset="0"/>
                <a:ea typeface="Poppins Light" pitchFamily="34" charset="-122"/>
                <a:cs typeface="Poppins Light" pitchFamily="34" charset="-120"/>
              </a:rPr>
              <a:t>1M</a:t>
            </a:r>
            <a:endParaRPr lang="en-US" sz="5150" dirty="0"/>
          </a:p>
        </p:txBody>
      </p:sp>
      <p:sp>
        <p:nvSpPr>
          <p:cNvPr id="7" name="Text 5"/>
          <p:cNvSpPr/>
          <p:nvPr/>
        </p:nvSpPr>
        <p:spPr>
          <a:xfrm>
            <a:off x="2716173" y="4283869"/>
            <a:ext cx="2552581" cy="310158"/>
          </a:xfrm>
          <a:prstGeom prst="rect">
            <a:avLst/>
          </a:prstGeom>
          <a:noFill/>
          <a:ln/>
        </p:spPr>
        <p:txBody>
          <a:bodyPr wrap="none" lIns="0" tIns="0" rIns="0" bIns="0" rtlCol="0" anchor="t"/>
          <a:lstStyle/>
          <a:p>
            <a:pPr marL="0" indent="0" algn="ctr">
              <a:lnSpc>
                <a:spcPts val="2400"/>
              </a:lnSpc>
              <a:buNone/>
            </a:pPr>
            <a:r>
              <a:rPr lang="en-US" sz="1950" dirty="0">
                <a:solidFill>
                  <a:srgbClr val="E5E0DF"/>
                </a:solidFill>
                <a:latin typeface="Poppins Light" pitchFamily="34" charset="0"/>
                <a:ea typeface="Poppins Light" pitchFamily="34" charset="-122"/>
                <a:cs typeface="Poppins Light" pitchFamily="34" charset="-120"/>
              </a:rPr>
              <a:t>Total Customer Base</a:t>
            </a:r>
            <a:endParaRPr lang="en-US" sz="1950" dirty="0"/>
          </a:p>
        </p:txBody>
      </p:sp>
      <p:sp>
        <p:nvSpPr>
          <p:cNvPr id="8" name="Text 6"/>
          <p:cNvSpPr/>
          <p:nvPr/>
        </p:nvSpPr>
        <p:spPr>
          <a:xfrm>
            <a:off x="793790" y="4713089"/>
            <a:ext cx="6397347" cy="317540"/>
          </a:xfrm>
          <a:prstGeom prst="rect">
            <a:avLst/>
          </a:prstGeom>
          <a:noFill/>
          <a:ln/>
        </p:spPr>
        <p:txBody>
          <a:bodyPr wrap="none" lIns="0" tIns="0" rIns="0" bIns="0" rtlCol="0" anchor="t"/>
          <a:lstStyle/>
          <a:p>
            <a:pPr marL="0" indent="0" algn="ctr">
              <a:lnSpc>
                <a:spcPts val="2500"/>
              </a:lnSpc>
              <a:buNone/>
            </a:pPr>
            <a:r>
              <a:rPr lang="en-US" sz="1550" dirty="0">
                <a:solidFill>
                  <a:srgbClr val="E5E0DF"/>
                </a:solidFill>
                <a:latin typeface="Roboto Light" pitchFamily="34" charset="0"/>
                <a:ea typeface="Roboto Light" pitchFamily="34" charset="-122"/>
                <a:cs typeface="Roboto Light" pitchFamily="34" charset="-120"/>
              </a:rPr>
              <a:t>Active subscribers across the telecom network</a:t>
            </a:r>
            <a:endParaRPr lang="en-US" sz="1550" dirty="0"/>
          </a:p>
        </p:txBody>
      </p:sp>
      <p:sp>
        <p:nvSpPr>
          <p:cNvPr id="9" name="Text 7"/>
          <p:cNvSpPr/>
          <p:nvPr/>
        </p:nvSpPr>
        <p:spPr>
          <a:xfrm>
            <a:off x="7439144" y="3380899"/>
            <a:ext cx="6397466" cy="654963"/>
          </a:xfrm>
          <a:prstGeom prst="rect">
            <a:avLst/>
          </a:prstGeom>
          <a:noFill/>
          <a:ln/>
        </p:spPr>
        <p:txBody>
          <a:bodyPr wrap="none" lIns="0" tIns="0" rIns="0" bIns="0" rtlCol="0" anchor="t"/>
          <a:lstStyle/>
          <a:p>
            <a:pPr marL="0" indent="0" algn="ctr">
              <a:lnSpc>
                <a:spcPts val="5150"/>
              </a:lnSpc>
              <a:buNone/>
            </a:pPr>
            <a:r>
              <a:rPr lang="en-US" sz="5150" dirty="0">
                <a:solidFill>
                  <a:srgbClr val="E5E0DF"/>
                </a:solidFill>
                <a:latin typeface="Poppins Light" pitchFamily="34" charset="0"/>
                <a:ea typeface="Poppins Light" pitchFamily="34" charset="-122"/>
                <a:cs typeface="Poppins Light" pitchFamily="34" charset="-120"/>
              </a:rPr>
              <a:t>18%</a:t>
            </a:r>
            <a:endParaRPr lang="en-US" sz="5150" dirty="0"/>
          </a:p>
        </p:txBody>
      </p:sp>
      <p:sp>
        <p:nvSpPr>
          <p:cNvPr id="10" name="Text 8"/>
          <p:cNvSpPr/>
          <p:nvPr/>
        </p:nvSpPr>
        <p:spPr>
          <a:xfrm>
            <a:off x="9397365" y="4283869"/>
            <a:ext cx="2480905" cy="310158"/>
          </a:xfrm>
          <a:prstGeom prst="rect">
            <a:avLst/>
          </a:prstGeom>
          <a:noFill/>
          <a:ln/>
        </p:spPr>
        <p:txBody>
          <a:bodyPr wrap="none" lIns="0" tIns="0" rIns="0" bIns="0" rtlCol="0" anchor="t"/>
          <a:lstStyle/>
          <a:p>
            <a:pPr marL="0" indent="0" algn="ctr">
              <a:lnSpc>
                <a:spcPts val="2400"/>
              </a:lnSpc>
              <a:buNone/>
            </a:pPr>
            <a:r>
              <a:rPr lang="en-US" sz="1950" dirty="0">
                <a:solidFill>
                  <a:srgbClr val="E5E0DF"/>
                </a:solidFill>
                <a:latin typeface="Poppins Light" pitchFamily="34" charset="0"/>
                <a:ea typeface="Poppins Light" pitchFamily="34" charset="-122"/>
                <a:cs typeface="Poppins Light" pitchFamily="34" charset="-120"/>
              </a:rPr>
              <a:t>Annual Churn Rate</a:t>
            </a:r>
            <a:endParaRPr lang="en-US" sz="1950" dirty="0"/>
          </a:p>
        </p:txBody>
      </p:sp>
      <p:sp>
        <p:nvSpPr>
          <p:cNvPr id="11" name="Text 9"/>
          <p:cNvSpPr/>
          <p:nvPr/>
        </p:nvSpPr>
        <p:spPr>
          <a:xfrm>
            <a:off x="7439144" y="4713089"/>
            <a:ext cx="6397466" cy="317540"/>
          </a:xfrm>
          <a:prstGeom prst="rect">
            <a:avLst/>
          </a:prstGeom>
          <a:noFill/>
          <a:ln/>
        </p:spPr>
        <p:txBody>
          <a:bodyPr wrap="none" lIns="0" tIns="0" rIns="0" bIns="0" rtlCol="0" anchor="t"/>
          <a:lstStyle/>
          <a:p>
            <a:pPr marL="0" indent="0" algn="ctr">
              <a:lnSpc>
                <a:spcPts val="2500"/>
              </a:lnSpc>
              <a:buNone/>
            </a:pPr>
            <a:r>
              <a:rPr lang="en-US" sz="1550" dirty="0">
                <a:solidFill>
                  <a:srgbClr val="E5E0DF"/>
                </a:solidFill>
                <a:latin typeface="Roboto Light" pitchFamily="34" charset="0"/>
                <a:ea typeface="Roboto Light" pitchFamily="34" charset="-122"/>
                <a:cs typeface="Roboto Light" pitchFamily="34" charset="-120"/>
              </a:rPr>
              <a:t>Proportion of customers lost each year</a:t>
            </a:r>
            <a:endParaRPr lang="en-US" sz="1550" dirty="0"/>
          </a:p>
        </p:txBody>
      </p:sp>
      <p:sp>
        <p:nvSpPr>
          <p:cNvPr id="12" name="Text 10"/>
          <p:cNvSpPr/>
          <p:nvPr/>
        </p:nvSpPr>
        <p:spPr>
          <a:xfrm>
            <a:off x="793790" y="5526643"/>
            <a:ext cx="6397347" cy="654963"/>
          </a:xfrm>
          <a:prstGeom prst="rect">
            <a:avLst/>
          </a:prstGeom>
          <a:noFill/>
          <a:ln/>
        </p:spPr>
        <p:txBody>
          <a:bodyPr wrap="none" lIns="0" tIns="0" rIns="0" bIns="0" rtlCol="0" anchor="t"/>
          <a:lstStyle/>
          <a:p>
            <a:pPr marL="0" indent="0" algn="ctr">
              <a:lnSpc>
                <a:spcPts val="5150"/>
              </a:lnSpc>
              <a:buNone/>
            </a:pPr>
            <a:r>
              <a:rPr lang="en-US" sz="5150" dirty="0">
                <a:solidFill>
                  <a:srgbClr val="E5E0DF"/>
                </a:solidFill>
                <a:latin typeface="Poppins Light" pitchFamily="34" charset="0"/>
                <a:ea typeface="Poppins Light" pitchFamily="34" charset="-122"/>
                <a:cs typeface="Poppins Light" pitchFamily="34" charset="-120"/>
              </a:rPr>
              <a:t>180K</a:t>
            </a:r>
            <a:endParaRPr lang="en-US" sz="5150" dirty="0"/>
          </a:p>
        </p:txBody>
      </p:sp>
      <p:sp>
        <p:nvSpPr>
          <p:cNvPr id="13" name="Text 11"/>
          <p:cNvSpPr/>
          <p:nvPr/>
        </p:nvSpPr>
        <p:spPr>
          <a:xfrm>
            <a:off x="2510552" y="6429613"/>
            <a:ext cx="2963704" cy="310158"/>
          </a:xfrm>
          <a:prstGeom prst="rect">
            <a:avLst/>
          </a:prstGeom>
          <a:noFill/>
          <a:ln/>
        </p:spPr>
        <p:txBody>
          <a:bodyPr wrap="none" lIns="0" tIns="0" rIns="0" bIns="0" rtlCol="0" anchor="t"/>
          <a:lstStyle/>
          <a:p>
            <a:pPr marL="0" indent="0" algn="ctr">
              <a:lnSpc>
                <a:spcPts val="2400"/>
              </a:lnSpc>
              <a:buNone/>
            </a:pPr>
            <a:r>
              <a:rPr lang="en-US" sz="1950" dirty="0">
                <a:solidFill>
                  <a:srgbClr val="E5E0DF"/>
                </a:solidFill>
                <a:latin typeface="Poppins Light" pitchFamily="34" charset="0"/>
                <a:ea typeface="Poppins Light" pitchFamily="34" charset="-122"/>
                <a:cs typeface="Poppins Light" pitchFamily="34" charset="-120"/>
              </a:rPr>
              <a:t>Customers Lost Per Year</a:t>
            </a:r>
            <a:endParaRPr lang="en-US" sz="1950" dirty="0"/>
          </a:p>
        </p:txBody>
      </p:sp>
      <p:sp>
        <p:nvSpPr>
          <p:cNvPr id="14" name="Text 12"/>
          <p:cNvSpPr/>
          <p:nvPr/>
        </p:nvSpPr>
        <p:spPr>
          <a:xfrm>
            <a:off x="793790" y="6858833"/>
            <a:ext cx="6397347" cy="317540"/>
          </a:xfrm>
          <a:prstGeom prst="rect">
            <a:avLst/>
          </a:prstGeom>
          <a:noFill/>
          <a:ln/>
        </p:spPr>
        <p:txBody>
          <a:bodyPr wrap="none" lIns="0" tIns="0" rIns="0" bIns="0" rtlCol="0" anchor="t"/>
          <a:lstStyle/>
          <a:p>
            <a:pPr marL="0" indent="0" algn="ctr">
              <a:lnSpc>
                <a:spcPts val="2500"/>
              </a:lnSpc>
              <a:buNone/>
            </a:pPr>
            <a:r>
              <a:rPr lang="en-US" sz="1550" dirty="0">
                <a:solidFill>
                  <a:srgbClr val="E5E0DF"/>
                </a:solidFill>
                <a:latin typeface="Roboto Light" pitchFamily="34" charset="0"/>
                <a:ea typeface="Roboto Light" pitchFamily="34" charset="-122"/>
                <a:cs typeface="Roboto Light" pitchFamily="34" charset="-120"/>
              </a:rPr>
              <a:t>At current churn levels without intervention</a:t>
            </a:r>
            <a:endParaRPr lang="en-US" sz="1550" dirty="0"/>
          </a:p>
        </p:txBody>
      </p:sp>
      <p:sp>
        <p:nvSpPr>
          <p:cNvPr id="15" name="Text 13"/>
          <p:cNvSpPr/>
          <p:nvPr/>
        </p:nvSpPr>
        <p:spPr>
          <a:xfrm>
            <a:off x="7439144" y="5526643"/>
            <a:ext cx="6397466" cy="654963"/>
          </a:xfrm>
          <a:prstGeom prst="rect">
            <a:avLst/>
          </a:prstGeom>
          <a:noFill/>
          <a:ln/>
        </p:spPr>
        <p:txBody>
          <a:bodyPr wrap="none" lIns="0" tIns="0" rIns="0" bIns="0" rtlCol="0" anchor="t"/>
          <a:lstStyle/>
          <a:p>
            <a:pPr marL="0" indent="0" algn="ctr">
              <a:lnSpc>
                <a:spcPts val="5150"/>
              </a:lnSpc>
              <a:buNone/>
            </a:pPr>
            <a:r>
              <a:rPr lang="en-US" sz="5150" dirty="0">
                <a:solidFill>
                  <a:srgbClr val="E5E0DF"/>
                </a:solidFill>
                <a:latin typeface="Poppins Light" pitchFamily="34" charset="0"/>
                <a:ea typeface="Poppins Light" pitchFamily="34" charset="-122"/>
                <a:cs typeface="Poppins Light" pitchFamily="34" charset="-120"/>
              </a:rPr>
              <a:t>$54M</a:t>
            </a:r>
            <a:endParaRPr lang="en-US" sz="5150" dirty="0"/>
          </a:p>
        </p:txBody>
      </p:sp>
      <p:sp>
        <p:nvSpPr>
          <p:cNvPr id="16" name="Text 14"/>
          <p:cNvSpPr/>
          <p:nvPr/>
        </p:nvSpPr>
        <p:spPr>
          <a:xfrm>
            <a:off x="9397365" y="6429613"/>
            <a:ext cx="2480905" cy="310158"/>
          </a:xfrm>
          <a:prstGeom prst="rect">
            <a:avLst/>
          </a:prstGeom>
          <a:noFill/>
          <a:ln/>
        </p:spPr>
        <p:txBody>
          <a:bodyPr wrap="none" lIns="0" tIns="0" rIns="0" bIns="0" rtlCol="0" anchor="t"/>
          <a:lstStyle/>
          <a:p>
            <a:pPr marL="0" indent="0" algn="ctr">
              <a:lnSpc>
                <a:spcPts val="2400"/>
              </a:lnSpc>
              <a:buNone/>
            </a:pPr>
            <a:r>
              <a:rPr lang="en-US" sz="1950" dirty="0">
                <a:solidFill>
                  <a:srgbClr val="E5E0DF"/>
                </a:solidFill>
                <a:latin typeface="Poppins Light" pitchFamily="34" charset="0"/>
                <a:ea typeface="Poppins Light" pitchFamily="34" charset="-122"/>
                <a:cs typeface="Poppins Light" pitchFamily="34" charset="-120"/>
              </a:rPr>
              <a:t>Revenue at Risk</a:t>
            </a:r>
            <a:endParaRPr lang="en-US" sz="1950" dirty="0"/>
          </a:p>
        </p:txBody>
      </p:sp>
      <p:sp>
        <p:nvSpPr>
          <p:cNvPr id="17" name="Text 15"/>
          <p:cNvSpPr/>
          <p:nvPr/>
        </p:nvSpPr>
        <p:spPr>
          <a:xfrm>
            <a:off x="7439144" y="6858833"/>
            <a:ext cx="6397466" cy="317540"/>
          </a:xfrm>
          <a:prstGeom prst="rect">
            <a:avLst/>
          </a:prstGeom>
          <a:noFill/>
          <a:ln/>
        </p:spPr>
        <p:txBody>
          <a:bodyPr wrap="none" lIns="0" tIns="0" rIns="0" bIns="0" rtlCol="0" anchor="t"/>
          <a:lstStyle/>
          <a:p>
            <a:pPr marL="0" indent="0" algn="ctr">
              <a:lnSpc>
                <a:spcPts val="2500"/>
              </a:lnSpc>
              <a:buNone/>
            </a:pPr>
            <a:r>
              <a:rPr lang="en-US" sz="1550" dirty="0">
                <a:solidFill>
                  <a:srgbClr val="E5E0DF"/>
                </a:solidFill>
                <a:latin typeface="Roboto Light" pitchFamily="34" charset="0"/>
                <a:ea typeface="Roboto Light" pitchFamily="34" charset="-122"/>
                <a:cs typeface="Roboto Light" pitchFamily="34" charset="-120"/>
              </a:rPr>
              <a:t>Based on $300 ARPU annually ($25/month)</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93790" y="993696"/>
            <a:ext cx="1761768" cy="373142"/>
          </a:xfrm>
          <a:prstGeom prst="roundRect">
            <a:avLst>
              <a:gd name="adj" fmla="val 17872"/>
            </a:avLst>
          </a:prstGeom>
          <a:solidFill>
            <a:srgbClr val="252528"/>
          </a:solidFill>
          <a:ln/>
        </p:spPr>
      </p:sp>
      <p:sp>
        <p:nvSpPr>
          <p:cNvPr id="3" name="Text 1"/>
          <p:cNvSpPr/>
          <p:nvPr/>
        </p:nvSpPr>
        <p:spPr>
          <a:xfrm>
            <a:off x="912852" y="1053227"/>
            <a:ext cx="1523643" cy="254079"/>
          </a:xfrm>
          <a:prstGeom prst="rect">
            <a:avLst/>
          </a:prstGeom>
          <a:noFill/>
          <a:ln/>
        </p:spPr>
        <p:txBody>
          <a:bodyPr wrap="none" lIns="0" tIns="0" rIns="0" bIns="0" rtlCol="0" anchor="t"/>
          <a:lstStyle/>
          <a:p>
            <a:pPr marL="0" indent="0" algn="l">
              <a:lnSpc>
                <a:spcPts val="2000"/>
              </a:lnSpc>
              <a:buNone/>
            </a:pPr>
            <a:r>
              <a:rPr lang="en-US" sz="1250" dirty="0">
                <a:solidFill>
                  <a:srgbClr val="E5E0DF"/>
                </a:solidFill>
                <a:latin typeface="Roboto Light" pitchFamily="34" charset="0"/>
                <a:ea typeface="Roboto Light" pitchFamily="34" charset="-122"/>
                <a:cs typeface="Roboto Light" pitchFamily="34" charset="-120"/>
              </a:rPr>
              <a:t>PROJECT OBJECTIVE</a:t>
            </a:r>
            <a:endParaRPr lang="en-US" sz="1250" dirty="0"/>
          </a:p>
        </p:txBody>
      </p:sp>
      <p:sp>
        <p:nvSpPr>
          <p:cNvPr id="4" name="Text 2"/>
          <p:cNvSpPr/>
          <p:nvPr/>
        </p:nvSpPr>
        <p:spPr>
          <a:xfrm>
            <a:off x="793790" y="1378898"/>
            <a:ext cx="8598063" cy="687313"/>
          </a:xfrm>
          <a:prstGeom prst="rect">
            <a:avLst/>
          </a:prstGeom>
          <a:noFill/>
          <a:ln/>
        </p:spPr>
        <p:txBody>
          <a:bodyPr wrap="none" lIns="0" tIns="0" rIns="0" bIns="0" rtlCol="0" anchor="t"/>
          <a:lstStyle/>
          <a:p>
            <a:pPr marL="0" indent="0" algn="l">
              <a:lnSpc>
                <a:spcPts val="4850"/>
              </a:lnSpc>
              <a:buNone/>
            </a:pPr>
            <a:r>
              <a:rPr lang="en-US" sz="3900" dirty="0">
                <a:solidFill>
                  <a:srgbClr val="F2F2F3"/>
                </a:solidFill>
                <a:latin typeface="Poppins Light" pitchFamily="34" charset="0"/>
                <a:ea typeface="Poppins Light" pitchFamily="34" charset="-122"/>
                <a:cs typeface="Poppins Light" pitchFamily="34" charset="-120"/>
              </a:rPr>
              <a:t>Four Goals That Drive This Project</a:t>
            </a:r>
            <a:endParaRPr lang="en-US" sz="3900" dirty="0"/>
          </a:p>
        </p:txBody>
      </p:sp>
      <p:sp>
        <p:nvSpPr>
          <p:cNvPr id="5" name="Text 3"/>
          <p:cNvSpPr/>
          <p:nvPr/>
        </p:nvSpPr>
        <p:spPr>
          <a:xfrm>
            <a:off x="793790" y="2363867"/>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This initiative is designed to bridge the gap between raw data and real business action. The ambition goes beyond building a model — it's about creating an end-to-end system that generates reliable predictions and translates them into targeted, measurable retention strategies.</a:t>
            </a:r>
            <a:endParaRPr lang="en-US" sz="155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3790" y="3222188"/>
            <a:ext cx="496133" cy="496133"/>
          </a:xfrm>
          <a:prstGeom prst="rect">
            <a:avLst/>
          </a:prstGeom>
        </p:spPr>
      </p:pic>
      <p:sp>
        <p:nvSpPr>
          <p:cNvPr id="7" name="Text 4"/>
          <p:cNvSpPr/>
          <p:nvPr/>
        </p:nvSpPr>
        <p:spPr>
          <a:xfrm>
            <a:off x="793790" y="3966329"/>
            <a:ext cx="3639894" cy="310158"/>
          </a:xfrm>
          <a:prstGeom prst="rect">
            <a:avLst/>
          </a:prstGeom>
          <a:noFill/>
          <a:ln/>
        </p:spPr>
        <p:txBody>
          <a:bodyPr wrap="none" lIns="0" tIns="0" rIns="0" bIns="0" rtlCol="0" anchor="t"/>
          <a:lstStyle/>
          <a:p>
            <a:pPr marL="0" indent="0" algn="l">
              <a:lnSpc>
                <a:spcPts val="2400"/>
              </a:lnSpc>
              <a:buNone/>
            </a:pPr>
            <a:r>
              <a:rPr lang="en-US" sz="1950" dirty="0">
                <a:solidFill>
                  <a:srgbClr val="E5E0DF"/>
                </a:solidFill>
                <a:latin typeface="Poppins Light" pitchFamily="34" charset="0"/>
                <a:ea typeface="Poppins Light" pitchFamily="34" charset="-122"/>
                <a:cs typeface="Poppins Light" pitchFamily="34" charset="-120"/>
              </a:rPr>
              <a:t>Predict Churn Probability</a:t>
            </a:r>
            <a:endParaRPr lang="en-US" sz="1950" dirty="0"/>
          </a:p>
        </p:txBody>
      </p:sp>
      <p:sp>
        <p:nvSpPr>
          <p:cNvPr id="8" name="Text 5"/>
          <p:cNvSpPr/>
          <p:nvPr/>
        </p:nvSpPr>
        <p:spPr>
          <a:xfrm>
            <a:off x="793790" y="4395549"/>
            <a:ext cx="6397347" cy="63507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Score every customer with a churn likelihood score, updated on a regular cadence using the latest behavioral data.</a:t>
            </a:r>
            <a:endParaRPr lang="en-US" sz="155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39144" y="3222188"/>
            <a:ext cx="496133" cy="496133"/>
          </a:xfrm>
          <a:prstGeom prst="rect">
            <a:avLst/>
          </a:prstGeom>
        </p:spPr>
      </p:pic>
      <p:sp>
        <p:nvSpPr>
          <p:cNvPr id="10" name="Text 6"/>
          <p:cNvSpPr/>
          <p:nvPr/>
        </p:nvSpPr>
        <p:spPr>
          <a:xfrm>
            <a:off x="7439144" y="3966329"/>
            <a:ext cx="3854228" cy="310158"/>
          </a:xfrm>
          <a:prstGeom prst="rect">
            <a:avLst/>
          </a:prstGeom>
          <a:noFill/>
          <a:ln/>
        </p:spPr>
        <p:txBody>
          <a:bodyPr wrap="none" lIns="0" tIns="0" rIns="0" bIns="0" rtlCol="0" anchor="t"/>
          <a:lstStyle/>
          <a:p>
            <a:pPr marL="0" indent="0" algn="l">
              <a:lnSpc>
                <a:spcPts val="2400"/>
              </a:lnSpc>
              <a:buNone/>
            </a:pPr>
            <a:r>
              <a:rPr lang="en-US" sz="1950" dirty="0">
                <a:solidFill>
                  <a:srgbClr val="E5E0DF"/>
                </a:solidFill>
                <a:latin typeface="Poppins Light" pitchFamily="34" charset="0"/>
                <a:ea typeface="Poppins Light" pitchFamily="34" charset="-122"/>
                <a:cs typeface="Poppins Light" pitchFamily="34" charset="-120"/>
              </a:rPr>
              <a:t>Identify High-Risk Customers</a:t>
            </a:r>
            <a:endParaRPr lang="en-US" sz="1950" dirty="0"/>
          </a:p>
        </p:txBody>
      </p:sp>
      <p:sp>
        <p:nvSpPr>
          <p:cNvPr id="11" name="Text 7"/>
          <p:cNvSpPr/>
          <p:nvPr/>
        </p:nvSpPr>
        <p:spPr>
          <a:xfrm>
            <a:off x="7439144" y="4395549"/>
            <a:ext cx="6397466" cy="63507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Surface the customers most likely to leave so retention teams can prioritize their outreach effectively.</a:t>
            </a:r>
            <a:endParaRPr lang="en-US" sz="155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93790" y="5427464"/>
            <a:ext cx="496133" cy="496133"/>
          </a:xfrm>
          <a:prstGeom prst="rect">
            <a:avLst/>
          </a:prstGeom>
        </p:spPr>
      </p:pic>
      <p:sp>
        <p:nvSpPr>
          <p:cNvPr id="13" name="Text 8"/>
          <p:cNvSpPr/>
          <p:nvPr/>
        </p:nvSpPr>
        <p:spPr>
          <a:xfrm>
            <a:off x="793790" y="6171605"/>
            <a:ext cx="3645364" cy="310158"/>
          </a:xfrm>
          <a:prstGeom prst="rect">
            <a:avLst/>
          </a:prstGeom>
          <a:noFill/>
          <a:ln/>
        </p:spPr>
        <p:txBody>
          <a:bodyPr wrap="none" lIns="0" tIns="0" rIns="0" bIns="0" rtlCol="0" anchor="t"/>
          <a:lstStyle/>
          <a:p>
            <a:pPr marL="0" indent="0" algn="l">
              <a:lnSpc>
                <a:spcPts val="2400"/>
              </a:lnSpc>
              <a:buNone/>
            </a:pPr>
            <a:r>
              <a:rPr lang="en-US" sz="1950" dirty="0">
                <a:solidFill>
                  <a:srgbClr val="E5E0DF"/>
                </a:solidFill>
                <a:latin typeface="Poppins Light" pitchFamily="34" charset="0"/>
                <a:ea typeface="Poppins Light" pitchFamily="34" charset="-122"/>
                <a:cs typeface="Poppins Light" pitchFamily="34" charset="-120"/>
              </a:rPr>
              <a:t>Enable Targeted Retention</a:t>
            </a:r>
            <a:endParaRPr lang="en-US" sz="1950" dirty="0"/>
          </a:p>
        </p:txBody>
      </p:sp>
      <p:sp>
        <p:nvSpPr>
          <p:cNvPr id="14" name="Text 9"/>
          <p:cNvSpPr/>
          <p:nvPr/>
        </p:nvSpPr>
        <p:spPr>
          <a:xfrm>
            <a:off x="793790" y="6600825"/>
            <a:ext cx="6397347" cy="63507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Match each risk segment to an appropriate intervention — from loyalty rewards to direct retention calls.</a:t>
            </a:r>
            <a:endParaRPr lang="en-US" sz="1550" dirty="0"/>
          </a:p>
        </p:txBody>
      </p:sp>
      <p:pic>
        <p:nvPicPr>
          <p:cNvPr id="15"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439144" y="5427464"/>
            <a:ext cx="496133" cy="496133"/>
          </a:xfrm>
          <a:prstGeom prst="rect">
            <a:avLst/>
          </a:prstGeom>
        </p:spPr>
      </p:pic>
      <p:sp>
        <p:nvSpPr>
          <p:cNvPr id="16" name="Text 10"/>
          <p:cNvSpPr/>
          <p:nvPr/>
        </p:nvSpPr>
        <p:spPr>
          <a:xfrm>
            <a:off x="7439144" y="6171605"/>
            <a:ext cx="3851685" cy="310158"/>
          </a:xfrm>
          <a:prstGeom prst="rect">
            <a:avLst/>
          </a:prstGeom>
          <a:noFill/>
          <a:ln/>
        </p:spPr>
        <p:txBody>
          <a:bodyPr wrap="none" lIns="0" tIns="0" rIns="0" bIns="0" rtlCol="0" anchor="t"/>
          <a:lstStyle/>
          <a:p>
            <a:pPr marL="0" indent="0" algn="l">
              <a:lnSpc>
                <a:spcPts val="2400"/>
              </a:lnSpc>
              <a:buNone/>
            </a:pPr>
            <a:r>
              <a:rPr lang="en-US" sz="1950" dirty="0">
                <a:solidFill>
                  <a:srgbClr val="E5E0DF"/>
                </a:solidFill>
                <a:latin typeface="Poppins Light" pitchFamily="34" charset="0"/>
                <a:ea typeface="Poppins Light" pitchFamily="34" charset="-122"/>
                <a:cs typeface="Poppins Light" pitchFamily="34" charset="-120"/>
              </a:rPr>
              <a:t>Drive Business Decisions</a:t>
            </a:r>
            <a:endParaRPr lang="en-US" sz="1950" dirty="0"/>
          </a:p>
        </p:txBody>
      </p:sp>
      <p:sp>
        <p:nvSpPr>
          <p:cNvPr id="17" name="Text 11"/>
          <p:cNvSpPr/>
          <p:nvPr/>
        </p:nvSpPr>
        <p:spPr>
          <a:xfrm>
            <a:off x="7439144" y="6600825"/>
            <a:ext cx="6397466" cy="63507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Transform ML predictions into structured, actionable outputs that marketing and CRM teams can act on immediately.</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793790" y="850225"/>
            <a:ext cx="1619012" cy="373142"/>
          </a:xfrm>
          <a:prstGeom prst="roundRect">
            <a:avLst>
              <a:gd name="adj" fmla="val 17872"/>
            </a:avLst>
          </a:prstGeom>
          <a:solidFill>
            <a:srgbClr val="252528"/>
          </a:solidFill>
          <a:ln/>
        </p:spPr>
      </p:sp>
      <p:sp>
        <p:nvSpPr>
          <p:cNvPr id="3" name="Text 1"/>
          <p:cNvSpPr/>
          <p:nvPr/>
        </p:nvSpPr>
        <p:spPr>
          <a:xfrm>
            <a:off x="912852" y="909757"/>
            <a:ext cx="1380887" cy="254079"/>
          </a:xfrm>
          <a:prstGeom prst="rect">
            <a:avLst/>
          </a:prstGeom>
          <a:noFill/>
          <a:ln/>
        </p:spPr>
        <p:txBody>
          <a:bodyPr wrap="none" lIns="0" tIns="0" rIns="0" bIns="0" rtlCol="0" anchor="t"/>
          <a:lstStyle/>
          <a:p>
            <a:pPr marL="0" indent="0" algn="l">
              <a:lnSpc>
                <a:spcPts val="2000"/>
              </a:lnSpc>
              <a:buNone/>
            </a:pPr>
            <a:r>
              <a:rPr lang="en-US" sz="1250" dirty="0">
                <a:solidFill>
                  <a:srgbClr val="E5E0DF"/>
                </a:solidFill>
                <a:latin typeface="Roboto Light" pitchFamily="34" charset="0"/>
                <a:ea typeface="Roboto Light" pitchFamily="34" charset="-122"/>
                <a:cs typeface="Roboto Light" pitchFamily="34" charset="-120"/>
              </a:rPr>
              <a:t>DATA FOUNDATION</a:t>
            </a:r>
            <a:endParaRPr lang="en-US" sz="1250" dirty="0"/>
          </a:p>
        </p:txBody>
      </p:sp>
      <p:sp>
        <p:nvSpPr>
          <p:cNvPr id="4" name="Text 2"/>
          <p:cNvSpPr/>
          <p:nvPr/>
        </p:nvSpPr>
        <p:spPr>
          <a:xfrm>
            <a:off x="793790" y="1302663"/>
            <a:ext cx="4961811" cy="620078"/>
          </a:xfrm>
          <a:prstGeom prst="rect">
            <a:avLst/>
          </a:prstGeom>
          <a:noFill/>
          <a:ln/>
        </p:spPr>
        <p:txBody>
          <a:bodyPr wrap="none" lIns="0" tIns="0" rIns="0" bIns="0" rtlCol="0" anchor="t"/>
          <a:lstStyle/>
          <a:p>
            <a:pPr marL="0" indent="0" algn="l">
              <a:lnSpc>
                <a:spcPts val="4850"/>
              </a:lnSpc>
              <a:buNone/>
            </a:pPr>
            <a:r>
              <a:rPr lang="en-US" sz="3900" dirty="0">
                <a:solidFill>
                  <a:srgbClr val="F2F2F3"/>
                </a:solidFill>
                <a:latin typeface="Poppins Light" pitchFamily="34" charset="0"/>
                <a:ea typeface="Poppins Light" pitchFamily="34" charset="-122"/>
                <a:cs typeface="Poppins Light" pitchFamily="34" charset="-120"/>
              </a:rPr>
              <a:t>Dataset Overview</a:t>
            </a:r>
            <a:endParaRPr lang="en-US" sz="3900" dirty="0"/>
          </a:p>
        </p:txBody>
      </p:sp>
      <p:sp>
        <p:nvSpPr>
          <p:cNvPr id="5" name="Shape 3"/>
          <p:cNvSpPr/>
          <p:nvPr/>
        </p:nvSpPr>
        <p:spPr>
          <a:xfrm>
            <a:off x="650915" y="2220397"/>
            <a:ext cx="5212318" cy="5158859"/>
          </a:xfrm>
          <a:prstGeom prst="roundRect">
            <a:avLst>
              <a:gd name="adj" fmla="val 2770"/>
            </a:avLst>
          </a:prstGeom>
          <a:solidFill>
            <a:srgbClr val="F2F2F3"/>
          </a:solidFill>
          <a:ln/>
        </p:spPr>
      </p:sp>
      <p:sp>
        <p:nvSpPr>
          <p:cNvPr id="6" name="Text 4"/>
          <p:cNvSpPr/>
          <p:nvPr/>
        </p:nvSpPr>
        <p:spPr>
          <a:xfrm>
            <a:off x="849273" y="2418755"/>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000000"/>
                </a:solidFill>
                <a:latin typeface="Poppins Light" pitchFamily="34" charset="0"/>
                <a:ea typeface="Poppins Light" pitchFamily="34" charset="-122"/>
                <a:cs typeface="Poppins Light" pitchFamily="34" charset="-120"/>
              </a:rPr>
              <a:t>Dataset at a Glance</a:t>
            </a:r>
            <a:endParaRPr lang="en-US" sz="1950" dirty="0"/>
          </a:p>
        </p:txBody>
      </p:sp>
      <p:sp>
        <p:nvSpPr>
          <p:cNvPr id="7" name="Shape 5"/>
          <p:cNvSpPr/>
          <p:nvPr/>
        </p:nvSpPr>
        <p:spPr>
          <a:xfrm>
            <a:off x="849273" y="2952155"/>
            <a:ext cx="4815602" cy="1238012"/>
          </a:xfrm>
          <a:prstGeom prst="roundRect">
            <a:avLst>
              <a:gd name="adj" fmla="val 6733"/>
            </a:avLst>
          </a:prstGeom>
          <a:solidFill>
            <a:srgbClr val="3D3D42"/>
          </a:solidFill>
          <a:ln w="7620">
            <a:solidFill>
              <a:srgbClr val="56565B"/>
            </a:solidFill>
            <a:prstDash val="solid"/>
          </a:ln>
        </p:spPr>
      </p:sp>
      <p:sp>
        <p:nvSpPr>
          <p:cNvPr id="8" name="Text 6"/>
          <p:cNvSpPr/>
          <p:nvPr/>
        </p:nvSpPr>
        <p:spPr>
          <a:xfrm>
            <a:off x="1055251" y="3158133"/>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FFFFFF"/>
                </a:solidFill>
                <a:latin typeface="Poppins Light" pitchFamily="34" charset="0"/>
                <a:ea typeface="Poppins Light" pitchFamily="34" charset="-122"/>
                <a:cs typeface="Poppins Light" pitchFamily="34" charset="-120"/>
              </a:rPr>
              <a:t>7,043</a:t>
            </a:r>
            <a:endParaRPr lang="en-US" sz="1950" dirty="0"/>
          </a:p>
        </p:txBody>
      </p:sp>
      <p:sp>
        <p:nvSpPr>
          <p:cNvPr id="9" name="Text 7"/>
          <p:cNvSpPr/>
          <p:nvPr/>
        </p:nvSpPr>
        <p:spPr>
          <a:xfrm>
            <a:off x="1055251" y="3666649"/>
            <a:ext cx="4403646" cy="317540"/>
          </a:xfrm>
          <a:prstGeom prst="rect">
            <a:avLst/>
          </a:prstGeom>
          <a:noFill/>
          <a:ln/>
        </p:spPr>
        <p:txBody>
          <a:bodyPr wrap="none" lIns="0" tIns="0" rIns="0" bIns="0" rtlCol="0" anchor="t"/>
          <a:lstStyle/>
          <a:p>
            <a:pPr marL="0" indent="0" algn="l">
              <a:lnSpc>
                <a:spcPts val="2500"/>
              </a:lnSpc>
              <a:buNone/>
            </a:pPr>
            <a:r>
              <a:rPr lang="en-US" sz="1550" dirty="0">
                <a:solidFill>
                  <a:srgbClr val="FFFFFF"/>
                </a:solidFill>
                <a:latin typeface="Roboto Light" pitchFamily="34" charset="0"/>
                <a:ea typeface="Roboto Light" pitchFamily="34" charset="-122"/>
                <a:cs typeface="Roboto Light" pitchFamily="34" charset="-120"/>
              </a:rPr>
              <a:t>Unique customer records</a:t>
            </a:r>
            <a:endParaRPr lang="en-US" sz="1550" dirty="0"/>
          </a:p>
        </p:txBody>
      </p:sp>
      <p:sp>
        <p:nvSpPr>
          <p:cNvPr id="10" name="Shape 8"/>
          <p:cNvSpPr/>
          <p:nvPr/>
        </p:nvSpPr>
        <p:spPr>
          <a:xfrm>
            <a:off x="849273" y="4388525"/>
            <a:ext cx="4815602" cy="1238012"/>
          </a:xfrm>
          <a:prstGeom prst="roundRect">
            <a:avLst>
              <a:gd name="adj" fmla="val 6733"/>
            </a:avLst>
          </a:prstGeom>
          <a:solidFill>
            <a:srgbClr val="3D3D42"/>
          </a:solidFill>
          <a:ln w="7620">
            <a:solidFill>
              <a:srgbClr val="56565B"/>
            </a:solidFill>
            <a:prstDash val="solid"/>
          </a:ln>
        </p:spPr>
      </p:sp>
      <p:sp>
        <p:nvSpPr>
          <p:cNvPr id="11" name="Text 9"/>
          <p:cNvSpPr/>
          <p:nvPr/>
        </p:nvSpPr>
        <p:spPr>
          <a:xfrm>
            <a:off x="1055251" y="4594503"/>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FFFFFF"/>
                </a:solidFill>
                <a:latin typeface="Poppins Light" pitchFamily="34" charset="0"/>
                <a:ea typeface="Poppins Light" pitchFamily="34" charset="-122"/>
                <a:cs typeface="Poppins Light" pitchFamily="34" charset="-120"/>
              </a:rPr>
              <a:t>Binary</a:t>
            </a:r>
            <a:endParaRPr lang="en-US" sz="1950" dirty="0"/>
          </a:p>
        </p:txBody>
      </p:sp>
      <p:sp>
        <p:nvSpPr>
          <p:cNvPr id="12" name="Text 10"/>
          <p:cNvSpPr/>
          <p:nvPr/>
        </p:nvSpPr>
        <p:spPr>
          <a:xfrm>
            <a:off x="1055251" y="5103019"/>
            <a:ext cx="4403646" cy="317540"/>
          </a:xfrm>
          <a:prstGeom prst="rect">
            <a:avLst/>
          </a:prstGeom>
          <a:noFill/>
          <a:ln/>
        </p:spPr>
        <p:txBody>
          <a:bodyPr wrap="none" lIns="0" tIns="0" rIns="0" bIns="0" rtlCol="0" anchor="t"/>
          <a:lstStyle/>
          <a:p>
            <a:pPr marL="0" indent="0" algn="l">
              <a:lnSpc>
                <a:spcPts val="2500"/>
              </a:lnSpc>
              <a:buNone/>
            </a:pPr>
            <a:r>
              <a:rPr lang="en-US" sz="1550" dirty="0">
                <a:solidFill>
                  <a:srgbClr val="FFFFFF"/>
                </a:solidFill>
                <a:latin typeface="Roboto Light" pitchFamily="34" charset="0"/>
                <a:ea typeface="Roboto Light" pitchFamily="34" charset="-122"/>
                <a:cs typeface="Roboto Light" pitchFamily="34" charset="-120"/>
              </a:rPr>
              <a:t>Target: Churn (Yes / No)</a:t>
            </a:r>
            <a:endParaRPr lang="en-US" sz="1550" dirty="0"/>
          </a:p>
        </p:txBody>
      </p:sp>
      <p:sp>
        <p:nvSpPr>
          <p:cNvPr id="13" name="Text 11"/>
          <p:cNvSpPr/>
          <p:nvPr/>
        </p:nvSpPr>
        <p:spPr>
          <a:xfrm>
            <a:off x="6212086" y="2418755"/>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F2F2F3"/>
                </a:solidFill>
                <a:latin typeface="Poppins Light" pitchFamily="34" charset="0"/>
                <a:ea typeface="Poppins Light" pitchFamily="34" charset="-122"/>
                <a:cs typeface="Poppins Light" pitchFamily="34" charset="-120"/>
              </a:rPr>
              <a:t>Feature Categories</a:t>
            </a:r>
            <a:endParaRPr lang="en-US" sz="1950" dirty="0"/>
          </a:p>
        </p:txBody>
      </p:sp>
      <p:sp>
        <p:nvSpPr>
          <p:cNvPr id="14" name="Text 12"/>
          <p:cNvSpPr/>
          <p:nvPr/>
        </p:nvSpPr>
        <p:spPr>
          <a:xfrm>
            <a:off x="6212086" y="2927271"/>
            <a:ext cx="7632025" cy="63507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The dataset captures a comprehensive view of each customer across four key dimensions:</a:t>
            </a:r>
            <a:endParaRPr lang="en-US" sz="1550" dirty="0"/>
          </a:p>
        </p:txBody>
      </p:sp>
      <p:sp>
        <p:nvSpPr>
          <p:cNvPr id="15" name="Shape 13"/>
          <p:cNvSpPr/>
          <p:nvPr/>
        </p:nvSpPr>
        <p:spPr>
          <a:xfrm>
            <a:off x="6212086" y="3785592"/>
            <a:ext cx="3716774" cy="1586032"/>
          </a:xfrm>
          <a:prstGeom prst="roundRect">
            <a:avLst>
              <a:gd name="adj" fmla="val 6918"/>
            </a:avLst>
          </a:prstGeom>
          <a:solidFill>
            <a:srgbClr val="050505"/>
          </a:solidFill>
          <a:ln w="22860">
            <a:solidFill>
              <a:srgbClr val="56565B"/>
            </a:solidFill>
            <a:prstDash val="solid"/>
          </a:ln>
        </p:spPr>
      </p:sp>
      <p:sp>
        <p:nvSpPr>
          <p:cNvPr id="16" name="Shape 14"/>
          <p:cNvSpPr/>
          <p:nvPr/>
        </p:nvSpPr>
        <p:spPr>
          <a:xfrm>
            <a:off x="6189226" y="3785592"/>
            <a:ext cx="91440" cy="1586032"/>
          </a:xfrm>
          <a:prstGeom prst="roundRect">
            <a:avLst>
              <a:gd name="adj" fmla="val 91163"/>
            </a:avLst>
          </a:prstGeom>
          <a:solidFill>
            <a:srgbClr val="F2F2F3"/>
          </a:solidFill>
          <a:ln/>
        </p:spPr>
      </p:sp>
      <p:sp>
        <p:nvSpPr>
          <p:cNvPr id="17" name="Text 15"/>
          <p:cNvSpPr/>
          <p:nvPr/>
        </p:nvSpPr>
        <p:spPr>
          <a:xfrm>
            <a:off x="6501884" y="4006810"/>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E5E0DF"/>
                </a:solidFill>
                <a:latin typeface="Poppins Light" pitchFamily="34" charset="0"/>
                <a:ea typeface="Poppins Light" pitchFamily="34" charset="-122"/>
                <a:cs typeface="Poppins Light" pitchFamily="34" charset="-120"/>
              </a:rPr>
              <a:t>Demographics</a:t>
            </a:r>
            <a:endParaRPr lang="en-US" sz="1950" dirty="0"/>
          </a:p>
        </p:txBody>
      </p:sp>
      <p:sp>
        <p:nvSpPr>
          <p:cNvPr id="18" name="Text 16"/>
          <p:cNvSpPr/>
          <p:nvPr/>
        </p:nvSpPr>
        <p:spPr>
          <a:xfrm>
            <a:off x="6501884" y="4515326"/>
            <a:ext cx="3205758" cy="63507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Age, gender, senior citizen status, dependents</a:t>
            </a:r>
            <a:endParaRPr lang="en-US" sz="1550" dirty="0"/>
          </a:p>
        </p:txBody>
      </p:sp>
      <p:sp>
        <p:nvSpPr>
          <p:cNvPr id="19" name="Shape 17"/>
          <p:cNvSpPr/>
          <p:nvPr/>
        </p:nvSpPr>
        <p:spPr>
          <a:xfrm>
            <a:off x="10127218" y="3785592"/>
            <a:ext cx="3716893" cy="1586032"/>
          </a:xfrm>
          <a:prstGeom prst="roundRect">
            <a:avLst>
              <a:gd name="adj" fmla="val 6918"/>
            </a:avLst>
          </a:prstGeom>
          <a:solidFill>
            <a:srgbClr val="050505"/>
          </a:solidFill>
          <a:ln w="22860">
            <a:solidFill>
              <a:srgbClr val="56565B"/>
            </a:solidFill>
            <a:prstDash val="solid"/>
          </a:ln>
        </p:spPr>
      </p:sp>
      <p:sp>
        <p:nvSpPr>
          <p:cNvPr id="20" name="Shape 18"/>
          <p:cNvSpPr/>
          <p:nvPr/>
        </p:nvSpPr>
        <p:spPr>
          <a:xfrm>
            <a:off x="10104358" y="3785592"/>
            <a:ext cx="91440" cy="1586032"/>
          </a:xfrm>
          <a:prstGeom prst="roundRect">
            <a:avLst>
              <a:gd name="adj" fmla="val 91163"/>
            </a:avLst>
          </a:prstGeom>
          <a:solidFill>
            <a:srgbClr val="F2F2F3"/>
          </a:solidFill>
          <a:ln/>
        </p:spPr>
      </p:sp>
      <p:sp>
        <p:nvSpPr>
          <p:cNvPr id="21" name="Text 19"/>
          <p:cNvSpPr/>
          <p:nvPr/>
        </p:nvSpPr>
        <p:spPr>
          <a:xfrm>
            <a:off x="10417016" y="3979916"/>
            <a:ext cx="2776740" cy="337052"/>
          </a:xfrm>
          <a:prstGeom prst="rect">
            <a:avLst/>
          </a:prstGeom>
          <a:noFill/>
          <a:ln/>
        </p:spPr>
        <p:txBody>
          <a:bodyPr wrap="none" lIns="0" tIns="0" rIns="0" bIns="0" rtlCol="0" anchor="t"/>
          <a:lstStyle/>
          <a:p>
            <a:pPr marL="0" indent="0" algn="l">
              <a:lnSpc>
                <a:spcPts val="2400"/>
              </a:lnSpc>
              <a:buNone/>
            </a:pPr>
            <a:r>
              <a:rPr lang="en-US" sz="1950" dirty="0">
                <a:solidFill>
                  <a:srgbClr val="E5E0DF"/>
                </a:solidFill>
                <a:latin typeface="Poppins Light" pitchFamily="34" charset="0"/>
                <a:ea typeface="Poppins Light" pitchFamily="34" charset="-122"/>
                <a:cs typeface="Poppins Light" pitchFamily="34" charset="-120"/>
              </a:rPr>
              <a:t>Services Subscribed</a:t>
            </a:r>
            <a:endParaRPr lang="en-US" sz="1950" dirty="0"/>
          </a:p>
        </p:txBody>
      </p:sp>
      <p:sp>
        <p:nvSpPr>
          <p:cNvPr id="22" name="Text 20"/>
          <p:cNvSpPr/>
          <p:nvPr/>
        </p:nvSpPr>
        <p:spPr>
          <a:xfrm>
            <a:off x="10417016" y="4515326"/>
            <a:ext cx="3205877" cy="63507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Internet, phone, streaming, tech support</a:t>
            </a:r>
            <a:endParaRPr lang="en-US" sz="1550" dirty="0"/>
          </a:p>
        </p:txBody>
      </p:sp>
      <p:sp>
        <p:nvSpPr>
          <p:cNvPr id="23" name="Shape 21"/>
          <p:cNvSpPr/>
          <p:nvPr/>
        </p:nvSpPr>
        <p:spPr>
          <a:xfrm>
            <a:off x="6212086" y="5569982"/>
            <a:ext cx="3716774" cy="1586032"/>
          </a:xfrm>
          <a:prstGeom prst="roundRect">
            <a:avLst>
              <a:gd name="adj" fmla="val 6918"/>
            </a:avLst>
          </a:prstGeom>
          <a:solidFill>
            <a:srgbClr val="050505"/>
          </a:solidFill>
          <a:ln w="22860">
            <a:solidFill>
              <a:srgbClr val="56565B"/>
            </a:solidFill>
            <a:prstDash val="solid"/>
          </a:ln>
        </p:spPr>
      </p:sp>
      <p:sp>
        <p:nvSpPr>
          <p:cNvPr id="24" name="Shape 22"/>
          <p:cNvSpPr/>
          <p:nvPr/>
        </p:nvSpPr>
        <p:spPr>
          <a:xfrm>
            <a:off x="6189226" y="5569982"/>
            <a:ext cx="91440" cy="1586032"/>
          </a:xfrm>
          <a:prstGeom prst="roundRect">
            <a:avLst>
              <a:gd name="adj" fmla="val 91163"/>
            </a:avLst>
          </a:prstGeom>
          <a:solidFill>
            <a:srgbClr val="F2F2F3"/>
          </a:solidFill>
          <a:ln/>
        </p:spPr>
      </p:sp>
      <p:sp>
        <p:nvSpPr>
          <p:cNvPr id="25" name="Text 23"/>
          <p:cNvSpPr/>
          <p:nvPr/>
        </p:nvSpPr>
        <p:spPr>
          <a:xfrm>
            <a:off x="6501884" y="5791200"/>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E5E0DF"/>
                </a:solidFill>
                <a:latin typeface="Poppins Light" pitchFamily="34" charset="0"/>
                <a:ea typeface="Poppins Light" pitchFamily="34" charset="-122"/>
                <a:cs typeface="Poppins Light" pitchFamily="34" charset="-120"/>
              </a:rPr>
              <a:t>Billing &amp; Payments</a:t>
            </a:r>
            <a:endParaRPr lang="en-US" sz="1950" dirty="0"/>
          </a:p>
        </p:txBody>
      </p:sp>
      <p:sp>
        <p:nvSpPr>
          <p:cNvPr id="26" name="Text 24"/>
          <p:cNvSpPr/>
          <p:nvPr/>
        </p:nvSpPr>
        <p:spPr>
          <a:xfrm>
            <a:off x="6501884" y="6299716"/>
            <a:ext cx="3205758" cy="63507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Monthly charges, total charges, payment method</a:t>
            </a:r>
            <a:endParaRPr lang="en-US" sz="1550" dirty="0"/>
          </a:p>
        </p:txBody>
      </p:sp>
      <p:sp>
        <p:nvSpPr>
          <p:cNvPr id="27" name="Shape 25"/>
          <p:cNvSpPr/>
          <p:nvPr/>
        </p:nvSpPr>
        <p:spPr>
          <a:xfrm>
            <a:off x="10127218" y="5569982"/>
            <a:ext cx="3716893" cy="1586032"/>
          </a:xfrm>
          <a:prstGeom prst="roundRect">
            <a:avLst>
              <a:gd name="adj" fmla="val 6918"/>
            </a:avLst>
          </a:prstGeom>
          <a:solidFill>
            <a:srgbClr val="050505"/>
          </a:solidFill>
          <a:ln w="22860">
            <a:solidFill>
              <a:srgbClr val="56565B"/>
            </a:solidFill>
            <a:prstDash val="solid"/>
          </a:ln>
        </p:spPr>
      </p:sp>
      <p:sp>
        <p:nvSpPr>
          <p:cNvPr id="28" name="Shape 26"/>
          <p:cNvSpPr/>
          <p:nvPr/>
        </p:nvSpPr>
        <p:spPr>
          <a:xfrm>
            <a:off x="10104358" y="5569982"/>
            <a:ext cx="91440" cy="1586032"/>
          </a:xfrm>
          <a:prstGeom prst="roundRect">
            <a:avLst>
              <a:gd name="adj" fmla="val 91163"/>
            </a:avLst>
          </a:prstGeom>
          <a:solidFill>
            <a:srgbClr val="F2F2F3"/>
          </a:solidFill>
          <a:ln/>
        </p:spPr>
      </p:sp>
      <p:sp>
        <p:nvSpPr>
          <p:cNvPr id="29" name="Text 27"/>
          <p:cNvSpPr/>
          <p:nvPr/>
        </p:nvSpPr>
        <p:spPr>
          <a:xfrm>
            <a:off x="10417016" y="5791200"/>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E5E0DF"/>
                </a:solidFill>
                <a:latin typeface="Poppins Light" pitchFamily="34" charset="0"/>
                <a:ea typeface="Poppins Light" pitchFamily="34" charset="-122"/>
                <a:cs typeface="Poppins Light" pitchFamily="34" charset="-120"/>
              </a:rPr>
              <a:t>Contract Type</a:t>
            </a:r>
            <a:endParaRPr lang="en-US" sz="1950" dirty="0"/>
          </a:p>
        </p:txBody>
      </p:sp>
      <p:sp>
        <p:nvSpPr>
          <p:cNvPr id="30" name="Text 28"/>
          <p:cNvSpPr/>
          <p:nvPr/>
        </p:nvSpPr>
        <p:spPr>
          <a:xfrm>
            <a:off x="10417016" y="6299716"/>
            <a:ext cx="3205877" cy="63507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Month-to-month, one-year, or two-year contracts</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793790" y="745688"/>
            <a:ext cx="2032516" cy="373142"/>
          </a:xfrm>
          <a:prstGeom prst="roundRect">
            <a:avLst>
              <a:gd name="adj" fmla="val 17872"/>
            </a:avLst>
          </a:prstGeom>
          <a:solidFill>
            <a:srgbClr val="252528"/>
          </a:solidFill>
          <a:ln/>
        </p:spPr>
      </p:sp>
      <p:sp>
        <p:nvSpPr>
          <p:cNvPr id="3" name="Text 1"/>
          <p:cNvSpPr/>
          <p:nvPr/>
        </p:nvSpPr>
        <p:spPr>
          <a:xfrm>
            <a:off x="912852" y="805220"/>
            <a:ext cx="1794391" cy="254079"/>
          </a:xfrm>
          <a:prstGeom prst="rect">
            <a:avLst/>
          </a:prstGeom>
          <a:noFill/>
          <a:ln/>
        </p:spPr>
        <p:txBody>
          <a:bodyPr wrap="none" lIns="0" tIns="0" rIns="0" bIns="0" rtlCol="0" anchor="t"/>
          <a:lstStyle/>
          <a:p>
            <a:pPr marL="0" indent="0" algn="l">
              <a:lnSpc>
                <a:spcPts val="2000"/>
              </a:lnSpc>
              <a:buNone/>
            </a:pPr>
            <a:r>
              <a:rPr lang="en-US" sz="1250" dirty="0">
                <a:solidFill>
                  <a:srgbClr val="E5E0DF"/>
                </a:solidFill>
                <a:latin typeface="Roboto Light" pitchFamily="34" charset="0"/>
                <a:ea typeface="Roboto Light" pitchFamily="34" charset="-122"/>
                <a:cs typeface="Roboto Light" pitchFamily="34" charset="-120"/>
              </a:rPr>
              <a:t>EXPLORATORY ANALYSIS</a:t>
            </a:r>
            <a:endParaRPr lang="en-US" sz="1250" dirty="0"/>
          </a:p>
        </p:txBody>
      </p:sp>
      <p:sp>
        <p:nvSpPr>
          <p:cNvPr id="4" name="Text 2"/>
          <p:cNvSpPr/>
          <p:nvPr/>
        </p:nvSpPr>
        <p:spPr>
          <a:xfrm>
            <a:off x="793790" y="1130891"/>
            <a:ext cx="8910133" cy="687313"/>
          </a:xfrm>
          <a:prstGeom prst="rect">
            <a:avLst/>
          </a:prstGeom>
          <a:noFill/>
          <a:ln/>
        </p:spPr>
        <p:txBody>
          <a:bodyPr wrap="none" lIns="0" tIns="0" rIns="0" bIns="0" rtlCol="0" anchor="t"/>
          <a:lstStyle/>
          <a:p>
            <a:pPr marL="0" indent="0" algn="l">
              <a:lnSpc>
                <a:spcPts val="4850"/>
              </a:lnSpc>
              <a:buNone/>
            </a:pPr>
            <a:r>
              <a:rPr lang="en-US" sz="3900" dirty="0">
                <a:solidFill>
                  <a:srgbClr val="F2F2F3"/>
                </a:solidFill>
                <a:latin typeface="Poppins Light" pitchFamily="34" charset="0"/>
                <a:ea typeface="Poppins Light" pitchFamily="34" charset="-122"/>
                <a:cs typeface="Poppins Light" pitchFamily="34" charset="-120"/>
              </a:rPr>
              <a:t>Key Drivers of Customer Churn</a:t>
            </a:r>
            <a:endParaRPr lang="en-US" sz="3900" dirty="0"/>
          </a:p>
        </p:txBody>
      </p:sp>
      <p:sp>
        <p:nvSpPr>
          <p:cNvPr id="5" name="Text 3"/>
          <p:cNvSpPr/>
          <p:nvPr/>
        </p:nvSpPr>
        <p:spPr>
          <a:xfrm>
            <a:off x="793790" y="2115860"/>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Exploratory data analysis revealed four dominant behavioral and contractual patterns that consistently correlate with higher churn rates. Understanding these drivers is essential for both model feature selection and downstream retention strategy design.</a:t>
            </a:r>
            <a:endParaRPr lang="en-US" sz="1550" dirty="0"/>
          </a:p>
        </p:txBody>
      </p:sp>
      <p:pic>
        <p:nvPicPr>
          <p:cNvPr id="6" name="Image 0" descr="preencoded.png"/>
          <p:cNvPicPr>
            <a:picLocks noChangeAspect="1"/>
          </p:cNvPicPr>
          <p:nvPr/>
        </p:nvPicPr>
        <p:blipFill>
          <a:blip r:embed="rId3"/>
          <a:stretch>
            <a:fillRect/>
          </a:stretch>
        </p:blipFill>
        <p:spPr>
          <a:xfrm>
            <a:off x="793790" y="2974181"/>
            <a:ext cx="6521410" cy="793790"/>
          </a:xfrm>
          <a:prstGeom prst="rect">
            <a:avLst/>
          </a:prstGeom>
        </p:spPr>
      </p:pic>
      <p:sp>
        <p:nvSpPr>
          <p:cNvPr id="7" name="Text 4"/>
          <p:cNvSpPr/>
          <p:nvPr/>
        </p:nvSpPr>
        <p:spPr>
          <a:xfrm>
            <a:off x="992148" y="3966329"/>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E5E0DF"/>
                </a:solidFill>
                <a:latin typeface="Poppins Light" pitchFamily="34" charset="0"/>
                <a:ea typeface="Poppins Light" pitchFamily="34" charset="-122"/>
                <a:cs typeface="Poppins Light" pitchFamily="34" charset="-120"/>
              </a:rPr>
              <a:t>Short Tenure</a:t>
            </a:r>
            <a:endParaRPr lang="en-US" sz="1950" dirty="0"/>
          </a:p>
        </p:txBody>
      </p:sp>
      <p:sp>
        <p:nvSpPr>
          <p:cNvPr id="8" name="Text 5"/>
          <p:cNvSpPr/>
          <p:nvPr/>
        </p:nvSpPr>
        <p:spPr>
          <a:xfrm>
            <a:off x="992148" y="4395549"/>
            <a:ext cx="6124694" cy="63507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New customers churn at significantly higher rates — early engagement is critical</a:t>
            </a:r>
            <a:endParaRPr lang="en-US" sz="1550" dirty="0"/>
          </a:p>
        </p:txBody>
      </p:sp>
      <p:pic>
        <p:nvPicPr>
          <p:cNvPr id="9" name="Image 1" descr="preencoded.png"/>
          <p:cNvPicPr>
            <a:picLocks noChangeAspect="1"/>
          </p:cNvPicPr>
          <p:nvPr/>
        </p:nvPicPr>
        <p:blipFill>
          <a:blip r:embed="rId4"/>
          <a:stretch>
            <a:fillRect/>
          </a:stretch>
        </p:blipFill>
        <p:spPr>
          <a:xfrm>
            <a:off x="7315200" y="2974181"/>
            <a:ext cx="6521410" cy="793790"/>
          </a:xfrm>
          <a:prstGeom prst="rect">
            <a:avLst/>
          </a:prstGeom>
        </p:spPr>
      </p:pic>
      <p:sp>
        <p:nvSpPr>
          <p:cNvPr id="10" name="Text 6"/>
          <p:cNvSpPr/>
          <p:nvPr/>
        </p:nvSpPr>
        <p:spPr>
          <a:xfrm>
            <a:off x="7513558" y="3966329"/>
            <a:ext cx="3521532" cy="310158"/>
          </a:xfrm>
          <a:prstGeom prst="rect">
            <a:avLst/>
          </a:prstGeom>
          <a:noFill/>
          <a:ln/>
        </p:spPr>
        <p:txBody>
          <a:bodyPr wrap="none" lIns="0" tIns="0" rIns="0" bIns="0" rtlCol="0" anchor="t"/>
          <a:lstStyle/>
          <a:p>
            <a:pPr marL="0" indent="0" algn="l">
              <a:lnSpc>
                <a:spcPts val="2400"/>
              </a:lnSpc>
              <a:buNone/>
            </a:pPr>
            <a:r>
              <a:rPr lang="en-US" sz="1950" dirty="0">
                <a:solidFill>
                  <a:srgbClr val="E5E0DF"/>
                </a:solidFill>
                <a:latin typeface="Poppins Light" pitchFamily="34" charset="0"/>
                <a:ea typeface="Poppins Light" pitchFamily="34" charset="-122"/>
                <a:cs typeface="Poppins Light" pitchFamily="34" charset="-120"/>
              </a:rPr>
              <a:t>Month-to-Month Contracts</a:t>
            </a:r>
            <a:endParaRPr lang="en-US" sz="1950" dirty="0"/>
          </a:p>
        </p:txBody>
      </p:sp>
      <p:sp>
        <p:nvSpPr>
          <p:cNvPr id="11" name="Text 7"/>
          <p:cNvSpPr/>
          <p:nvPr/>
        </p:nvSpPr>
        <p:spPr>
          <a:xfrm>
            <a:off x="7513558" y="4395549"/>
            <a:ext cx="6124694" cy="63507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Flexible contracts remove switching friction, making these customers the highest-risk segment</a:t>
            </a:r>
            <a:endParaRPr lang="en-US" sz="1550" dirty="0"/>
          </a:p>
        </p:txBody>
      </p:sp>
      <p:pic>
        <p:nvPicPr>
          <p:cNvPr id="12" name="Image 2" descr="preencoded.png"/>
          <p:cNvPicPr>
            <a:picLocks noChangeAspect="1"/>
          </p:cNvPicPr>
          <p:nvPr/>
        </p:nvPicPr>
        <p:blipFill>
          <a:blip r:embed="rId5"/>
          <a:stretch>
            <a:fillRect/>
          </a:stretch>
        </p:blipFill>
        <p:spPr>
          <a:xfrm>
            <a:off x="793790" y="5228987"/>
            <a:ext cx="6521410" cy="793790"/>
          </a:xfrm>
          <a:prstGeom prst="rect">
            <a:avLst/>
          </a:prstGeom>
        </p:spPr>
      </p:pic>
      <p:sp>
        <p:nvSpPr>
          <p:cNvPr id="13" name="Text 8"/>
          <p:cNvSpPr/>
          <p:nvPr/>
        </p:nvSpPr>
        <p:spPr>
          <a:xfrm>
            <a:off x="924913" y="6221135"/>
            <a:ext cx="3131595" cy="337052"/>
          </a:xfrm>
          <a:prstGeom prst="rect">
            <a:avLst/>
          </a:prstGeom>
          <a:noFill/>
          <a:ln/>
        </p:spPr>
        <p:txBody>
          <a:bodyPr wrap="none" lIns="0" tIns="0" rIns="0" bIns="0" rtlCol="0" anchor="t"/>
          <a:lstStyle/>
          <a:p>
            <a:pPr marL="0" indent="0" algn="l">
              <a:lnSpc>
                <a:spcPts val="2400"/>
              </a:lnSpc>
              <a:buNone/>
            </a:pPr>
            <a:r>
              <a:rPr lang="en-US" sz="1950" dirty="0">
                <a:solidFill>
                  <a:srgbClr val="E5E0DF"/>
                </a:solidFill>
                <a:latin typeface="Poppins Light" pitchFamily="34" charset="0"/>
                <a:ea typeface="Poppins Light" pitchFamily="34" charset="-122"/>
                <a:cs typeface="Poppins Light" pitchFamily="34" charset="-120"/>
              </a:rPr>
              <a:t>High Monthly Charges</a:t>
            </a:r>
            <a:endParaRPr lang="en-US" sz="1950" dirty="0"/>
          </a:p>
        </p:txBody>
      </p:sp>
      <p:sp>
        <p:nvSpPr>
          <p:cNvPr id="14" name="Text 9"/>
          <p:cNvSpPr/>
          <p:nvPr/>
        </p:nvSpPr>
        <p:spPr>
          <a:xfrm>
            <a:off x="992148" y="6650355"/>
            <a:ext cx="6124694" cy="63507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Customers with elevated bills are more likely to seek lower-cost alternatives elsewhere</a:t>
            </a:r>
            <a:endParaRPr lang="en-US" sz="1550" dirty="0"/>
          </a:p>
        </p:txBody>
      </p:sp>
      <p:pic>
        <p:nvPicPr>
          <p:cNvPr id="15" name="Image 3" descr="preencoded.png"/>
          <p:cNvPicPr>
            <a:picLocks noChangeAspect="1"/>
          </p:cNvPicPr>
          <p:nvPr/>
        </p:nvPicPr>
        <p:blipFill>
          <a:blip r:embed="rId6"/>
          <a:stretch>
            <a:fillRect/>
          </a:stretch>
        </p:blipFill>
        <p:spPr>
          <a:xfrm>
            <a:off x="7315200" y="5228987"/>
            <a:ext cx="6521410" cy="793790"/>
          </a:xfrm>
          <a:prstGeom prst="rect">
            <a:avLst/>
          </a:prstGeom>
        </p:spPr>
      </p:pic>
      <p:sp>
        <p:nvSpPr>
          <p:cNvPr id="16" name="Text 10"/>
          <p:cNvSpPr/>
          <p:nvPr/>
        </p:nvSpPr>
        <p:spPr>
          <a:xfrm>
            <a:off x="7513558" y="6221135"/>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E5E0DF"/>
                </a:solidFill>
                <a:latin typeface="Poppins Light" pitchFamily="34" charset="0"/>
                <a:ea typeface="Poppins Light" pitchFamily="34" charset="-122"/>
                <a:cs typeface="Poppins Light" pitchFamily="34" charset="-120"/>
              </a:rPr>
              <a:t>Fewer Services</a:t>
            </a:r>
            <a:endParaRPr lang="en-US" sz="1950" dirty="0"/>
          </a:p>
        </p:txBody>
      </p:sp>
      <p:sp>
        <p:nvSpPr>
          <p:cNvPr id="17" name="Text 11"/>
          <p:cNvSpPr/>
          <p:nvPr/>
        </p:nvSpPr>
        <p:spPr>
          <a:xfrm>
            <a:off x="7513558" y="6650355"/>
            <a:ext cx="6124694" cy="63507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Low service adoption reduces switching costs and weakens the customer's connection to the provider</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731758" y="660797"/>
            <a:ext cx="1498402" cy="334685"/>
          </a:xfrm>
          <a:prstGeom prst="roundRect">
            <a:avLst>
              <a:gd name="adj" fmla="val 18369"/>
            </a:avLst>
          </a:prstGeom>
          <a:solidFill>
            <a:srgbClr val="252528"/>
          </a:solidFill>
          <a:ln/>
        </p:spPr>
      </p:sp>
      <p:sp>
        <p:nvSpPr>
          <p:cNvPr id="3" name="Text 1"/>
          <p:cNvSpPr/>
          <p:nvPr/>
        </p:nvSpPr>
        <p:spPr>
          <a:xfrm>
            <a:off x="841534" y="715685"/>
            <a:ext cx="1278850" cy="224909"/>
          </a:xfrm>
          <a:prstGeom prst="rect">
            <a:avLst/>
          </a:prstGeom>
          <a:noFill/>
          <a:ln/>
        </p:spPr>
        <p:txBody>
          <a:bodyPr wrap="none" lIns="0" tIns="0" rIns="0" bIns="0" rtlCol="0" anchor="t"/>
          <a:lstStyle/>
          <a:p>
            <a:pPr marL="0" indent="0" algn="l">
              <a:lnSpc>
                <a:spcPts val="1750"/>
              </a:lnSpc>
              <a:buNone/>
            </a:pPr>
            <a:r>
              <a:rPr lang="en-US" sz="1150" dirty="0">
                <a:solidFill>
                  <a:srgbClr val="E5E0DF"/>
                </a:solidFill>
                <a:latin typeface="Roboto Light" pitchFamily="34" charset="0"/>
                <a:ea typeface="Roboto Light" pitchFamily="34" charset="-122"/>
                <a:cs typeface="Roboto Light" pitchFamily="34" charset="-120"/>
              </a:rPr>
              <a:t>BASELINE RESULTS</a:t>
            </a:r>
            <a:endParaRPr lang="en-US" sz="1150" dirty="0"/>
          </a:p>
        </p:txBody>
      </p:sp>
      <p:sp>
        <p:nvSpPr>
          <p:cNvPr id="4" name="Text 2"/>
          <p:cNvSpPr/>
          <p:nvPr/>
        </p:nvSpPr>
        <p:spPr>
          <a:xfrm>
            <a:off x="745205" y="1009083"/>
            <a:ext cx="6129617" cy="625526"/>
          </a:xfrm>
          <a:prstGeom prst="rect">
            <a:avLst/>
          </a:prstGeom>
          <a:noFill/>
          <a:ln/>
        </p:spPr>
        <p:txBody>
          <a:bodyPr wrap="none" lIns="0" tIns="0" rIns="0" bIns="0" rtlCol="0" anchor="t"/>
          <a:lstStyle/>
          <a:p>
            <a:pPr marL="0" indent="0" algn="l">
              <a:lnSpc>
                <a:spcPts val="4500"/>
              </a:lnSpc>
              <a:buNone/>
            </a:pPr>
            <a:r>
              <a:rPr lang="en-US" sz="3600" dirty="0">
                <a:solidFill>
                  <a:srgbClr val="F2F2F3"/>
                </a:solidFill>
                <a:latin typeface="Poppins Light" pitchFamily="34" charset="0"/>
                <a:ea typeface="Poppins Light" pitchFamily="34" charset="-122"/>
                <a:cs typeface="Poppins Light" pitchFamily="34" charset="-120"/>
              </a:rPr>
              <a:t>Initial Model Performance</a:t>
            </a:r>
            <a:endParaRPr lang="en-US" sz="3600" dirty="0"/>
          </a:p>
        </p:txBody>
      </p:sp>
      <p:sp>
        <p:nvSpPr>
          <p:cNvPr id="5" name="Text 3"/>
          <p:cNvSpPr/>
          <p:nvPr/>
        </p:nvSpPr>
        <p:spPr>
          <a:xfrm>
            <a:off x="731758" y="1887617"/>
            <a:ext cx="13166884" cy="562689"/>
          </a:xfrm>
          <a:prstGeom prst="rect">
            <a:avLst/>
          </a:prstGeom>
          <a:noFill/>
          <a:ln/>
        </p:spPr>
        <p:txBody>
          <a:bodyPr wrap="square" lIns="0" tIns="0" rIns="0" bIns="0" rtlCol="0" anchor="t"/>
          <a:lstStyle/>
          <a:p>
            <a:pPr marL="0" indent="0" algn="l">
              <a:lnSpc>
                <a:spcPts val="2200"/>
              </a:lnSpc>
              <a:buNone/>
            </a:pPr>
            <a:r>
              <a:rPr lang="en-US" sz="1400" dirty="0">
                <a:solidFill>
                  <a:srgbClr val="E5E0DF"/>
                </a:solidFill>
                <a:latin typeface="Roboto Light" pitchFamily="34" charset="0"/>
                <a:ea typeface="Roboto Light" pitchFamily="34" charset="-122"/>
                <a:cs typeface="Roboto Light" pitchFamily="34" charset="-120"/>
              </a:rPr>
              <a:t>The baseline model delivered reasonable overall accuracy but revealed a critical weakness: </a:t>
            </a:r>
            <a:r>
              <a:rPr lang="en-US" sz="1400" b="1" dirty="0">
                <a:solidFill>
                  <a:srgbClr val="E5E0DF"/>
                </a:solidFill>
                <a:latin typeface="Roboto Light" pitchFamily="34" charset="0"/>
                <a:ea typeface="Roboto Light" pitchFamily="34" charset="-122"/>
                <a:cs typeface="Roboto Light" pitchFamily="34" charset="-120"/>
              </a:rPr>
              <a:t>low recall</a:t>
            </a:r>
            <a:r>
              <a:rPr lang="en-US" sz="1400" dirty="0">
                <a:solidFill>
                  <a:srgbClr val="E5E0DF"/>
                </a:solidFill>
                <a:latin typeface="Roboto Light" pitchFamily="34" charset="0"/>
                <a:ea typeface="Roboto Light" pitchFamily="34" charset="-122"/>
                <a:cs typeface="Roboto Light" pitchFamily="34" charset="-120"/>
              </a:rPr>
              <a:t>. With only 55% of actual churners detected, the model would have missed nearly half of at-risk customers — rendering it insufficient for a high-stakes retention use case where missed detections translate directly to lost revenue.</a:t>
            </a:r>
            <a:endParaRPr lang="en-US" sz="1400" dirty="0"/>
          </a:p>
        </p:txBody>
      </p:sp>
      <p:sp>
        <p:nvSpPr>
          <p:cNvPr id="6" name="Text 4"/>
          <p:cNvSpPr/>
          <p:nvPr/>
        </p:nvSpPr>
        <p:spPr>
          <a:xfrm>
            <a:off x="731758" y="2808565"/>
            <a:ext cx="2287072" cy="285869"/>
          </a:xfrm>
          <a:prstGeom prst="rect">
            <a:avLst/>
          </a:prstGeom>
          <a:noFill/>
          <a:ln/>
        </p:spPr>
        <p:txBody>
          <a:bodyPr wrap="none" lIns="0" tIns="0" rIns="0" bIns="0" rtlCol="0" anchor="t"/>
          <a:lstStyle/>
          <a:p>
            <a:pPr marL="0" indent="0" algn="l">
              <a:lnSpc>
                <a:spcPts val="2250"/>
              </a:lnSpc>
              <a:buNone/>
            </a:pPr>
            <a:r>
              <a:rPr lang="en-US" sz="1800" dirty="0">
                <a:solidFill>
                  <a:srgbClr val="F2F2F3"/>
                </a:solidFill>
                <a:latin typeface="Poppins Light" pitchFamily="34" charset="0"/>
                <a:ea typeface="Poppins Light" pitchFamily="34" charset="-122"/>
                <a:cs typeface="Poppins Light" pitchFamily="34" charset="-120"/>
              </a:rPr>
              <a:t>Baseline Metrics</a:t>
            </a:r>
            <a:endParaRPr lang="en-US" sz="1800" dirty="0"/>
          </a:p>
        </p:txBody>
      </p:sp>
      <p:sp>
        <p:nvSpPr>
          <p:cNvPr id="7" name="Shape 5"/>
          <p:cNvSpPr/>
          <p:nvPr/>
        </p:nvSpPr>
        <p:spPr>
          <a:xfrm>
            <a:off x="731758" y="3284101"/>
            <a:ext cx="3095863" cy="1963222"/>
          </a:xfrm>
          <a:prstGeom prst="roundRect">
            <a:avLst>
              <a:gd name="adj" fmla="val 3914"/>
            </a:avLst>
          </a:prstGeom>
          <a:solidFill>
            <a:srgbClr val="050505"/>
          </a:solidFill>
          <a:ln w="22860">
            <a:solidFill>
              <a:srgbClr val="56565B"/>
            </a:solidFill>
            <a:prstDash val="solid"/>
          </a:ln>
        </p:spPr>
      </p:sp>
      <p:sp>
        <p:nvSpPr>
          <p:cNvPr id="8" name="Shape 6"/>
          <p:cNvSpPr/>
          <p:nvPr/>
        </p:nvSpPr>
        <p:spPr>
          <a:xfrm>
            <a:off x="754618" y="3306961"/>
            <a:ext cx="3050143" cy="548878"/>
          </a:xfrm>
          <a:prstGeom prst="roundRect">
            <a:avLst>
              <a:gd name="adj" fmla="val 9003"/>
            </a:avLst>
          </a:prstGeom>
          <a:solidFill>
            <a:srgbClr val="3D3D42"/>
          </a:solidFill>
          <a:ln/>
        </p:spPr>
      </p:sp>
      <p:sp>
        <p:nvSpPr>
          <p:cNvPr id="9" name="Text 7"/>
          <p:cNvSpPr/>
          <p:nvPr/>
        </p:nvSpPr>
        <p:spPr>
          <a:xfrm>
            <a:off x="2142411" y="3406021"/>
            <a:ext cx="274439" cy="343019"/>
          </a:xfrm>
          <a:prstGeom prst="rect">
            <a:avLst/>
          </a:prstGeom>
          <a:noFill/>
          <a:ln/>
        </p:spPr>
        <p:txBody>
          <a:bodyPr wrap="none" lIns="0" tIns="0" rIns="0" bIns="0" rtlCol="0" anchor="t"/>
          <a:lstStyle/>
          <a:p>
            <a:pPr marL="0" indent="0" algn="l">
              <a:lnSpc>
                <a:spcPts val="2150"/>
              </a:lnSpc>
              <a:buNone/>
            </a:pPr>
            <a:r>
              <a:rPr lang="en-US" sz="2150" dirty="0">
                <a:solidFill>
                  <a:srgbClr val="E5E0DF"/>
                </a:solidFill>
                <a:latin typeface="Poppins Light" pitchFamily="34" charset="0"/>
                <a:ea typeface="Poppins Light" pitchFamily="34" charset="-122"/>
                <a:cs typeface="Poppins Light" pitchFamily="34" charset="-120"/>
              </a:rPr>
              <a:t>1</a:t>
            </a:r>
            <a:endParaRPr lang="en-US" sz="2150" dirty="0"/>
          </a:p>
        </p:txBody>
      </p:sp>
      <p:sp>
        <p:nvSpPr>
          <p:cNvPr id="10" name="Text 8"/>
          <p:cNvSpPr/>
          <p:nvPr/>
        </p:nvSpPr>
        <p:spPr>
          <a:xfrm>
            <a:off x="937498" y="4024432"/>
            <a:ext cx="2287072" cy="285869"/>
          </a:xfrm>
          <a:prstGeom prst="rect">
            <a:avLst/>
          </a:prstGeom>
          <a:noFill/>
          <a:ln/>
        </p:spPr>
        <p:txBody>
          <a:bodyPr wrap="none" lIns="0" tIns="0" rIns="0" bIns="0" rtlCol="0" anchor="t"/>
          <a:lstStyle/>
          <a:p>
            <a:pPr marL="0" indent="0" algn="l">
              <a:lnSpc>
                <a:spcPts val="2250"/>
              </a:lnSpc>
              <a:buNone/>
            </a:pPr>
            <a:r>
              <a:rPr lang="en-US" sz="1800" dirty="0">
                <a:solidFill>
                  <a:srgbClr val="E5E0DF"/>
                </a:solidFill>
                <a:latin typeface="Poppins Light" pitchFamily="34" charset="0"/>
                <a:ea typeface="Poppins Light" pitchFamily="34" charset="-122"/>
                <a:cs typeface="Poppins Light" pitchFamily="34" charset="-120"/>
              </a:rPr>
              <a:t>Accuracy</a:t>
            </a:r>
            <a:endParaRPr lang="en-US" sz="1800" dirty="0"/>
          </a:p>
        </p:txBody>
      </p:sp>
      <p:sp>
        <p:nvSpPr>
          <p:cNvPr id="11" name="Text 9"/>
          <p:cNvSpPr/>
          <p:nvPr/>
        </p:nvSpPr>
        <p:spPr>
          <a:xfrm>
            <a:off x="937498" y="4478893"/>
            <a:ext cx="2684383" cy="562689"/>
          </a:xfrm>
          <a:prstGeom prst="rect">
            <a:avLst/>
          </a:prstGeom>
          <a:noFill/>
          <a:ln/>
        </p:spPr>
        <p:txBody>
          <a:bodyPr wrap="square" lIns="0" tIns="0" rIns="0" bIns="0" rtlCol="0" anchor="t"/>
          <a:lstStyle/>
          <a:p>
            <a:pPr marL="0" indent="0" algn="l">
              <a:lnSpc>
                <a:spcPts val="2200"/>
              </a:lnSpc>
              <a:buNone/>
            </a:pPr>
            <a:r>
              <a:rPr lang="en-US" sz="1400" b="1" dirty="0">
                <a:solidFill>
                  <a:srgbClr val="E5E0DF"/>
                </a:solidFill>
                <a:latin typeface="Roboto Light" pitchFamily="34" charset="0"/>
                <a:ea typeface="Roboto Light" pitchFamily="34" charset="-122"/>
                <a:cs typeface="Roboto Light" pitchFamily="34" charset="-120"/>
              </a:rPr>
              <a:t>80%</a:t>
            </a:r>
            <a:r>
              <a:rPr lang="en-US" sz="1400" dirty="0">
                <a:solidFill>
                  <a:srgbClr val="E5E0DF"/>
                </a:solidFill>
                <a:latin typeface="Roboto Light" pitchFamily="34" charset="0"/>
                <a:ea typeface="Roboto Light" pitchFamily="34" charset="-122"/>
                <a:cs typeface="Roboto Light" pitchFamily="34" charset="-120"/>
              </a:rPr>
              <a:t> — Strong overall classification rate</a:t>
            </a:r>
            <a:endParaRPr lang="en-US" sz="1400" dirty="0"/>
          </a:p>
        </p:txBody>
      </p:sp>
      <p:sp>
        <p:nvSpPr>
          <p:cNvPr id="12" name="Shape 10"/>
          <p:cNvSpPr/>
          <p:nvPr/>
        </p:nvSpPr>
        <p:spPr>
          <a:xfrm>
            <a:off x="3996214" y="3284101"/>
            <a:ext cx="3095863" cy="1963222"/>
          </a:xfrm>
          <a:prstGeom prst="roundRect">
            <a:avLst>
              <a:gd name="adj" fmla="val 3914"/>
            </a:avLst>
          </a:prstGeom>
          <a:solidFill>
            <a:srgbClr val="050505"/>
          </a:solidFill>
          <a:ln w="22860">
            <a:solidFill>
              <a:srgbClr val="56565B"/>
            </a:solidFill>
            <a:prstDash val="solid"/>
          </a:ln>
        </p:spPr>
      </p:sp>
      <p:sp>
        <p:nvSpPr>
          <p:cNvPr id="13" name="Shape 11"/>
          <p:cNvSpPr/>
          <p:nvPr/>
        </p:nvSpPr>
        <p:spPr>
          <a:xfrm>
            <a:off x="4019074" y="3306961"/>
            <a:ext cx="3050143" cy="548878"/>
          </a:xfrm>
          <a:prstGeom prst="roundRect">
            <a:avLst>
              <a:gd name="adj" fmla="val 9003"/>
            </a:avLst>
          </a:prstGeom>
          <a:solidFill>
            <a:srgbClr val="3D3D42"/>
          </a:solidFill>
          <a:ln/>
        </p:spPr>
      </p:sp>
      <p:sp>
        <p:nvSpPr>
          <p:cNvPr id="14" name="Text 12"/>
          <p:cNvSpPr/>
          <p:nvPr/>
        </p:nvSpPr>
        <p:spPr>
          <a:xfrm>
            <a:off x="5406866" y="3406021"/>
            <a:ext cx="274439" cy="343019"/>
          </a:xfrm>
          <a:prstGeom prst="rect">
            <a:avLst/>
          </a:prstGeom>
          <a:noFill/>
          <a:ln/>
        </p:spPr>
        <p:txBody>
          <a:bodyPr wrap="none" lIns="0" tIns="0" rIns="0" bIns="0" rtlCol="0" anchor="t"/>
          <a:lstStyle/>
          <a:p>
            <a:pPr marL="0" indent="0" algn="l">
              <a:lnSpc>
                <a:spcPts val="2150"/>
              </a:lnSpc>
              <a:buNone/>
            </a:pPr>
            <a:r>
              <a:rPr lang="en-US" sz="2150" dirty="0">
                <a:solidFill>
                  <a:srgbClr val="E5E0DF"/>
                </a:solidFill>
                <a:latin typeface="Poppins Light" pitchFamily="34" charset="0"/>
                <a:ea typeface="Poppins Light" pitchFamily="34" charset="-122"/>
                <a:cs typeface="Poppins Light" pitchFamily="34" charset="-120"/>
              </a:rPr>
              <a:t>2</a:t>
            </a:r>
            <a:endParaRPr lang="en-US" sz="2150" dirty="0"/>
          </a:p>
        </p:txBody>
      </p:sp>
      <p:sp>
        <p:nvSpPr>
          <p:cNvPr id="15" name="Text 13"/>
          <p:cNvSpPr/>
          <p:nvPr/>
        </p:nvSpPr>
        <p:spPr>
          <a:xfrm>
            <a:off x="4201954" y="4024432"/>
            <a:ext cx="2287072" cy="285869"/>
          </a:xfrm>
          <a:prstGeom prst="rect">
            <a:avLst/>
          </a:prstGeom>
          <a:noFill/>
          <a:ln/>
        </p:spPr>
        <p:txBody>
          <a:bodyPr wrap="none" lIns="0" tIns="0" rIns="0" bIns="0" rtlCol="0" anchor="t"/>
          <a:lstStyle/>
          <a:p>
            <a:pPr marL="0" indent="0" algn="l">
              <a:lnSpc>
                <a:spcPts val="2250"/>
              </a:lnSpc>
              <a:buNone/>
            </a:pPr>
            <a:r>
              <a:rPr lang="en-US" sz="1800" dirty="0">
                <a:solidFill>
                  <a:srgbClr val="E5E0DF"/>
                </a:solidFill>
                <a:latin typeface="Poppins Light" pitchFamily="34" charset="0"/>
                <a:ea typeface="Poppins Light" pitchFamily="34" charset="-122"/>
                <a:cs typeface="Poppins Light" pitchFamily="34" charset="-120"/>
              </a:rPr>
              <a:t>Precision</a:t>
            </a:r>
            <a:endParaRPr lang="en-US" sz="1800" dirty="0"/>
          </a:p>
        </p:txBody>
      </p:sp>
      <p:sp>
        <p:nvSpPr>
          <p:cNvPr id="16" name="Text 14"/>
          <p:cNvSpPr/>
          <p:nvPr/>
        </p:nvSpPr>
        <p:spPr>
          <a:xfrm>
            <a:off x="4201954" y="4478893"/>
            <a:ext cx="2684383" cy="562689"/>
          </a:xfrm>
          <a:prstGeom prst="rect">
            <a:avLst/>
          </a:prstGeom>
          <a:noFill/>
          <a:ln/>
        </p:spPr>
        <p:txBody>
          <a:bodyPr wrap="square" lIns="0" tIns="0" rIns="0" bIns="0" rtlCol="0" anchor="t"/>
          <a:lstStyle/>
          <a:p>
            <a:pPr marL="0" indent="0" algn="l">
              <a:lnSpc>
                <a:spcPts val="2200"/>
              </a:lnSpc>
              <a:buNone/>
            </a:pPr>
            <a:r>
              <a:rPr lang="en-US" sz="1400" b="1" dirty="0">
                <a:solidFill>
                  <a:srgbClr val="E5E0DF"/>
                </a:solidFill>
                <a:latin typeface="Roboto Light" pitchFamily="34" charset="0"/>
                <a:ea typeface="Roboto Light" pitchFamily="34" charset="-122"/>
                <a:cs typeface="Roboto Light" pitchFamily="34" charset="-120"/>
              </a:rPr>
              <a:t>65%</a:t>
            </a:r>
            <a:r>
              <a:rPr lang="en-US" sz="1400" dirty="0">
                <a:solidFill>
                  <a:srgbClr val="E5E0DF"/>
                </a:solidFill>
                <a:latin typeface="Roboto Light" pitchFamily="34" charset="0"/>
                <a:ea typeface="Roboto Light" pitchFamily="34" charset="-122"/>
                <a:cs typeface="Roboto Light" pitchFamily="34" charset="-120"/>
              </a:rPr>
              <a:t> — Moderate reliability in positive predictions</a:t>
            </a:r>
            <a:endParaRPr lang="en-US" sz="1400" dirty="0"/>
          </a:p>
        </p:txBody>
      </p:sp>
      <p:sp>
        <p:nvSpPr>
          <p:cNvPr id="17" name="Shape 15"/>
          <p:cNvSpPr/>
          <p:nvPr/>
        </p:nvSpPr>
        <p:spPr>
          <a:xfrm>
            <a:off x="731758" y="5415915"/>
            <a:ext cx="3095863" cy="1963222"/>
          </a:xfrm>
          <a:prstGeom prst="roundRect">
            <a:avLst>
              <a:gd name="adj" fmla="val 3914"/>
            </a:avLst>
          </a:prstGeom>
          <a:solidFill>
            <a:srgbClr val="050505"/>
          </a:solidFill>
          <a:ln w="22860">
            <a:solidFill>
              <a:srgbClr val="56565B"/>
            </a:solidFill>
            <a:prstDash val="solid"/>
          </a:ln>
        </p:spPr>
      </p:sp>
      <p:sp>
        <p:nvSpPr>
          <p:cNvPr id="18" name="Shape 16"/>
          <p:cNvSpPr/>
          <p:nvPr/>
        </p:nvSpPr>
        <p:spPr>
          <a:xfrm>
            <a:off x="754618" y="5438775"/>
            <a:ext cx="3050143" cy="548878"/>
          </a:xfrm>
          <a:prstGeom prst="roundRect">
            <a:avLst>
              <a:gd name="adj" fmla="val 9003"/>
            </a:avLst>
          </a:prstGeom>
          <a:solidFill>
            <a:srgbClr val="3D3D42"/>
          </a:solidFill>
          <a:ln/>
        </p:spPr>
      </p:sp>
      <p:sp>
        <p:nvSpPr>
          <p:cNvPr id="19" name="Text 17"/>
          <p:cNvSpPr/>
          <p:nvPr/>
        </p:nvSpPr>
        <p:spPr>
          <a:xfrm>
            <a:off x="2142411" y="5537835"/>
            <a:ext cx="274439" cy="343019"/>
          </a:xfrm>
          <a:prstGeom prst="rect">
            <a:avLst/>
          </a:prstGeom>
          <a:noFill/>
          <a:ln/>
        </p:spPr>
        <p:txBody>
          <a:bodyPr wrap="none" lIns="0" tIns="0" rIns="0" bIns="0" rtlCol="0" anchor="t"/>
          <a:lstStyle/>
          <a:p>
            <a:pPr marL="0" indent="0" algn="l">
              <a:lnSpc>
                <a:spcPts val="2150"/>
              </a:lnSpc>
              <a:buNone/>
            </a:pPr>
            <a:r>
              <a:rPr lang="en-US" sz="2150" dirty="0">
                <a:solidFill>
                  <a:srgbClr val="E5E0DF"/>
                </a:solidFill>
                <a:latin typeface="Poppins Light" pitchFamily="34" charset="0"/>
                <a:ea typeface="Poppins Light" pitchFamily="34" charset="-122"/>
                <a:cs typeface="Poppins Light" pitchFamily="34" charset="-120"/>
              </a:rPr>
              <a:t>3</a:t>
            </a:r>
            <a:endParaRPr lang="en-US" sz="2150" dirty="0"/>
          </a:p>
        </p:txBody>
      </p:sp>
      <p:sp>
        <p:nvSpPr>
          <p:cNvPr id="20" name="Text 18"/>
          <p:cNvSpPr/>
          <p:nvPr/>
        </p:nvSpPr>
        <p:spPr>
          <a:xfrm>
            <a:off x="937498" y="6156246"/>
            <a:ext cx="2287072" cy="285869"/>
          </a:xfrm>
          <a:prstGeom prst="rect">
            <a:avLst/>
          </a:prstGeom>
          <a:noFill/>
          <a:ln/>
        </p:spPr>
        <p:txBody>
          <a:bodyPr wrap="none" lIns="0" tIns="0" rIns="0" bIns="0" rtlCol="0" anchor="t"/>
          <a:lstStyle/>
          <a:p>
            <a:pPr marL="0" indent="0" algn="l">
              <a:lnSpc>
                <a:spcPts val="2250"/>
              </a:lnSpc>
              <a:buNone/>
            </a:pPr>
            <a:r>
              <a:rPr lang="en-US" sz="1800" dirty="0">
                <a:solidFill>
                  <a:srgbClr val="E5E0DF"/>
                </a:solidFill>
                <a:latin typeface="Poppins Light" pitchFamily="34" charset="0"/>
                <a:ea typeface="Poppins Light" pitchFamily="34" charset="-122"/>
                <a:cs typeface="Poppins Light" pitchFamily="34" charset="-120"/>
              </a:rPr>
              <a:t>Recall</a:t>
            </a:r>
            <a:endParaRPr lang="en-US" sz="1800" dirty="0"/>
          </a:p>
        </p:txBody>
      </p:sp>
      <p:sp>
        <p:nvSpPr>
          <p:cNvPr id="21" name="Text 19"/>
          <p:cNvSpPr/>
          <p:nvPr/>
        </p:nvSpPr>
        <p:spPr>
          <a:xfrm>
            <a:off x="937498" y="6610707"/>
            <a:ext cx="2684383" cy="562689"/>
          </a:xfrm>
          <a:prstGeom prst="rect">
            <a:avLst/>
          </a:prstGeom>
          <a:noFill/>
          <a:ln/>
        </p:spPr>
        <p:txBody>
          <a:bodyPr wrap="square" lIns="0" tIns="0" rIns="0" bIns="0" rtlCol="0" anchor="t"/>
          <a:lstStyle/>
          <a:p>
            <a:pPr marL="0" indent="0" algn="l">
              <a:lnSpc>
                <a:spcPts val="2200"/>
              </a:lnSpc>
              <a:buNone/>
            </a:pPr>
            <a:r>
              <a:rPr lang="en-US" sz="1400" b="1" dirty="0">
                <a:solidFill>
                  <a:srgbClr val="E5E0DF"/>
                </a:solidFill>
                <a:latin typeface="Roboto Light" pitchFamily="34" charset="0"/>
                <a:ea typeface="Roboto Light" pitchFamily="34" charset="-122"/>
                <a:cs typeface="Roboto Light" pitchFamily="34" charset="-120"/>
              </a:rPr>
              <a:t>55%</a:t>
            </a:r>
            <a:r>
              <a:rPr lang="en-US" sz="1400" dirty="0">
                <a:solidFill>
                  <a:srgbClr val="E5E0DF"/>
                </a:solidFill>
                <a:latin typeface="Roboto Light" pitchFamily="34" charset="0"/>
                <a:ea typeface="Roboto Light" pitchFamily="34" charset="-122"/>
                <a:cs typeface="Roboto Light" pitchFamily="34" charset="-120"/>
              </a:rPr>
              <a:t> — </a:t>
            </a:r>
            <a:r>
              <a:rPr lang="en-US" sz="1400" dirty="0">
                <a:solidFill>
                  <a:srgbClr val="000000"/>
                </a:solidFill>
                <a:latin typeface="Roboto Light" pitchFamily="34" charset="0"/>
                <a:ea typeface="Roboto Light" pitchFamily="34" charset="-122"/>
                <a:cs typeface="Roboto Light" pitchFamily="34" charset="-120"/>
              </a:rPr>
              <a:t>⚠️</a:t>
            </a:r>
            <a:r>
              <a:rPr lang="en-US" sz="1400" dirty="0">
                <a:solidFill>
                  <a:srgbClr val="E5E0DF"/>
                </a:solidFill>
                <a:latin typeface="Roboto Light" pitchFamily="34" charset="0"/>
                <a:ea typeface="Roboto Light" pitchFamily="34" charset="-122"/>
                <a:cs typeface="Roboto Light" pitchFamily="34" charset="-120"/>
              </a:rPr>
              <a:t> Critical gap: too many churners missed</a:t>
            </a:r>
            <a:endParaRPr lang="en-US" sz="1400" dirty="0"/>
          </a:p>
        </p:txBody>
      </p:sp>
      <p:sp>
        <p:nvSpPr>
          <p:cNvPr id="22" name="Shape 20"/>
          <p:cNvSpPr/>
          <p:nvPr/>
        </p:nvSpPr>
        <p:spPr>
          <a:xfrm>
            <a:off x="3996214" y="5415915"/>
            <a:ext cx="3095863" cy="1963222"/>
          </a:xfrm>
          <a:prstGeom prst="roundRect">
            <a:avLst>
              <a:gd name="adj" fmla="val 3914"/>
            </a:avLst>
          </a:prstGeom>
          <a:solidFill>
            <a:srgbClr val="050505"/>
          </a:solidFill>
          <a:ln w="22860">
            <a:solidFill>
              <a:srgbClr val="56565B"/>
            </a:solidFill>
            <a:prstDash val="solid"/>
          </a:ln>
        </p:spPr>
      </p:sp>
      <p:sp>
        <p:nvSpPr>
          <p:cNvPr id="23" name="Shape 21"/>
          <p:cNvSpPr/>
          <p:nvPr/>
        </p:nvSpPr>
        <p:spPr>
          <a:xfrm>
            <a:off x="4019074" y="5438775"/>
            <a:ext cx="3050143" cy="548878"/>
          </a:xfrm>
          <a:prstGeom prst="roundRect">
            <a:avLst>
              <a:gd name="adj" fmla="val 9003"/>
            </a:avLst>
          </a:prstGeom>
          <a:solidFill>
            <a:srgbClr val="3D3D42"/>
          </a:solidFill>
          <a:ln/>
        </p:spPr>
      </p:sp>
      <p:sp>
        <p:nvSpPr>
          <p:cNvPr id="24" name="Text 22"/>
          <p:cNvSpPr/>
          <p:nvPr/>
        </p:nvSpPr>
        <p:spPr>
          <a:xfrm>
            <a:off x="5406866" y="5537835"/>
            <a:ext cx="274439" cy="343019"/>
          </a:xfrm>
          <a:prstGeom prst="rect">
            <a:avLst/>
          </a:prstGeom>
          <a:noFill/>
          <a:ln/>
        </p:spPr>
        <p:txBody>
          <a:bodyPr wrap="none" lIns="0" tIns="0" rIns="0" bIns="0" rtlCol="0" anchor="t"/>
          <a:lstStyle/>
          <a:p>
            <a:pPr marL="0" indent="0" algn="l">
              <a:lnSpc>
                <a:spcPts val="2150"/>
              </a:lnSpc>
              <a:buNone/>
            </a:pPr>
            <a:r>
              <a:rPr lang="en-US" sz="2150" dirty="0">
                <a:solidFill>
                  <a:srgbClr val="E5E0DF"/>
                </a:solidFill>
                <a:latin typeface="Poppins Light" pitchFamily="34" charset="0"/>
                <a:ea typeface="Poppins Light" pitchFamily="34" charset="-122"/>
                <a:cs typeface="Poppins Light" pitchFamily="34" charset="-120"/>
              </a:rPr>
              <a:t>4</a:t>
            </a:r>
            <a:endParaRPr lang="en-US" sz="2150" dirty="0"/>
          </a:p>
        </p:txBody>
      </p:sp>
      <p:sp>
        <p:nvSpPr>
          <p:cNvPr id="25" name="Text 23"/>
          <p:cNvSpPr/>
          <p:nvPr/>
        </p:nvSpPr>
        <p:spPr>
          <a:xfrm>
            <a:off x="4201954" y="6156246"/>
            <a:ext cx="2287072" cy="285869"/>
          </a:xfrm>
          <a:prstGeom prst="rect">
            <a:avLst/>
          </a:prstGeom>
          <a:noFill/>
          <a:ln/>
        </p:spPr>
        <p:txBody>
          <a:bodyPr wrap="none" lIns="0" tIns="0" rIns="0" bIns="0" rtlCol="0" anchor="t"/>
          <a:lstStyle/>
          <a:p>
            <a:pPr marL="0" indent="0" algn="l">
              <a:lnSpc>
                <a:spcPts val="2250"/>
              </a:lnSpc>
              <a:buNone/>
            </a:pPr>
            <a:r>
              <a:rPr lang="en-US" sz="1800" dirty="0">
                <a:solidFill>
                  <a:srgbClr val="E5E0DF"/>
                </a:solidFill>
                <a:latin typeface="Poppins Light" pitchFamily="34" charset="0"/>
                <a:ea typeface="Poppins Light" pitchFamily="34" charset="-122"/>
                <a:cs typeface="Poppins Light" pitchFamily="34" charset="-120"/>
              </a:rPr>
              <a:t>F1-Score</a:t>
            </a:r>
            <a:endParaRPr lang="en-US" sz="1800" dirty="0"/>
          </a:p>
        </p:txBody>
      </p:sp>
      <p:sp>
        <p:nvSpPr>
          <p:cNvPr id="26" name="Text 24"/>
          <p:cNvSpPr/>
          <p:nvPr/>
        </p:nvSpPr>
        <p:spPr>
          <a:xfrm>
            <a:off x="4201954" y="6610707"/>
            <a:ext cx="2684383" cy="562689"/>
          </a:xfrm>
          <a:prstGeom prst="rect">
            <a:avLst/>
          </a:prstGeom>
          <a:noFill/>
          <a:ln/>
        </p:spPr>
        <p:txBody>
          <a:bodyPr wrap="square" lIns="0" tIns="0" rIns="0" bIns="0" rtlCol="0" anchor="t"/>
          <a:lstStyle/>
          <a:p>
            <a:pPr marL="0" indent="0" algn="l">
              <a:lnSpc>
                <a:spcPts val="2200"/>
              </a:lnSpc>
              <a:buNone/>
            </a:pPr>
            <a:r>
              <a:rPr lang="en-US" sz="1400" b="1" dirty="0">
                <a:solidFill>
                  <a:srgbClr val="E5E0DF"/>
                </a:solidFill>
                <a:latin typeface="Roboto Light" pitchFamily="34" charset="0"/>
                <a:ea typeface="Roboto Light" pitchFamily="34" charset="-122"/>
                <a:cs typeface="Roboto Light" pitchFamily="34" charset="-120"/>
              </a:rPr>
              <a:t>60%</a:t>
            </a:r>
            <a:r>
              <a:rPr lang="en-US" sz="1400" dirty="0">
                <a:solidFill>
                  <a:srgbClr val="E5E0DF"/>
                </a:solidFill>
                <a:latin typeface="Roboto Light" pitchFamily="34" charset="0"/>
                <a:ea typeface="Roboto Light" pitchFamily="34" charset="-122"/>
                <a:cs typeface="Roboto Light" pitchFamily="34" charset="-120"/>
              </a:rPr>
              <a:t> — Reflects the recall weakness</a:t>
            </a:r>
            <a:endParaRPr lang="en-US" sz="1400" dirty="0"/>
          </a:p>
        </p:txBody>
      </p:sp>
      <p:sp>
        <p:nvSpPr>
          <p:cNvPr id="27" name="Shape 25"/>
          <p:cNvSpPr/>
          <p:nvPr/>
        </p:nvSpPr>
        <p:spPr>
          <a:xfrm>
            <a:off x="7545943" y="2829639"/>
            <a:ext cx="6360319" cy="1864281"/>
          </a:xfrm>
          <a:prstGeom prst="roundRect">
            <a:avLst>
              <a:gd name="adj" fmla="val 4122"/>
            </a:avLst>
          </a:prstGeom>
          <a:solidFill>
            <a:srgbClr val="4B3F02"/>
          </a:solidFill>
          <a:ln/>
        </p:spPr>
      </p:sp>
      <p:pic>
        <p:nvPicPr>
          <p:cNvPr id="28" name="Image 0" descr="preencoded.png"/>
          <p:cNvPicPr>
            <a:picLocks noChangeAspect="1"/>
          </p:cNvPicPr>
          <p:nvPr/>
        </p:nvPicPr>
        <p:blipFill>
          <a:blip r:embed="rId3"/>
          <a:stretch>
            <a:fillRect/>
          </a:stretch>
        </p:blipFill>
        <p:spPr>
          <a:xfrm>
            <a:off x="7728823" y="3096339"/>
            <a:ext cx="228600" cy="182880"/>
          </a:xfrm>
          <a:prstGeom prst="rect">
            <a:avLst/>
          </a:prstGeom>
        </p:spPr>
      </p:pic>
      <p:sp>
        <p:nvSpPr>
          <p:cNvPr id="29" name="Text 26"/>
          <p:cNvSpPr/>
          <p:nvPr/>
        </p:nvSpPr>
        <p:spPr>
          <a:xfrm>
            <a:off x="8140303" y="3043952"/>
            <a:ext cx="5583079" cy="1406723"/>
          </a:xfrm>
          <a:prstGeom prst="rect">
            <a:avLst/>
          </a:prstGeom>
          <a:noFill/>
          <a:ln/>
        </p:spPr>
        <p:txBody>
          <a:bodyPr wrap="square" lIns="0" tIns="0" rIns="0" bIns="0" rtlCol="0" anchor="t"/>
          <a:lstStyle/>
          <a:p>
            <a:pPr marL="0" indent="0" algn="l">
              <a:lnSpc>
                <a:spcPts val="2200"/>
              </a:lnSpc>
              <a:buNone/>
            </a:pPr>
            <a:r>
              <a:rPr lang="en-US" sz="1400" b="1" dirty="0">
                <a:solidFill>
                  <a:srgbClr val="FFFFFF"/>
                </a:solidFill>
                <a:latin typeface="Roboto Light" pitchFamily="34" charset="0"/>
                <a:ea typeface="Roboto Light" pitchFamily="34" charset="-122"/>
                <a:cs typeface="Roboto Light" pitchFamily="34" charset="-120"/>
              </a:rPr>
              <a:t>Core Limitation</a:t>
            </a:r>
            <a:r>
              <a:rPr lang="en-US" sz="1400" dirty="0">
                <a:solidFill>
                  <a:srgbClr val="FFFFFF"/>
                </a:solidFill>
                <a:latin typeface="Roboto Light" pitchFamily="34" charset="0"/>
                <a:ea typeface="Roboto Light" pitchFamily="34" charset="-122"/>
                <a:cs typeface="Roboto Light" pitchFamily="34" charset="-120"/>
              </a:rPr>
              <a:t> A recall of 55% means </a:t>
            </a:r>
            <a:r>
              <a:rPr lang="en-US" sz="1400" b="1" dirty="0">
                <a:solidFill>
                  <a:srgbClr val="FFFFFF"/>
                </a:solidFill>
                <a:latin typeface="Roboto Light" pitchFamily="34" charset="0"/>
                <a:ea typeface="Roboto Light" pitchFamily="34" charset="-122"/>
                <a:cs typeface="Roboto Light" pitchFamily="34" charset="-120"/>
              </a:rPr>
              <a:t>45% of churners go undetected</a:t>
            </a:r>
            <a:r>
              <a:rPr lang="en-US" sz="1400" dirty="0">
                <a:solidFill>
                  <a:srgbClr val="FFFFFF"/>
                </a:solidFill>
                <a:latin typeface="Roboto Light" pitchFamily="34" charset="0"/>
                <a:ea typeface="Roboto Light" pitchFamily="34" charset="-122"/>
                <a:cs typeface="Roboto Light" pitchFamily="34" charset="-120"/>
              </a:rPr>
              <a:t>. In a base of 180,000 churning customers, that's over 80,000 missed retention opportunities annually. This is the problem the improved model must solve.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793790" y="911423"/>
            <a:ext cx="1997512" cy="373142"/>
          </a:xfrm>
          <a:prstGeom prst="roundRect">
            <a:avLst>
              <a:gd name="adj" fmla="val 17872"/>
            </a:avLst>
          </a:prstGeom>
          <a:solidFill>
            <a:srgbClr val="252528"/>
          </a:solidFill>
          <a:ln/>
        </p:spPr>
      </p:sp>
      <p:sp>
        <p:nvSpPr>
          <p:cNvPr id="3" name="Text 1"/>
          <p:cNvSpPr/>
          <p:nvPr/>
        </p:nvSpPr>
        <p:spPr>
          <a:xfrm>
            <a:off x="912852" y="970955"/>
            <a:ext cx="1759387" cy="254079"/>
          </a:xfrm>
          <a:prstGeom prst="rect">
            <a:avLst/>
          </a:prstGeom>
          <a:noFill/>
          <a:ln/>
        </p:spPr>
        <p:txBody>
          <a:bodyPr wrap="none" lIns="0" tIns="0" rIns="0" bIns="0" rtlCol="0" anchor="t"/>
          <a:lstStyle/>
          <a:p>
            <a:pPr marL="0" indent="0" algn="l">
              <a:lnSpc>
                <a:spcPts val="2000"/>
              </a:lnSpc>
              <a:buNone/>
            </a:pPr>
            <a:r>
              <a:rPr lang="en-US" sz="1250" dirty="0">
                <a:solidFill>
                  <a:srgbClr val="E5E0DF"/>
                </a:solidFill>
                <a:latin typeface="Roboto Light" pitchFamily="34" charset="0"/>
                <a:ea typeface="Roboto Light" pitchFamily="34" charset="-122"/>
                <a:cs typeface="Roboto Light" pitchFamily="34" charset="-120"/>
              </a:rPr>
              <a:t>MODEL IMPROVEMENTS</a:t>
            </a:r>
            <a:endParaRPr lang="en-US" sz="1250" dirty="0"/>
          </a:p>
        </p:txBody>
      </p:sp>
      <p:sp>
        <p:nvSpPr>
          <p:cNvPr id="4" name="Text 2"/>
          <p:cNvSpPr/>
          <p:nvPr/>
        </p:nvSpPr>
        <p:spPr>
          <a:xfrm>
            <a:off x="793790" y="1363861"/>
            <a:ext cx="6567845" cy="620078"/>
          </a:xfrm>
          <a:prstGeom prst="rect">
            <a:avLst/>
          </a:prstGeom>
          <a:noFill/>
          <a:ln/>
        </p:spPr>
        <p:txBody>
          <a:bodyPr wrap="none" lIns="0" tIns="0" rIns="0" bIns="0" rtlCol="0" anchor="t"/>
          <a:lstStyle/>
          <a:p>
            <a:pPr marL="0" indent="0" algn="l">
              <a:lnSpc>
                <a:spcPts val="4850"/>
              </a:lnSpc>
              <a:buNone/>
            </a:pPr>
            <a:r>
              <a:rPr lang="en-US" sz="3900" dirty="0">
                <a:solidFill>
                  <a:srgbClr val="F2F2F3"/>
                </a:solidFill>
                <a:latin typeface="Poppins Light" pitchFamily="34" charset="0"/>
                <a:ea typeface="Poppins Light" pitchFamily="34" charset="-122"/>
                <a:cs typeface="Poppins Light" pitchFamily="34" charset="-120"/>
              </a:rPr>
              <a:t>Engineering a Better Model</a:t>
            </a:r>
            <a:endParaRPr lang="en-US" sz="3900" dirty="0"/>
          </a:p>
        </p:txBody>
      </p:sp>
      <p:sp>
        <p:nvSpPr>
          <p:cNvPr id="5" name="Text 3"/>
          <p:cNvSpPr/>
          <p:nvPr/>
        </p:nvSpPr>
        <p:spPr>
          <a:xfrm>
            <a:off x="793790" y="2281595"/>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Improving recall required a systematic, multi-layered approach. The team addressed root causes at each stage of the ML pipeline — from data representation to decision boundary optimization — ensuring the final model was genuinely fit for a business-critical retention use case.</a:t>
            </a:r>
            <a:endParaRPr lang="en-US" sz="1550" dirty="0"/>
          </a:p>
        </p:txBody>
      </p:sp>
      <p:sp>
        <p:nvSpPr>
          <p:cNvPr id="6" name="Text 4"/>
          <p:cNvSpPr/>
          <p:nvPr/>
        </p:nvSpPr>
        <p:spPr>
          <a:xfrm>
            <a:off x="793790" y="3139916"/>
            <a:ext cx="396835" cy="248007"/>
          </a:xfrm>
          <a:prstGeom prst="rect">
            <a:avLst/>
          </a:prstGeom>
          <a:noFill/>
          <a:ln/>
        </p:spPr>
        <p:txBody>
          <a:bodyPr wrap="none" lIns="0" tIns="0" rIns="0" bIns="0" rtlCol="0" anchor="t"/>
          <a:lstStyle/>
          <a:p>
            <a:pPr marL="0" indent="0" algn="l">
              <a:lnSpc>
                <a:spcPts val="2500"/>
              </a:lnSpc>
              <a:buNone/>
            </a:pPr>
            <a:r>
              <a:rPr lang="en-US" sz="1550" dirty="0">
                <a:solidFill>
                  <a:srgbClr val="E5E0DF"/>
                </a:solidFill>
                <a:latin typeface="Poppins Light" pitchFamily="34" charset="0"/>
                <a:ea typeface="Poppins Light" pitchFamily="34" charset="-122"/>
                <a:cs typeface="Poppins Light" pitchFamily="34" charset="-120"/>
              </a:rPr>
              <a:t>01</a:t>
            </a:r>
            <a:endParaRPr lang="en-US" sz="1550" dirty="0"/>
          </a:p>
        </p:txBody>
      </p:sp>
      <p:sp>
        <p:nvSpPr>
          <p:cNvPr id="7" name="Shape 5"/>
          <p:cNvSpPr/>
          <p:nvPr/>
        </p:nvSpPr>
        <p:spPr>
          <a:xfrm>
            <a:off x="793790" y="3454241"/>
            <a:ext cx="6422231" cy="22860"/>
          </a:xfrm>
          <a:prstGeom prst="rect">
            <a:avLst/>
          </a:prstGeom>
          <a:solidFill>
            <a:srgbClr val="F2F2F3"/>
          </a:solidFill>
          <a:ln/>
        </p:spPr>
      </p:sp>
      <p:sp>
        <p:nvSpPr>
          <p:cNvPr id="8" name="Text 6"/>
          <p:cNvSpPr/>
          <p:nvPr/>
        </p:nvSpPr>
        <p:spPr>
          <a:xfrm>
            <a:off x="793790" y="3599140"/>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E5E0DF"/>
                </a:solidFill>
                <a:latin typeface="Poppins Light" pitchFamily="34" charset="0"/>
                <a:ea typeface="Poppins Light" pitchFamily="34" charset="-122"/>
                <a:cs typeface="Poppins Light" pitchFamily="34" charset="-120"/>
              </a:rPr>
              <a:t>Feature Engineering</a:t>
            </a:r>
            <a:endParaRPr lang="en-US" sz="1950" dirty="0"/>
          </a:p>
        </p:txBody>
      </p:sp>
      <p:sp>
        <p:nvSpPr>
          <p:cNvPr id="9" name="Text 7"/>
          <p:cNvSpPr/>
          <p:nvPr/>
        </p:nvSpPr>
        <p:spPr>
          <a:xfrm>
            <a:off x="793790" y="4028361"/>
            <a:ext cx="6422231" cy="95261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New behavioral indicators were constructed — such as charge-per-tenure ratios and service bundling scores — to capture nuanced churn signals not visible in raw features.</a:t>
            </a:r>
            <a:endParaRPr lang="en-US" sz="1550" dirty="0"/>
          </a:p>
        </p:txBody>
      </p:sp>
      <p:sp>
        <p:nvSpPr>
          <p:cNvPr id="10" name="Text 8"/>
          <p:cNvSpPr/>
          <p:nvPr/>
        </p:nvSpPr>
        <p:spPr>
          <a:xfrm>
            <a:off x="7414379" y="3139916"/>
            <a:ext cx="396835" cy="248007"/>
          </a:xfrm>
          <a:prstGeom prst="rect">
            <a:avLst/>
          </a:prstGeom>
          <a:noFill/>
          <a:ln/>
        </p:spPr>
        <p:txBody>
          <a:bodyPr wrap="none" lIns="0" tIns="0" rIns="0" bIns="0" rtlCol="0" anchor="t"/>
          <a:lstStyle/>
          <a:p>
            <a:pPr marL="0" indent="0" algn="l">
              <a:lnSpc>
                <a:spcPts val="2500"/>
              </a:lnSpc>
              <a:buNone/>
            </a:pPr>
            <a:r>
              <a:rPr lang="en-US" sz="1550" dirty="0">
                <a:solidFill>
                  <a:srgbClr val="E5E0DF"/>
                </a:solidFill>
                <a:latin typeface="Poppins Light" pitchFamily="34" charset="0"/>
                <a:ea typeface="Poppins Light" pitchFamily="34" charset="-122"/>
                <a:cs typeface="Poppins Light" pitchFamily="34" charset="-120"/>
              </a:rPr>
              <a:t>02</a:t>
            </a:r>
            <a:endParaRPr lang="en-US" sz="1550" dirty="0"/>
          </a:p>
        </p:txBody>
      </p:sp>
      <p:sp>
        <p:nvSpPr>
          <p:cNvPr id="11" name="Shape 9"/>
          <p:cNvSpPr/>
          <p:nvPr/>
        </p:nvSpPr>
        <p:spPr>
          <a:xfrm>
            <a:off x="7414379" y="3454241"/>
            <a:ext cx="6422231" cy="22860"/>
          </a:xfrm>
          <a:prstGeom prst="rect">
            <a:avLst/>
          </a:prstGeom>
          <a:solidFill>
            <a:srgbClr val="F2F2F3"/>
          </a:solidFill>
          <a:ln/>
        </p:spPr>
      </p:sp>
      <p:sp>
        <p:nvSpPr>
          <p:cNvPr id="12" name="Text 10"/>
          <p:cNvSpPr/>
          <p:nvPr/>
        </p:nvSpPr>
        <p:spPr>
          <a:xfrm>
            <a:off x="7414379" y="3599140"/>
            <a:ext cx="3235047" cy="310158"/>
          </a:xfrm>
          <a:prstGeom prst="rect">
            <a:avLst/>
          </a:prstGeom>
          <a:noFill/>
          <a:ln/>
        </p:spPr>
        <p:txBody>
          <a:bodyPr wrap="none" lIns="0" tIns="0" rIns="0" bIns="0" rtlCol="0" anchor="t"/>
          <a:lstStyle/>
          <a:p>
            <a:pPr marL="0" indent="0" algn="l">
              <a:lnSpc>
                <a:spcPts val="2400"/>
              </a:lnSpc>
              <a:buNone/>
            </a:pPr>
            <a:r>
              <a:rPr lang="en-US" sz="1950" dirty="0">
                <a:solidFill>
                  <a:srgbClr val="E5E0DF"/>
                </a:solidFill>
                <a:latin typeface="Poppins Light" pitchFamily="34" charset="0"/>
                <a:ea typeface="Poppins Light" pitchFamily="34" charset="-122"/>
                <a:cs typeface="Poppins Light" pitchFamily="34" charset="-120"/>
              </a:rPr>
              <a:t>Class Imbalance Handling</a:t>
            </a:r>
            <a:endParaRPr lang="en-US" sz="1950" dirty="0"/>
          </a:p>
        </p:txBody>
      </p:sp>
      <p:sp>
        <p:nvSpPr>
          <p:cNvPr id="13" name="Text 11"/>
          <p:cNvSpPr/>
          <p:nvPr/>
        </p:nvSpPr>
        <p:spPr>
          <a:xfrm>
            <a:off x="7414379" y="4028361"/>
            <a:ext cx="6422231" cy="95261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Applied SMOTE (Synthetic Minority Oversampling Technique) and class weighting to correct the imbalance between churn and non-churn records in the training data.</a:t>
            </a:r>
            <a:endParaRPr lang="en-US" sz="1550" dirty="0"/>
          </a:p>
        </p:txBody>
      </p:sp>
      <p:sp>
        <p:nvSpPr>
          <p:cNvPr id="14" name="Text 12"/>
          <p:cNvSpPr/>
          <p:nvPr/>
        </p:nvSpPr>
        <p:spPr>
          <a:xfrm>
            <a:off x="793790" y="5328166"/>
            <a:ext cx="396835" cy="248007"/>
          </a:xfrm>
          <a:prstGeom prst="rect">
            <a:avLst/>
          </a:prstGeom>
          <a:noFill/>
          <a:ln/>
        </p:spPr>
        <p:txBody>
          <a:bodyPr wrap="none" lIns="0" tIns="0" rIns="0" bIns="0" rtlCol="0" anchor="t"/>
          <a:lstStyle/>
          <a:p>
            <a:pPr marL="0" indent="0" algn="l">
              <a:lnSpc>
                <a:spcPts val="2500"/>
              </a:lnSpc>
              <a:buNone/>
            </a:pPr>
            <a:r>
              <a:rPr lang="en-US" sz="1550" dirty="0">
                <a:solidFill>
                  <a:srgbClr val="E5E0DF"/>
                </a:solidFill>
                <a:latin typeface="Poppins Light" pitchFamily="34" charset="0"/>
                <a:ea typeface="Poppins Light" pitchFamily="34" charset="-122"/>
                <a:cs typeface="Poppins Light" pitchFamily="34" charset="-120"/>
              </a:rPr>
              <a:t>03</a:t>
            </a:r>
            <a:endParaRPr lang="en-US" sz="1550" dirty="0"/>
          </a:p>
        </p:txBody>
      </p:sp>
      <p:sp>
        <p:nvSpPr>
          <p:cNvPr id="15" name="Shape 13"/>
          <p:cNvSpPr/>
          <p:nvPr/>
        </p:nvSpPr>
        <p:spPr>
          <a:xfrm>
            <a:off x="793790" y="5642491"/>
            <a:ext cx="6422231" cy="22860"/>
          </a:xfrm>
          <a:prstGeom prst="rect">
            <a:avLst/>
          </a:prstGeom>
          <a:solidFill>
            <a:srgbClr val="F2F2F3"/>
          </a:solidFill>
          <a:ln/>
        </p:spPr>
      </p:sp>
      <p:sp>
        <p:nvSpPr>
          <p:cNvPr id="16" name="Text 14"/>
          <p:cNvSpPr/>
          <p:nvPr/>
        </p:nvSpPr>
        <p:spPr>
          <a:xfrm>
            <a:off x="793790" y="5787390"/>
            <a:ext cx="2781181" cy="310158"/>
          </a:xfrm>
          <a:prstGeom prst="rect">
            <a:avLst/>
          </a:prstGeom>
          <a:noFill/>
          <a:ln/>
        </p:spPr>
        <p:txBody>
          <a:bodyPr wrap="none" lIns="0" tIns="0" rIns="0" bIns="0" rtlCol="0" anchor="t"/>
          <a:lstStyle/>
          <a:p>
            <a:pPr marL="0" indent="0" algn="l">
              <a:lnSpc>
                <a:spcPts val="2400"/>
              </a:lnSpc>
              <a:buNone/>
            </a:pPr>
            <a:r>
              <a:rPr lang="en-US" sz="1950" dirty="0">
                <a:solidFill>
                  <a:srgbClr val="E5E0DF"/>
                </a:solidFill>
                <a:latin typeface="Poppins Light" pitchFamily="34" charset="0"/>
                <a:ea typeface="Poppins Light" pitchFamily="34" charset="-122"/>
                <a:cs typeface="Poppins Light" pitchFamily="34" charset="-120"/>
              </a:rPr>
              <a:t>Multi-Model Evaluation</a:t>
            </a:r>
            <a:endParaRPr lang="en-US" sz="1950" dirty="0"/>
          </a:p>
        </p:txBody>
      </p:sp>
      <p:sp>
        <p:nvSpPr>
          <p:cNvPr id="17" name="Text 15"/>
          <p:cNvSpPr/>
          <p:nvPr/>
        </p:nvSpPr>
        <p:spPr>
          <a:xfrm>
            <a:off x="793790" y="6216610"/>
            <a:ext cx="6422231" cy="95261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Multiple algorithms were evaluated — including Logistic Regression, Random Forest, XGBoost, and Gradient Boosting — using recall, F1-score, and ROC-AUC as selection criteria.</a:t>
            </a:r>
            <a:endParaRPr lang="en-US" sz="1550" dirty="0"/>
          </a:p>
        </p:txBody>
      </p:sp>
      <p:sp>
        <p:nvSpPr>
          <p:cNvPr id="18" name="Text 16"/>
          <p:cNvSpPr/>
          <p:nvPr/>
        </p:nvSpPr>
        <p:spPr>
          <a:xfrm>
            <a:off x="7414379" y="5328166"/>
            <a:ext cx="396835" cy="248007"/>
          </a:xfrm>
          <a:prstGeom prst="rect">
            <a:avLst/>
          </a:prstGeom>
          <a:noFill/>
          <a:ln/>
        </p:spPr>
        <p:txBody>
          <a:bodyPr wrap="none" lIns="0" tIns="0" rIns="0" bIns="0" rtlCol="0" anchor="t"/>
          <a:lstStyle/>
          <a:p>
            <a:pPr marL="0" indent="0" algn="l">
              <a:lnSpc>
                <a:spcPts val="2500"/>
              </a:lnSpc>
              <a:buNone/>
            </a:pPr>
            <a:r>
              <a:rPr lang="en-US" sz="1550" dirty="0">
                <a:solidFill>
                  <a:srgbClr val="E5E0DF"/>
                </a:solidFill>
                <a:latin typeface="Poppins Light" pitchFamily="34" charset="0"/>
                <a:ea typeface="Poppins Light" pitchFamily="34" charset="-122"/>
                <a:cs typeface="Poppins Light" pitchFamily="34" charset="-120"/>
              </a:rPr>
              <a:t>04</a:t>
            </a:r>
            <a:endParaRPr lang="en-US" sz="1550" dirty="0"/>
          </a:p>
        </p:txBody>
      </p:sp>
      <p:sp>
        <p:nvSpPr>
          <p:cNvPr id="19" name="Shape 17"/>
          <p:cNvSpPr/>
          <p:nvPr/>
        </p:nvSpPr>
        <p:spPr>
          <a:xfrm>
            <a:off x="7414379" y="5642491"/>
            <a:ext cx="6422231" cy="22860"/>
          </a:xfrm>
          <a:prstGeom prst="rect">
            <a:avLst/>
          </a:prstGeom>
          <a:solidFill>
            <a:srgbClr val="F2F2F3"/>
          </a:solidFill>
          <a:ln/>
        </p:spPr>
      </p:sp>
      <p:sp>
        <p:nvSpPr>
          <p:cNvPr id="20" name="Text 18"/>
          <p:cNvSpPr/>
          <p:nvPr/>
        </p:nvSpPr>
        <p:spPr>
          <a:xfrm>
            <a:off x="7414379" y="5787390"/>
            <a:ext cx="2821186" cy="310158"/>
          </a:xfrm>
          <a:prstGeom prst="rect">
            <a:avLst/>
          </a:prstGeom>
          <a:noFill/>
          <a:ln/>
        </p:spPr>
        <p:txBody>
          <a:bodyPr wrap="none" lIns="0" tIns="0" rIns="0" bIns="0" rtlCol="0" anchor="t"/>
          <a:lstStyle/>
          <a:p>
            <a:pPr marL="0" indent="0" algn="l">
              <a:lnSpc>
                <a:spcPts val="2400"/>
              </a:lnSpc>
              <a:buNone/>
            </a:pPr>
            <a:r>
              <a:rPr lang="en-US" sz="1950" dirty="0">
                <a:solidFill>
                  <a:srgbClr val="E5E0DF"/>
                </a:solidFill>
                <a:latin typeface="Poppins Light" pitchFamily="34" charset="0"/>
                <a:ea typeface="Poppins Light" pitchFamily="34" charset="-122"/>
                <a:cs typeface="Poppins Light" pitchFamily="34" charset="-120"/>
              </a:rPr>
              <a:t>Threshold Optimization</a:t>
            </a:r>
            <a:endParaRPr lang="en-US" sz="1950" dirty="0"/>
          </a:p>
        </p:txBody>
      </p:sp>
      <p:sp>
        <p:nvSpPr>
          <p:cNvPr id="21" name="Text 19"/>
          <p:cNvSpPr/>
          <p:nvPr/>
        </p:nvSpPr>
        <p:spPr>
          <a:xfrm>
            <a:off x="7414379" y="6216610"/>
            <a:ext cx="6422231" cy="95261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Rather than using the default 0.5 decision threshold, the team tuned the probability cutoff to maximize recall while maintaining an acceptable precision trade-off.</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769025" y="538282"/>
            <a:ext cx="1189434" cy="357426"/>
          </a:xfrm>
          <a:prstGeom prst="roundRect">
            <a:avLst>
              <a:gd name="adj" fmla="val 18075"/>
            </a:avLst>
          </a:prstGeom>
          <a:solidFill>
            <a:srgbClr val="252528"/>
          </a:solidFill>
          <a:ln/>
        </p:spPr>
      </p:sp>
      <p:sp>
        <p:nvSpPr>
          <p:cNvPr id="3" name="Text 1"/>
          <p:cNvSpPr/>
          <p:nvPr/>
        </p:nvSpPr>
        <p:spPr>
          <a:xfrm>
            <a:off x="884277" y="595908"/>
            <a:ext cx="958929" cy="242173"/>
          </a:xfrm>
          <a:prstGeom prst="rect">
            <a:avLst/>
          </a:prstGeom>
          <a:noFill/>
          <a:ln/>
        </p:spPr>
        <p:txBody>
          <a:bodyPr wrap="none" lIns="0" tIns="0" rIns="0" bIns="0" rtlCol="0" anchor="t"/>
          <a:lstStyle/>
          <a:p>
            <a:pPr marL="0" indent="0" algn="l">
              <a:lnSpc>
                <a:spcPts val="1900"/>
              </a:lnSpc>
              <a:buNone/>
            </a:pPr>
            <a:r>
              <a:rPr lang="en-US" sz="1200" dirty="0">
                <a:solidFill>
                  <a:srgbClr val="E5E0DF"/>
                </a:solidFill>
                <a:latin typeface="Roboto Light" pitchFamily="34" charset="0"/>
                <a:ea typeface="Roboto Light" pitchFamily="34" charset="-122"/>
                <a:cs typeface="Roboto Light" pitchFamily="34" charset="-120"/>
              </a:rPr>
              <a:t>FINAL MODEL</a:t>
            </a:r>
            <a:endParaRPr lang="en-US" sz="1200" dirty="0"/>
          </a:p>
        </p:txBody>
      </p:sp>
      <p:sp>
        <p:nvSpPr>
          <p:cNvPr id="4" name="Text 2"/>
          <p:cNvSpPr/>
          <p:nvPr/>
        </p:nvSpPr>
        <p:spPr>
          <a:xfrm>
            <a:off x="769025" y="970121"/>
            <a:ext cx="7227689" cy="600789"/>
          </a:xfrm>
          <a:prstGeom prst="rect">
            <a:avLst/>
          </a:prstGeom>
          <a:noFill/>
          <a:ln/>
        </p:spPr>
        <p:txBody>
          <a:bodyPr wrap="none" lIns="0" tIns="0" rIns="0" bIns="0" rtlCol="0" anchor="t"/>
          <a:lstStyle/>
          <a:p>
            <a:pPr marL="0" indent="0" algn="l">
              <a:lnSpc>
                <a:spcPts val="4700"/>
              </a:lnSpc>
              <a:buNone/>
            </a:pPr>
            <a:r>
              <a:rPr lang="en-US" sz="3750" dirty="0">
                <a:solidFill>
                  <a:srgbClr val="F2F2F3"/>
                </a:solidFill>
                <a:latin typeface="Poppins Light" pitchFamily="34" charset="0"/>
                <a:ea typeface="Poppins Light" pitchFamily="34" charset="-122"/>
                <a:cs typeface="Poppins Light" pitchFamily="34" charset="-120"/>
              </a:rPr>
              <a:t>Optimized Model Performance</a:t>
            </a:r>
            <a:endParaRPr lang="en-US" sz="3750" dirty="0"/>
          </a:p>
        </p:txBody>
      </p:sp>
      <p:sp>
        <p:nvSpPr>
          <p:cNvPr id="5" name="Text 3"/>
          <p:cNvSpPr/>
          <p:nvPr/>
        </p:nvSpPr>
        <p:spPr>
          <a:xfrm>
            <a:off x="769025" y="1850231"/>
            <a:ext cx="13092351" cy="605552"/>
          </a:xfrm>
          <a:prstGeom prst="rect">
            <a:avLst/>
          </a:prstGeom>
          <a:noFill/>
          <a:ln/>
        </p:spPr>
        <p:txBody>
          <a:bodyPr wrap="square" lIns="0" tIns="0" rIns="0" bIns="0" rtlCol="0" anchor="t"/>
          <a:lstStyle/>
          <a:p>
            <a:pPr marL="0" indent="0" algn="l">
              <a:lnSpc>
                <a:spcPts val="2350"/>
              </a:lnSpc>
              <a:buNone/>
            </a:pPr>
            <a:r>
              <a:rPr lang="en-US" sz="1500" dirty="0">
                <a:solidFill>
                  <a:srgbClr val="E5E0DF"/>
                </a:solidFill>
                <a:latin typeface="Roboto Light" pitchFamily="34" charset="0"/>
                <a:ea typeface="Roboto Light" pitchFamily="34" charset="-122"/>
                <a:cs typeface="Roboto Light" pitchFamily="34" charset="-120"/>
              </a:rPr>
              <a:t>After applying all improvements, the final model — using an optimized decision threshold of </a:t>
            </a:r>
            <a:r>
              <a:rPr lang="en-US" sz="1500" b="1" dirty="0">
                <a:solidFill>
                  <a:srgbClr val="E5E0DF"/>
                </a:solidFill>
                <a:latin typeface="Roboto Light" pitchFamily="34" charset="0"/>
                <a:ea typeface="Roboto Light" pitchFamily="34" charset="-122"/>
                <a:cs typeface="Roboto Light" pitchFamily="34" charset="-120"/>
              </a:rPr>
              <a:t>0.55</a:t>
            </a:r>
            <a:r>
              <a:rPr lang="en-US" sz="1500" dirty="0">
                <a:solidFill>
                  <a:srgbClr val="E5E0DF"/>
                </a:solidFill>
                <a:latin typeface="Roboto Light" pitchFamily="34" charset="0"/>
                <a:ea typeface="Roboto Light" pitchFamily="34" charset="-122"/>
                <a:cs typeface="Roboto Light" pitchFamily="34" charset="-120"/>
              </a:rPr>
              <a:t> — delivered a significant uplift in recall while maintaining strong overall discriminative power. The +19 percentage point gain in recall is the defining business outcome of the modeling work.</a:t>
            </a:r>
            <a:endParaRPr lang="en-US" sz="1500" dirty="0"/>
          </a:p>
        </p:txBody>
      </p:sp>
      <p:sp>
        <p:nvSpPr>
          <p:cNvPr id="6" name="Shape 4"/>
          <p:cNvSpPr/>
          <p:nvPr/>
        </p:nvSpPr>
        <p:spPr>
          <a:xfrm>
            <a:off x="769025" y="2970728"/>
            <a:ext cx="5713809" cy="240268"/>
          </a:xfrm>
          <a:prstGeom prst="roundRect">
            <a:avLst>
              <a:gd name="adj" fmla="val 33610"/>
            </a:avLst>
          </a:prstGeom>
          <a:solidFill>
            <a:srgbClr val="3D3D42"/>
          </a:solidFill>
          <a:ln w="7620">
            <a:solidFill>
              <a:srgbClr val="56565B"/>
            </a:solidFill>
            <a:prstDash val="solid"/>
          </a:ln>
        </p:spPr>
      </p:sp>
      <p:sp>
        <p:nvSpPr>
          <p:cNvPr id="7" name="Shape 5"/>
          <p:cNvSpPr/>
          <p:nvPr/>
        </p:nvSpPr>
        <p:spPr>
          <a:xfrm>
            <a:off x="769025" y="2970728"/>
            <a:ext cx="4342448" cy="240268"/>
          </a:xfrm>
          <a:prstGeom prst="roundRect">
            <a:avLst>
              <a:gd name="adj" fmla="val 33610"/>
            </a:avLst>
          </a:prstGeom>
          <a:solidFill>
            <a:srgbClr val="F2F2F3"/>
          </a:solidFill>
          <a:ln/>
        </p:spPr>
      </p:sp>
      <p:sp>
        <p:nvSpPr>
          <p:cNvPr id="8" name="Text 6"/>
          <p:cNvSpPr/>
          <p:nvPr/>
        </p:nvSpPr>
        <p:spPr>
          <a:xfrm>
            <a:off x="6627019" y="2970728"/>
            <a:ext cx="453628" cy="240268"/>
          </a:xfrm>
          <a:prstGeom prst="rect">
            <a:avLst/>
          </a:prstGeom>
          <a:noFill/>
          <a:ln/>
        </p:spPr>
        <p:txBody>
          <a:bodyPr wrap="none" lIns="0" tIns="0" rIns="0" bIns="0" rtlCol="0" anchor="t"/>
          <a:lstStyle/>
          <a:p>
            <a:pPr marL="0" indent="0" algn="l">
              <a:lnSpc>
                <a:spcPts val="1850"/>
              </a:lnSpc>
              <a:buNone/>
            </a:pPr>
            <a:r>
              <a:rPr lang="en-US" sz="1850" dirty="0">
                <a:solidFill>
                  <a:srgbClr val="E5E0DF"/>
                </a:solidFill>
                <a:latin typeface="Poppins Light" pitchFamily="34" charset="0"/>
                <a:ea typeface="Poppins Light" pitchFamily="34" charset="-122"/>
                <a:cs typeface="Poppins Light" pitchFamily="34" charset="-120"/>
              </a:rPr>
              <a:t>76%</a:t>
            </a:r>
            <a:endParaRPr lang="en-US" sz="1850" dirty="0"/>
          </a:p>
        </p:txBody>
      </p:sp>
      <p:sp>
        <p:nvSpPr>
          <p:cNvPr id="9" name="Text 7"/>
          <p:cNvSpPr/>
          <p:nvPr/>
        </p:nvSpPr>
        <p:spPr>
          <a:xfrm>
            <a:off x="769025" y="3446740"/>
            <a:ext cx="2403396" cy="300395"/>
          </a:xfrm>
          <a:prstGeom prst="rect">
            <a:avLst/>
          </a:prstGeom>
          <a:noFill/>
          <a:ln/>
        </p:spPr>
        <p:txBody>
          <a:bodyPr wrap="none" lIns="0" tIns="0" rIns="0" bIns="0" rtlCol="0" anchor="t"/>
          <a:lstStyle/>
          <a:p>
            <a:pPr marL="0" indent="0" algn="l">
              <a:lnSpc>
                <a:spcPts val="2350"/>
              </a:lnSpc>
              <a:buNone/>
            </a:pPr>
            <a:r>
              <a:rPr lang="en-US" sz="1850" dirty="0">
                <a:solidFill>
                  <a:srgbClr val="E5E0DF"/>
                </a:solidFill>
                <a:latin typeface="Poppins Light" pitchFamily="34" charset="0"/>
                <a:ea typeface="Poppins Light" pitchFamily="34" charset="-122"/>
                <a:cs typeface="Poppins Light" pitchFamily="34" charset="-120"/>
              </a:rPr>
              <a:t>Accuracy</a:t>
            </a:r>
            <a:endParaRPr lang="en-US" sz="1850" dirty="0"/>
          </a:p>
        </p:txBody>
      </p:sp>
      <p:sp>
        <p:nvSpPr>
          <p:cNvPr id="10" name="Shape 8"/>
          <p:cNvSpPr/>
          <p:nvPr/>
        </p:nvSpPr>
        <p:spPr>
          <a:xfrm>
            <a:off x="769025" y="4215646"/>
            <a:ext cx="5697379" cy="240268"/>
          </a:xfrm>
          <a:prstGeom prst="roundRect">
            <a:avLst>
              <a:gd name="adj" fmla="val 33610"/>
            </a:avLst>
          </a:prstGeom>
          <a:solidFill>
            <a:srgbClr val="3D3D42"/>
          </a:solidFill>
          <a:ln w="7620">
            <a:solidFill>
              <a:srgbClr val="56565B"/>
            </a:solidFill>
            <a:prstDash val="solid"/>
          </a:ln>
        </p:spPr>
      </p:sp>
      <p:sp>
        <p:nvSpPr>
          <p:cNvPr id="11" name="Shape 9"/>
          <p:cNvSpPr/>
          <p:nvPr/>
        </p:nvSpPr>
        <p:spPr>
          <a:xfrm>
            <a:off x="769025" y="4215646"/>
            <a:ext cx="3076575" cy="240268"/>
          </a:xfrm>
          <a:prstGeom prst="roundRect">
            <a:avLst>
              <a:gd name="adj" fmla="val 33610"/>
            </a:avLst>
          </a:prstGeom>
          <a:solidFill>
            <a:srgbClr val="F2F2F3"/>
          </a:solidFill>
          <a:ln/>
        </p:spPr>
      </p:sp>
      <p:sp>
        <p:nvSpPr>
          <p:cNvPr id="12" name="Text 10"/>
          <p:cNvSpPr/>
          <p:nvPr/>
        </p:nvSpPr>
        <p:spPr>
          <a:xfrm>
            <a:off x="6610588" y="4215646"/>
            <a:ext cx="470059" cy="240268"/>
          </a:xfrm>
          <a:prstGeom prst="rect">
            <a:avLst/>
          </a:prstGeom>
          <a:noFill/>
          <a:ln/>
        </p:spPr>
        <p:txBody>
          <a:bodyPr wrap="none" lIns="0" tIns="0" rIns="0" bIns="0" rtlCol="0" anchor="t"/>
          <a:lstStyle/>
          <a:p>
            <a:pPr marL="0" indent="0" algn="l">
              <a:lnSpc>
                <a:spcPts val="1850"/>
              </a:lnSpc>
              <a:buNone/>
            </a:pPr>
            <a:r>
              <a:rPr lang="en-US" sz="1850" dirty="0">
                <a:solidFill>
                  <a:srgbClr val="E5E0DF"/>
                </a:solidFill>
                <a:latin typeface="Poppins Light" pitchFamily="34" charset="0"/>
                <a:ea typeface="Poppins Light" pitchFamily="34" charset="-122"/>
                <a:cs typeface="Poppins Light" pitchFamily="34" charset="-120"/>
              </a:rPr>
              <a:t>54%</a:t>
            </a:r>
            <a:endParaRPr lang="en-US" sz="1850" dirty="0"/>
          </a:p>
        </p:txBody>
      </p:sp>
      <p:sp>
        <p:nvSpPr>
          <p:cNvPr id="13" name="Text 11"/>
          <p:cNvSpPr/>
          <p:nvPr/>
        </p:nvSpPr>
        <p:spPr>
          <a:xfrm>
            <a:off x="769025" y="4691658"/>
            <a:ext cx="2403396" cy="300395"/>
          </a:xfrm>
          <a:prstGeom prst="rect">
            <a:avLst/>
          </a:prstGeom>
          <a:noFill/>
          <a:ln/>
        </p:spPr>
        <p:txBody>
          <a:bodyPr wrap="none" lIns="0" tIns="0" rIns="0" bIns="0" rtlCol="0" anchor="t"/>
          <a:lstStyle/>
          <a:p>
            <a:pPr marL="0" indent="0" algn="l">
              <a:lnSpc>
                <a:spcPts val="2350"/>
              </a:lnSpc>
              <a:buNone/>
            </a:pPr>
            <a:r>
              <a:rPr lang="en-US" sz="1850" dirty="0">
                <a:solidFill>
                  <a:srgbClr val="E5E0DF"/>
                </a:solidFill>
                <a:latin typeface="Poppins Light" pitchFamily="34" charset="0"/>
                <a:ea typeface="Poppins Light" pitchFamily="34" charset="-122"/>
                <a:cs typeface="Poppins Light" pitchFamily="34" charset="-120"/>
              </a:rPr>
              <a:t>Precision</a:t>
            </a:r>
            <a:endParaRPr lang="en-US" sz="1850" dirty="0"/>
          </a:p>
        </p:txBody>
      </p:sp>
      <p:sp>
        <p:nvSpPr>
          <p:cNvPr id="14" name="Shape 12"/>
          <p:cNvSpPr/>
          <p:nvPr/>
        </p:nvSpPr>
        <p:spPr>
          <a:xfrm>
            <a:off x="769025" y="5460563"/>
            <a:ext cx="5717619" cy="240268"/>
          </a:xfrm>
          <a:prstGeom prst="roundRect">
            <a:avLst>
              <a:gd name="adj" fmla="val 33610"/>
            </a:avLst>
          </a:prstGeom>
          <a:solidFill>
            <a:srgbClr val="3D3D42"/>
          </a:solidFill>
          <a:ln w="7620">
            <a:solidFill>
              <a:srgbClr val="56565B"/>
            </a:solidFill>
            <a:prstDash val="solid"/>
          </a:ln>
        </p:spPr>
      </p:sp>
      <p:sp>
        <p:nvSpPr>
          <p:cNvPr id="15" name="Shape 13"/>
          <p:cNvSpPr/>
          <p:nvPr/>
        </p:nvSpPr>
        <p:spPr>
          <a:xfrm>
            <a:off x="769025" y="5460563"/>
            <a:ext cx="4231005" cy="240268"/>
          </a:xfrm>
          <a:prstGeom prst="roundRect">
            <a:avLst>
              <a:gd name="adj" fmla="val 33610"/>
            </a:avLst>
          </a:prstGeom>
          <a:solidFill>
            <a:srgbClr val="F2F2F3"/>
          </a:solidFill>
          <a:ln/>
        </p:spPr>
      </p:sp>
      <p:sp>
        <p:nvSpPr>
          <p:cNvPr id="16" name="Text 14"/>
          <p:cNvSpPr/>
          <p:nvPr/>
        </p:nvSpPr>
        <p:spPr>
          <a:xfrm>
            <a:off x="6630829" y="5460563"/>
            <a:ext cx="449818" cy="240268"/>
          </a:xfrm>
          <a:prstGeom prst="rect">
            <a:avLst/>
          </a:prstGeom>
          <a:noFill/>
          <a:ln/>
        </p:spPr>
        <p:txBody>
          <a:bodyPr wrap="none" lIns="0" tIns="0" rIns="0" bIns="0" rtlCol="0" anchor="t"/>
          <a:lstStyle/>
          <a:p>
            <a:pPr marL="0" indent="0" algn="l">
              <a:lnSpc>
                <a:spcPts val="1850"/>
              </a:lnSpc>
              <a:buNone/>
            </a:pPr>
            <a:r>
              <a:rPr lang="en-US" sz="1850" dirty="0">
                <a:solidFill>
                  <a:srgbClr val="E5E0DF"/>
                </a:solidFill>
                <a:latin typeface="Poppins Light" pitchFamily="34" charset="0"/>
                <a:ea typeface="Poppins Light" pitchFamily="34" charset="-122"/>
                <a:cs typeface="Poppins Light" pitchFamily="34" charset="-120"/>
              </a:rPr>
              <a:t>74%</a:t>
            </a:r>
            <a:endParaRPr lang="en-US" sz="1850" dirty="0"/>
          </a:p>
        </p:txBody>
      </p:sp>
      <p:sp>
        <p:nvSpPr>
          <p:cNvPr id="17" name="Text 15"/>
          <p:cNvSpPr/>
          <p:nvPr/>
        </p:nvSpPr>
        <p:spPr>
          <a:xfrm>
            <a:off x="769025" y="5936575"/>
            <a:ext cx="2403396" cy="300395"/>
          </a:xfrm>
          <a:prstGeom prst="rect">
            <a:avLst/>
          </a:prstGeom>
          <a:noFill/>
          <a:ln/>
        </p:spPr>
        <p:txBody>
          <a:bodyPr wrap="none" lIns="0" tIns="0" rIns="0" bIns="0" rtlCol="0" anchor="t"/>
          <a:lstStyle/>
          <a:p>
            <a:pPr marL="0" indent="0" algn="l">
              <a:lnSpc>
                <a:spcPts val="2350"/>
              </a:lnSpc>
              <a:buNone/>
            </a:pPr>
            <a:r>
              <a:rPr lang="en-US" sz="1850" dirty="0">
                <a:solidFill>
                  <a:srgbClr val="E5E0DF"/>
                </a:solidFill>
                <a:latin typeface="Poppins Light" pitchFamily="34" charset="0"/>
                <a:ea typeface="Poppins Light" pitchFamily="34" charset="-122"/>
                <a:cs typeface="Poppins Light" pitchFamily="34" charset="-120"/>
              </a:rPr>
              <a:t>Recall </a:t>
            </a:r>
            <a:r>
              <a:rPr lang="en-US" sz="1850" dirty="0">
                <a:solidFill>
                  <a:srgbClr val="2ECC71"/>
                </a:solidFill>
                <a:latin typeface="Poppins Light" pitchFamily="34" charset="0"/>
                <a:ea typeface="Poppins Light" pitchFamily="34" charset="-122"/>
                <a:cs typeface="Poppins Light" pitchFamily="34" charset="-120"/>
              </a:rPr>
              <a:t>▲ +19pp</a:t>
            </a:r>
            <a:endParaRPr lang="en-US" sz="1850" dirty="0"/>
          </a:p>
        </p:txBody>
      </p:sp>
      <p:sp>
        <p:nvSpPr>
          <p:cNvPr id="18" name="Shape 16"/>
          <p:cNvSpPr/>
          <p:nvPr/>
        </p:nvSpPr>
        <p:spPr>
          <a:xfrm>
            <a:off x="769025" y="6705481"/>
            <a:ext cx="5695712" cy="240268"/>
          </a:xfrm>
          <a:prstGeom prst="roundRect">
            <a:avLst>
              <a:gd name="adj" fmla="val 33610"/>
            </a:avLst>
          </a:prstGeom>
          <a:solidFill>
            <a:srgbClr val="3D3D42"/>
          </a:solidFill>
          <a:ln w="7620">
            <a:solidFill>
              <a:srgbClr val="56565B"/>
            </a:solidFill>
            <a:prstDash val="solid"/>
          </a:ln>
        </p:spPr>
      </p:sp>
      <p:sp>
        <p:nvSpPr>
          <p:cNvPr id="19" name="Shape 17"/>
          <p:cNvSpPr/>
          <p:nvPr/>
        </p:nvSpPr>
        <p:spPr>
          <a:xfrm>
            <a:off x="769025" y="6705481"/>
            <a:ext cx="4784288" cy="240268"/>
          </a:xfrm>
          <a:prstGeom prst="roundRect">
            <a:avLst>
              <a:gd name="adj" fmla="val 33610"/>
            </a:avLst>
          </a:prstGeom>
          <a:solidFill>
            <a:srgbClr val="F2F2F3"/>
          </a:solidFill>
          <a:ln/>
        </p:spPr>
      </p:sp>
      <p:sp>
        <p:nvSpPr>
          <p:cNvPr id="20" name="Text 18"/>
          <p:cNvSpPr/>
          <p:nvPr/>
        </p:nvSpPr>
        <p:spPr>
          <a:xfrm>
            <a:off x="6608921" y="6705481"/>
            <a:ext cx="471726" cy="240268"/>
          </a:xfrm>
          <a:prstGeom prst="rect">
            <a:avLst/>
          </a:prstGeom>
          <a:noFill/>
          <a:ln/>
        </p:spPr>
        <p:txBody>
          <a:bodyPr wrap="none" lIns="0" tIns="0" rIns="0" bIns="0" rtlCol="0" anchor="t"/>
          <a:lstStyle/>
          <a:p>
            <a:pPr marL="0" indent="0" algn="l">
              <a:lnSpc>
                <a:spcPts val="1850"/>
              </a:lnSpc>
              <a:buNone/>
            </a:pPr>
            <a:r>
              <a:rPr lang="en-US" sz="1850" dirty="0">
                <a:solidFill>
                  <a:srgbClr val="E5E0DF"/>
                </a:solidFill>
                <a:latin typeface="Poppins Light" pitchFamily="34" charset="0"/>
                <a:ea typeface="Poppins Light" pitchFamily="34" charset="-122"/>
                <a:cs typeface="Poppins Light" pitchFamily="34" charset="-120"/>
              </a:rPr>
              <a:t>84%</a:t>
            </a:r>
            <a:endParaRPr lang="en-US" sz="1850" dirty="0"/>
          </a:p>
        </p:txBody>
      </p:sp>
      <p:sp>
        <p:nvSpPr>
          <p:cNvPr id="21" name="Text 19"/>
          <p:cNvSpPr/>
          <p:nvPr/>
        </p:nvSpPr>
        <p:spPr>
          <a:xfrm>
            <a:off x="769025" y="7181493"/>
            <a:ext cx="2403396" cy="300395"/>
          </a:xfrm>
          <a:prstGeom prst="rect">
            <a:avLst/>
          </a:prstGeom>
          <a:noFill/>
          <a:ln/>
        </p:spPr>
        <p:txBody>
          <a:bodyPr wrap="none" lIns="0" tIns="0" rIns="0" bIns="0" rtlCol="0" anchor="t"/>
          <a:lstStyle/>
          <a:p>
            <a:pPr marL="0" indent="0" algn="l">
              <a:lnSpc>
                <a:spcPts val="2350"/>
              </a:lnSpc>
              <a:buNone/>
            </a:pPr>
            <a:r>
              <a:rPr lang="en-US" sz="1850" dirty="0">
                <a:solidFill>
                  <a:srgbClr val="E5E0DF"/>
                </a:solidFill>
                <a:latin typeface="Poppins Light" pitchFamily="34" charset="0"/>
                <a:ea typeface="Poppins Light" pitchFamily="34" charset="-122"/>
                <a:cs typeface="Poppins Light" pitchFamily="34" charset="-120"/>
              </a:rPr>
              <a:t>ROC-AUC</a:t>
            </a:r>
            <a:endParaRPr lang="en-US" sz="1850" dirty="0"/>
          </a:p>
        </p:txBody>
      </p:sp>
      <p:sp>
        <p:nvSpPr>
          <p:cNvPr id="22" name="Text 20"/>
          <p:cNvSpPr/>
          <p:nvPr/>
        </p:nvSpPr>
        <p:spPr>
          <a:xfrm>
            <a:off x="7557373" y="2851428"/>
            <a:ext cx="2403396" cy="300395"/>
          </a:xfrm>
          <a:prstGeom prst="rect">
            <a:avLst/>
          </a:prstGeom>
          <a:noFill/>
          <a:ln/>
        </p:spPr>
        <p:txBody>
          <a:bodyPr wrap="none" lIns="0" tIns="0" rIns="0" bIns="0" rtlCol="0" anchor="t"/>
          <a:lstStyle/>
          <a:p>
            <a:pPr marL="0" indent="0" algn="l">
              <a:lnSpc>
                <a:spcPts val="2350"/>
              </a:lnSpc>
              <a:buNone/>
            </a:pPr>
            <a:r>
              <a:rPr lang="en-US" sz="1850" dirty="0">
                <a:solidFill>
                  <a:srgbClr val="F2F2F3"/>
                </a:solidFill>
                <a:latin typeface="Poppins Light" pitchFamily="34" charset="0"/>
                <a:ea typeface="Poppins Light" pitchFamily="34" charset="-122"/>
                <a:cs typeface="Poppins Light" pitchFamily="34" charset="-120"/>
              </a:rPr>
              <a:t>F1-Score: 0.62</a:t>
            </a:r>
            <a:endParaRPr lang="en-US" sz="1850" dirty="0"/>
          </a:p>
        </p:txBody>
      </p:sp>
      <p:sp>
        <p:nvSpPr>
          <p:cNvPr id="23" name="Text 21"/>
          <p:cNvSpPr/>
          <p:nvPr/>
        </p:nvSpPr>
        <p:spPr>
          <a:xfrm>
            <a:off x="7557373" y="3338036"/>
            <a:ext cx="6311622" cy="605552"/>
          </a:xfrm>
          <a:prstGeom prst="rect">
            <a:avLst/>
          </a:prstGeom>
          <a:noFill/>
          <a:ln/>
        </p:spPr>
        <p:txBody>
          <a:bodyPr wrap="square" lIns="0" tIns="0" rIns="0" bIns="0" rtlCol="0" anchor="t"/>
          <a:lstStyle/>
          <a:p>
            <a:pPr marL="0" indent="0" algn="l">
              <a:lnSpc>
                <a:spcPts val="2350"/>
              </a:lnSpc>
              <a:buNone/>
            </a:pPr>
            <a:r>
              <a:rPr lang="en-US" sz="1500" dirty="0">
                <a:solidFill>
                  <a:srgbClr val="E5E0DF"/>
                </a:solidFill>
                <a:latin typeface="Roboto Light" pitchFamily="34" charset="0"/>
                <a:ea typeface="Roboto Light" pitchFamily="34" charset="-122"/>
                <a:cs typeface="Roboto Light" pitchFamily="34" charset="-120"/>
              </a:rPr>
              <a:t>The F1-score held steady at 0.62 — confirming that the recall gain did not come at the cost of overall model balance.</a:t>
            </a:r>
            <a:endParaRPr lang="en-US" sz="1500" dirty="0"/>
          </a:p>
        </p:txBody>
      </p:sp>
      <p:sp>
        <p:nvSpPr>
          <p:cNvPr id="24" name="Shape 22"/>
          <p:cNvSpPr/>
          <p:nvPr/>
        </p:nvSpPr>
        <p:spPr>
          <a:xfrm>
            <a:off x="7557373" y="4153019"/>
            <a:ext cx="6311622" cy="1708904"/>
          </a:xfrm>
          <a:prstGeom prst="roundRect">
            <a:avLst>
              <a:gd name="adj" fmla="val 4726"/>
            </a:avLst>
          </a:prstGeom>
          <a:solidFill>
            <a:srgbClr val="183A13"/>
          </a:solidFill>
          <a:ln/>
        </p:spPr>
      </p:sp>
      <p:pic>
        <p:nvPicPr>
          <p:cNvPr id="25" name="Image 0" descr="preencoded.png"/>
          <p:cNvPicPr>
            <a:picLocks noChangeAspect="1"/>
          </p:cNvPicPr>
          <p:nvPr/>
        </p:nvPicPr>
        <p:blipFill>
          <a:blip r:embed="rId3"/>
          <a:stretch>
            <a:fillRect/>
          </a:stretch>
        </p:blipFill>
        <p:spPr>
          <a:xfrm>
            <a:off x="7749540" y="4438293"/>
            <a:ext cx="240268" cy="192167"/>
          </a:xfrm>
          <a:prstGeom prst="rect">
            <a:avLst/>
          </a:prstGeom>
        </p:spPr>
      </p:pic>
      <p:sp>
        <p:nvSpPr>
          <p:cNvPr id="26" name="Text 23"/>
          <p:cNvSpPr/>
          <p:nvPr/>
        </p:nvSpPr>
        <p:spPr>
          <a:xfrm>
            <a:off x="8181975" y="4387215"/>
            <a:ext cx="5494853" cy="1211104"/>
          </a:xfrm>
          <a:prstGeom prst="rect">
            <a:avLst/>
          </a:prstGeom>
          <a:noFill/>
          <a:ln/>
        </p:spPr>
        <p:txBody>
          <a:bodyPr wrap="square" lIns="0" tIns="0" rIns="0" bIns="0" rtlCol="0" anchor="t"/>
          <a:lstStyle/>
          <a:p>
            <a:pPr marL="0" indent="0" algn="l">
              <a:lnSpc>
                <a:spcPts val="2350"/>
              </a:lnSpc>
              <a:buNone/>
            </a:pPr>
            <a:r>
              <a:rPr lang="en-US" sz="1500" b="1" dirty="0">
                <a:solidFill>
                  <a:srgbClr val="FFFFFF"/>
                </a:solidFill>
                <a:latin typeface="Roboto Light" pitchFamily="34" charset="0"/>
                <a:ea typeface="Roboto Light" pitchFamily="34" charset="-122"/>
                <a:cs typeface="Roboto Light" pitchFamily="34" charset="-120"/>
              </a:rPr>
              <a:t>Key Win: +19% Recall</a:t>
            </a:r>
            <a:r>
              <a:rPr lang="en-US" sz="1500" dirty="0">
                <a:solidFill>
                  <a:srgbClr val="FFFFFF"/>
                </a:solidFill>
                <a:latin typeface="Roboto Light" pitchFamily="34" charset="0"/>
                <a:ea typeface="Roboto Light" pitchFamily="34" charset="-122"/>
                <a:cs typeface="Roboto Light" pitchFamily="34" charset="-120"/>
              </a:rPr>
              <a:t> The model now detects </a:t>
            </a:r>
            <a:r>
              <a:rPr lang="en-US" sz="1500" b="1" dirty="0">
                <a:solidFill>
                  <a:srgbClr val="FFFFFF"/>
                </a:solidFill>
                <a:latin typeface="Roboto Light" pitchFamily="34" charset="0"/>
                <a:ea typeface="Roboto Light" pitchFamily="34" charset="-122"/>
                <a:cs typeface="Roboto Light" pitchFamily="34" charset="-120"/>
              </a:rPr>
              <a:t>74% of all actual churners</a:t>
            </a:r>
            <a:r>
              <a:rPr lang="en-US" sz="1500" dirty="0">
                <a:solidFill>
                  <a:srgbClr val="FFFFFF"/>
                </a:solidFill>
                <a:latin typeface="Roboto Light" pitchFamily="34" charset="0"/>
                <a:ea typeface="Roboto Light" pitchFamily="34" charset="-122"/>
                <a:cs typeface="Roboto Light" pitchFamily="34" charset="-120"/>
              </a:rPr>
              <a:t> — up from 55% — enabling the retention system to act on far more at-risk customers each cycle.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793790" y="1325047"/>
            <a:ext cx="1446252" cy="373142"/>
          </a:xfrm>
          <a:prstGeom prst="roundRect">
            <a:avLst>
              <a:gd name="adj" fmla="val 17872"/>
            </a:avLst>
          </a:prstGeom>
          <a:solidFill>
            <a:srgbClr val="252528"/>
          </a:solidFill>
          <a:ln/>
        </p:spPr>
      </p:sp>
      <p:sp>
        <p:nvSpPr>
          <p:cNvPr id="3" name="Text 1"/>
          <p:cNvSpPr/>
          <p:nvPr/>
        </p:nvSpPr>
        <p:spPr>
          <a:xfrm>
            <a:off x="912852" y="1384578"/>
            <a:ext cx="1208127" cy="254079"/>
          </a:xfrm>
          <a:prstGeom prst="rect">
            <a:avLst/>
          </a:prstGeom>
          <a:noFill/>
          <a:ln/>
        </p:spPr>
        <p:txBody>
          <a:bodyPr wrap="none" lIns="0" tIns="0" rIns="0" bIns="0" rtlCol="0" anchor="t"/>
          <a:lstStyle/>
          <a:p>
            <a:pPr marL="0" indent="0" algn="l">
              <a:lnSpc>
                <a:spcPts val="2000"/>
              </a:lnSpc>
              <a:buNone/>
            </a:pPr>
            <a:r>
              <a:rPr lang="en-US" sz="1250" dirty="0">
                <a:solidFill>
                  <a:srgbClr val="E5E0DF"/>
                </a:solidFill>
                <a:latin typeface="Roboto Light" pitchFamily="34" charset="0"/>
                <a:ea typeface="Roboto Light" pitchFamily="34" charset="-122"/>
                <a:cs typeface="Roboto Light" pitchFamily="34" charset="-120"/>
              </a:rPr>
              <a:t>BUSINESS LOGIC</a:t>
            </a:r>
            <a:endParaRPr lang="en-US" sz="1250" dirty="0"/>
          </a:p>
        </p:txBody>
      </p:sp>
      <p:sp>
        <p:nvSpPr>
          <p:cNvPr id="4" name="Text 2"/>
          <p:cNvSpPr/>
          <p:nvPr/>
        </p:nvSpPr>
        <p:spPr>
          <a:xfrm>
            <a:off x="807237" y="1710249"/>
            <a:ext cx="10502496" cy="687313"/>
          </a:xfrm>
          <a:prstGeom prst="rect">
            <a:avLst/>
          </a:prstGeom>
          <a:noFill/>
          <a:ln/>
        </p:spPr>
        <p:txBody>
          <a:bodyPr wrap="none" lIns="0" tIns="0" rIns="0" bIns="0" rtlCol="0" anchor="t"/>
          <a:lstStyle/>
          <a:p>
            <a:pPr marL="0" indent="0" algn="l">
              <a:lnSpc>
                <a:spcPts val="4850"/>
              </a:lnSpc>
              <a:buNone/>
            </a:pPr>
            <a:r>
              <a:rPr lang="en-US" sz="3900" dirty="0">
                <a:solidFill>
                  <a:srgbClr val="F2F2F3"/>
                </a:solidFill>
                <a:latin typeface="Poppins Light" pitchFamily="34" charset="0"/>
                <a:ea typeface="Poppins Light" pitchFamily="34" charset="-122"/>
                <a:cs typeface="Poppins Light" pitchFamily="34" charset="-120"/>
              </a:rPr>
              <a:t>Why Recall Is the Right Metric to Optimize</a:t>
            </a:r>
            <a:endParaRPr lang="en-US" sz="3900" dirty="0"/>
          </a:p>
        </p:txBody>
      </p:sp>
      <p:sp>
        <p:nvSpPr>
          <p:cNvPr id="5" name="Text 3"/>
          <p:cNvSpPr/>
          <p:nvPr/>
        </p:nvSpPr>
        <p:spPr>
          <a:xfrm>
            <a:off x="1091446" y="2918460"/>
            <a:ext cx="12745164" cy="317540"/>
          </a:xfrm>
          <a:prstGeom prst="rect">
            <a:avLst/>
          </a:prstGeom>
          <a:noFill/>
          <a:ln/>
        </p:spPr>
        <p:txBody>
          <a:bodyPr wrap="non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Missing a churner is far more costly than reaching out to a customer who was going to stay anyway.</a:t>
            </a:r>
            <a:endParaRPr lang="en-US" sz="1550" dirty="0"/>
          </a:p>
        </p:txBody>
      </p:sp>
      <p:sp>
        <p:nvSpPr>
          <p:cNvPr id="6" name="Shape 4"/>
          <p:cNvSpPr/>
          <p:nvPr/>
        </p:nvSpPr>
        <p:spPr>
          <a:xfrm>
            <a:off x="793790" y="2695218"/>
            <a:ext cx="22860" cy="764024"/>
          </a:xfrm>
          <a:prstGeom prst="rect">
            <a:avLst/>
          </a:prstGeom>
          <a:solidFill>
            <a:srgbClr val="F2F2F3"/>
          </a:solidFill>
          <a:ln/>
        </p:spPr>
      </p:sp>
      <p:sp>
        <p:nvSpPr>
          <p:cNvPr id="7" name="Shape 5"/>
          <p:cNvSpPr/>
          <p:nvPr/>
        </p:nvSpPr>
        <p:spPr>
          <a:xfrm>
            <a:off x="650915" y="3682484"/>
            <a:ext cx="6565106" cy="1838087"/>
          </a:xfrm>
          <a:prstGeom prst="roundRect">
            <a:avLst>
              <a:gd name="adj" fmla="val 7774"/>
            </a:avLst>
          </a:prstGeom>
          <a:solidFill>
            <a:srgbClr val="F2F2F3"/>
          </a:solidFill>
          <a:ln/>
        </p:spPr>
      </p:sp>
      <p:sp>
        <p:nvSpPr>
          <p:cNvPr id="8" name="Text 6"/>
          <p:cNvSpPr/>
          <p:nvPr/>
        </p:nvSpPr>
        <p:spPr>
          <a:xfrm>
            <a:off x="822379" y="3894289"/>
            <a:ext cx="3917639" cy="229476"/>
          </a:xfrm>
          <a:prstGeom prst="rect">
            <a:avLst/>
          </a:prstGeom>
          <a:noFill/>
          <a:ln/>
        </p:spPr>
        <p:txBody>
          <a:bodyPr wrap="none" lIns="0" tIns="0" rIns="0" bIns="0" rtlCol="0" anchor="t"/>
          <a:lstStyle/>
          <a:p>
            <a:pPr marL="0" indent="0" algn="l">
              <a:lnSpc>
                <a:spcPts val="2400"/>
              </a:lnSpc>
              <a:buNone/>
            </a:pPr>
            <a:r>
              <a:rPr lang="en-US" sz="1950" dirty="0">
                <a:solidFill>
                  <a:srgbClr val="000000"/>
                </a:solidFill>
                <a:latin typeface="Poppins Light" pitchFamily="34" charset="0"/>
                <a:ea typeface="Poppins Light" pitchFamily="34" charset="-122"/>
                <a:cs typeface="Poppins Light" pitchFamily="34" charset="-120"/>
              </a:rPr>
              <a:t>The Cost of a False Negative</a:t>
            </a:r>
            <a:endParaRPr lang="en-US" sz="1950" dirty="0"/>
          </a:p>
        </p:txBody>
      </p:sp>
      <p:sp>
        <p:nvSpPr>
          <p:cNvPr id="9" name="Text 7"/>
          <p:cNvSpPr/>
          <p:nvPr/>
        </p:nvSpPr>
        <p:spPr>
          <a:xfrm>
            <a:off x="849273" y="4389358"/>
            <a:ext cx="6168390" cy="95261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Roboto Light" pitchFamily="34" charset="0"/>
                <a:ea typeface="Roboto Light" pitchFamily="34" charset="-122"/>
                <a:cs typeface="Roboto Light" pitchFamily="34" charset="-120"/>
              </a:rPr>
              <a:t>A missed churner (</a:t>
            </a:r>
            <a:r>
              <a:rPr lang="en-US" sz="1550" b="1" dirty="0">
                <a:solidFill>
                  <a:srgbClr val="000000"/>
                </a:solidFill>
                <a:latin typeface="Roboto Light" pitchFamily="34" charset="0"/>
                <a:ea typeface="Roboto Light" pitchFamily="34" charset="-122"/>
                <a:cs typeface="Roboto Light" pitchFamily="34" charset="-120"/>
              </a:rPr>
              <a:t>false negative</a:t>
            </a:r>
            <a:r>
              <a:rPr lang="en-US" sz="1550" dirty="0">
                <a:solidFill>
                  <a:srgbClr val="000000"/>
                </a:solidFill>
                <a:latin typeface="Roboto Light" pitchFamily="34" charset="0"/>
                <a:ea typeface="Roboto Light" pitchFamily="34" charset="-122"/>
                <a:cs typeface="Roboto Light" pitchFamily="34" charset="-120"/>
              </a:rPr>
              <a:t>) means a customer leaves uncontacted. The company loses their full annual revenue — $300 per customer — with no opportunity to intervene.</a:t>
            </a:r>
            <a:endParaRPr lang="en-US" sz="1550" dirty="0"/>
          </a:p>
        </p:txBody>
      </p:sp>
      <p:sp>
        <p:nvSpPr>
          <p:cNvPr id="10" name="Text 8"/>
          <p:cNvSpPr/>
          <p:nvPr/>
        </p:nvSpPr>
        <p:spPr>
          <a:xfrm>
            <a:off x="7537980" y="3880842"/>
            <a:ext cx="3660149" cy="310158"/>
          </a:xfrm>
          <a:prstGeom prst="rect">
            <a:avLst/>
          </a:prstGeom>
          <a:noFill/>
          <a:ln/>
        </p:spPr>
        <p:txBody>
          <a:bodyPr wrap="none" lIns="0" tIns="0" rIns="0" bIns="0" rtlCol="0" anchor="t"/>
          <a:lstStyle/>
          <a:p>
            <a:pPr marL="0" indent="0" algn="l">
              <a:lnSpc>
                <a:spcPts val="2400"/>
              </a:lnSpc>
              <a:buNone/>
            </a:pPr>
            <a:r>
              <a:rPr lang="en-US" sz="1950" dirty="0">
                <a:solidFill>
                  <a:srgbClr val="F2F2F3"/>
                </a:solidFill>
                <a:latin typeface="Poppins Light" pitchFamily="34" charset="0"/>
                <a:ea typeface="Poppins Light" pitchFamily="34" charset="-122"/>
                <a:cs typeface="Poppins Light" pitchFamily="34" charset="-120"/>
              </a:rPr>
              <a:t>The Cost of a False Positive</a:t>
            </a:r>
            <a:endParaRPr lang="en-US" sz="1950" dirty="0"/>
          </a:p>
        </p:txBody>
      </p:sp>
      <p:sp>
        <p:nvSpPr>
          <p:cNvPr id="11" name="Text 9"/>
          <p:cNvSpPr/>
          <p:nvPr/>
        </p:nvSpPr>
        <p:spPr>
          <a:xfrm>
            <a:off x="7564874" y="4389358"/>
            <a:ext cx="6279356" cy="95261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A wrongly targeted non-churner (</a:t>
            </a:r>
            <a:r>
              <a:rPr lang="en-US" sz="1550" b="1" dirty="0">
                <a:solidFill>
                  <a:srgbClr val="E5E0DF"/>
                </a:solidFill>
                <a:latin typeface="Roboto Light" pitchFamily="34" charset="0"/>
                <a:ea typeface="Roboto Light" pitchFamily="34" charset="-122"/>
                <a:cs typeface="Roboto Light" pitchFamily="34" charset="-120"/>
              </a:rPr>
              <a:t>false positive</a:t>
            </a:r>
            <a:r>
              <a:rPr lang="en-US" sz="1550" dirty="0">
                <a:solidFill>
                  <a:srgbClr val="E5E0DF"/>
                </a:solidFill>
                <a:latin typeface="Roboto Light" pitchFamily="34" charset="0"/>
                <a:ea typeface="Roboto Light" pitchFamily="34" charset="-122"/>
                <a:cs typeface="Roboto Light" pitchFamily="34" charset="-120"/>
              </a:rPr>
              <a:t>) receives an unnecessary retention offer. The marginal cost is limited to the campaign spend — typically a fraction of the revenue risk.</a:t>
            </a:r>
            <a:endParaRPr lang="en-US" sz="1550" dirty="0"/>
          </a:p>
        </p:txBody>
      </p:sp>
      <p:sp>
        <p:nvSpPr>
          <p:cNvPr id="12" name="Shape 10"/>
          <p:cNvSpPr/>
          <p:nvPr/>
        </p:nvSpPr>
        <p:spPr>
          <a:xfrm>
            <a:off x="793790" y="5743813"/>
            <a:ext cx="13042821" cy="1160740"/>
          </a:xfrm>
          <a:prstGeom prst="roundRect">
            <a:avLst>
              <a:gd name="adj" fmla="val 7182"/>
            </a:avLst>
          </a:prstGeom>
          <a:solidFill>
            <a:srgbClr val="022349"/>
          </a:solidFill>
          <a:ln/>
        </p:spPr>
      </p:sp>
      <p:pic>
        <p:nvPicPr>
          <p:cNvPr id="13" name="Image 0" descr="preencoded.png"/>
          <p:cNvPicPr>
            <a:picLocks noChangeAspect="1"/>
          </p:cNvPicPr>
          <p:nvPr/>
        </p:nvPicPr>
        <p:blipFill>
          <a:blip r:embed="rId3"/>
          <a:stretch>
            <a:fillRect/>
          </a:stretch>
        </p:blipFill>
        <p:spPr>
          <a:xfrm>
            <a:off x="992148" y="6039088"/>
            <a:ext cx="248007" cy="198358"/>
          </a:xfrm>
          <a:prstGeom prst="rect">
            <a:avLst/>
          </a:prstGeom>
        </p:spPr>
      </p:pic>
      <p:sp>
        <p:nvSpPr>
          <p:cNvPr id="14" name="Text 11"/>
          <p:cNvSpPr/>
          <p:nvPr/>
        </p:nvSpPr>
        <p:spPr>
          <a:xfrm>
            <a:off x="1438513" y="5991701"/>
            <a:ext cx="12199739" cy="635079"/>
          </a:xfrm>
          <a:prstGeom prst="rect">
            <a:avLst/>
          </a:prstGeom>
          <a:noFill/>
          <a:ln/>
        </p:spPr>
        <p:txBody>
          <a:bodyPr wrap="square" lIns="0" tIns="0" rIns="0" bIns="0" rtlCol="0" anchor="t"/>
          <a:lstStyle/>
          <a:p>
            <a:pPr marL="0" indent="0" algn="l">
              <a:lnSpc>
                <a:spcPts val="2500"/>
              </a:lnSpc>
              <a:buNone/>
            </a:pPr>
            <a:r>
              <a:rPr lang="en-US" sz="1550" b="1" dirty="0">
                <a:solidFill>
                  <a:srgbClr val="FFFFFF"/>
                </a:solidFill>
                <a:latin typeface="Roboto Light" pitchFamily="34" charset="0"/>
                <a:ea typeface="Roboto Light" pitchFamily="34" charset="-122"/>
                <a:cs typeface="Roboto Light" pitchFamily="34" charset="-120"/>
              </a:rPr>
              <a:t>Strategic Implication:</a:t>
            </a:r>
            <a:r>
              <a:rPr lang="en-US" sz="1550" dirty="0">
                <a:solidFill>
                  <a:srgbClr val="FFFFFF"/>
                </a:solidFill>
                <a:latin typeface="Roboto Light" pitchFamily="34" charset="0"/>
                <a:ea typeface="Roboto Light" pitchFamily="34" charset="-122"/>
                <a:cs typeface="Roboto Light" pitchFamily="34" charset="-120"/>
              </a:rPr>
              <a:t> In a retention context, maximizing recall — even at the expense of some precision — is the economically rational choice. The asymmetry in costs justifies accepting more false positives to dramatically reduce false negatives.</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793790" y="1786057"/>
            <a:ext cx="2218849" cy="373142"/>
          </a:xfrm>
          <a:prstGeom prst="roundRect">
            <a:avLst>
              <a:gd name="adj" fmla="val 17872"/>
            </a:avLst>
          </a:prstGeom>
          <a:solidFill>
            <a:srgbClr val="252528"/>
          </a:solidFill>
          <a:ln/>
        </p:spPr>
      </p:sp>
      <p:sp>
        <p:nvSpPr>
          <p:cNvPr id="3" name="Text 1"/>
          <p:cNvSpPr/>
          <p:nvPr/>
        </p:nvSpPr>
        <p:spPr>
          <a:xfrm>
            <a:off x="912852" y="1845588"/>
            <a:ext cx="1980724" cy="254079"/>
          </a:xfrm>
          <a:prstGeom prst="rect">
            <a:avLst/>
          </a:prstGeom>
          <a:noFill/>
          <a:ln/>
        </p:spPr>
        <p:txBody>
          <a:bodyPr wrap="none" lIns="0" tIns="0" rIns="0" bIns="0" rtlCol="0" anchor="t"/>
          <a:lstStyle/>
          <a:p>
            <a:pPr marL="0" indent="0" algn="l">
              <a:lnSpc>
                <a:spcPts val="2000"/>
              </a:lnSpc>
              <a:buNone/>
            </a:pPr>
            <a:r>
              <a:rPr lang="en-US" sz="1250" dirty="0">
                <a:solidFill>
                  <a:srgbClr val="E5E0DF"/>
                </a:solidFill>
                <a:latin typeface="Roboto Light" pitchFamily="34" charset="0"/>
                <a:ea typeface="Roboto Light" pitchFamily="34" charset="-122"/>
                <a:cs typeface="Roboto Light" pitchFamily="34" charset="-120"/>
              </a:rPr>
              <a:t>FROM MODEL TO PRODUCT</a:t>
            </a:r>
            <a:endParaRPr lang="en-US" sz="1250" dirty="0"/>
          </a:p>
        </p:txBody>
      </p:sp>
      <p:sp>
        <p:nvSpPr>
          <p:cNvPr id="4" name="Text 2"/>
          <p:cNvSpPr/>
          <p:nvPr/>
        </p:nvSpPr>
        <p:spPr>
          <a:xfrm>
            <a:off x="793790" y="2171259"/>
            <a:ext cx="12477994" cy="687313"/>
          </a:xfrm>
          <a:prstGeom prst="rect">
            <a:avLst/>
          </a:prstGeom>
          <a:noFill/>
          <a:ln/>
        </p:spPr>
        <p:txBody>
          <a:bodyPr wrap="none" lIns="0" tIns="0" rIns="0" bIns="0" rtlCol="0" anchor="t"/>
          <a:lstStyle/>
          <a:p>
            <a:pPr marL="0" indent="0" algn="l">
              <a:lnSpc>
                <a:spcPts val="4850"/>
              </a:lnSpc>
              <a:buNone/>
            </a:pPr>
            <a:r>
              <a:rPr lang="en-US" sz="3900" dirty="0">
                <a:solidFill>
                  <a:srgbClr val="F2F2F3"/>
                </a:solidFill>
                <a:latin typeface="Poppins Light" pitchFamily="34" charset="0"/>
                <a:ea typeface="Poppins Light" pitchFamily="34" charset="-122"/>
                <a:cs typeface="Poppins Light" pitchFamily="34" charset="-120"/>
              </a:rPr>
              <a:t>Transforming Predictions into Actionable Outputs</a:t>
            </a:r>
            <a:endParaRPr lang="en-US" sz="3900" dirty="0"/>
          </a:p>
        </p:txBody>
      </p:sp>
      <p:sp>
        <p:nvSpPr>
          <p:cNvPr id="5" name="Text 3"/>
          <p:cNvSpPr/>
          <p:nvPr/>
        </p:nvSpPr>
        <p:spPr>
          <a:xfrm>
            <a:off x="793790" y="3156228"/>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A machine learning model alone is not a product. The real value is unlocked when predictions are structured, enriched, and delivered in a format that operational teams can act on immediately. The system generates three key outputs for every scored customer.</a:t>
            </a:r>
            <a:endParaRPr lang="en-US" sz="1550" dirty="0"/>
          </a:p>
        </p:txBody>
      </p:sp>
      <p:sp>
        <p:nvSpPr>
          <p:cNvPr id="6" name="Shape 4"/>
          <p:cNvSpPr/>
          <p:nvPr/>
        </p:nvSpPr>
        <p:spPr>
          <a:xfrm>
            <a:off x="793790" y="4014549"/>
            <a:ext cx="13042821" cy="2428875"/>
          </a:xfrm>
          <a:prstGeom prst="roundRect">
            <a:avLst>
              <a:gd name="adj" fmla="val 3432"/>
            </a:avLst>
          </a:prstGeom>
          <a:solidFill>
            <a:srgbClr val="3D3D42"/>
          </a:solidFill>
          <a:ln w="7620">
            <a:solidFill>
              <a:srgbClr val="56565B"/>
            </a:solidFill>
            <a:prstDash val="solid"/>
          </a:ln>
        </p:spPr>
      </p:sp>
      <p:sp>
        <p:nvSpPr>
          <p:cNvPr id="7" name="Shape 5"/>
          <p:cNvSpPr/>
          <p:nvPr/>
        </p:nvSpPr>
        <p:spPr>
          <a:xfrm>
            <a:off x="801410" y="4022169"/>
            <a:ext cx="4342448" cy="2413635"/>
          </a:xfrm>
          <a:prstGeom prst="roundRect">
            <a:avLst>
              <a:gd name="adj" fmla="val 3454"/>
            </a:avLst>
          </a:prstGeom>
          <a:solidFill>
            <a:srgbClr val="3D3D42"/>
          </a:solidFill>
          <a:ln/>
        </p:spPr>
      </p:sp>
      <p:sp>
        <p:nvSpPr>
          <p:cNvPr id="8" name="Text 6"/>
          <p:cNvSpPr/>
          <p:nvPr/>
        </p:nvSpPr>
        <p:spPr>
          <a:xfrm>
            <a:off x="999768" y="4220528"/>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E5E0DF"/>
                </a:solidFill>
                <a:latin typeface="Poppins Light" pitchFamily="34" charset="0"/>
                <a:ea typeface="Poppins Light" pitchFamily="34" charset="-122"/>
                <a:cs typeface="Poppins Light" pitchFamily="34" charset="-120"/>
              </a:rPr>
              <a:t>Churn Probability</a:t>
            </a:r>
            <a:endParaRPr lang="en-US" sz="1950" dirty="0"/>
          </a:p>
        </p:txBody>
      </p:sp>
      <p:sp>
        <p:nvSpPr>
          <p:cNvPr id="9" name="Text 7"/>
          <p:cNvSpPr/>
          <p:nvPr/>
        </p:nvSpPr>
        <p:spPr>
          <a:xfrm>
            <a:off x="999768" y="4649748"/>
            <a:ext cx="3647956" cy="1587698"/>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A continuous score from 0 to 1 representing the likelihood that a customer will churn within the next billing cycle — the foundation for all downstream decisions.</a:t>
            </a:r>
            <a:endParaRPr lang="en-US" sz="1550" dirty="0"/>
          </a:p>
        </p:txBody>
      </p:sp>
      <p:sp>
        <p:nvSpPr>
          <p:cNvPr id="10" name="Shape 8"/>
          <p:cNvSpPr/>
          <p:nvPr/>
        </p:nvSpPr>
        <p:spPr>
          <a:xfrm>
            <a:off x="5143857" y="4022169"/>
            <a:ext cx="4342567" cy="2413635"/>
          </a:xfrm>
          <a:prstGeom prst="rect">
            <a:avLst/>
          </a:prstGeom>
          <a:solidFill>
            <a:srgbClr val="3D3D42"/>
          </a:solidFill>
          <a:ln/>
        </p:spPr>
      </p:sp>
      <p:sp>
        <p:nvSpPr>
          <p:cNvPr id="11" name="Shape 9"/>
          <p:cNvSpPr/>
          <p:nvPr/>
        </p:nvSpPr>
        <p:spPr>
          <a:xfrm>
            <a:off x="5143857" y="4022169"/>
            <a:ext cx="22860" cy="2413635"/>
          </a:xfrm>
          <a:prstGeom prst="roundRect">
            <a:avLst>
              <a:gd name="adj" fmla="val 364651"/>
            </a:avLst>
          </a:prstGeom>
          <a:solidFill>
            <a:srgbClr val="56565B"/>
          </a:solidFill>
          <a:ln/>
        </p:spPr>
      </p:sp>
      <p:sp>
        <p:nvSpPr>
          <p:cNvPr id="12" name="Text 10"/>
          <p:cNvSpPr/>
          <p:nvPr/>
        </p:nvSpPr>
        <p:spPr>
          <a:xfrm>
            <a:off x="5639991" y="4220528"/>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E5E0DF"/>
                </a:solidFill>
                <a:latin typeface="Poppins Light" pitchFamily="34" charset="0"/>
                <a:ea typeface="Poppins Light" pitchFamily="34" charset="-122"/>
                <a:cs typeface="Poppins Light" pitchFamily="34" charset="-120"/>
              </a:rPr>
              <a:t>Risk Segment</a:t>
            </a:r>
            <a:endParaRPr lang="en-US" sz="1950" dirty="0"/>
          </a:p>
        </p:txBody>
      </p:sp>
      <p:sp>
        <p:nvSpPr>
          <p:cNvPr id="13" name="Text 11"/>
          <p:cNvSpPr/>
          <p:nvPr/>
        </p:nvSpPr>
        <p:spPr>
          <a:xfrm>
            <a:off x="5639991" y="4649748"/>
            <a:ext cx="3350300" cy="127015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Each customer is classified into one of four risk tiers — Low, Medium, High, or Very High — enabling prioritized, tiered campaign execution.</a:t>
            </a:r>
            <a:endParaRPr lang="en-US" sz="1550" dirty="0"/>
          </a:p>
        </p:txBody>
      </p:sp>
      <p:sp>
        <p:nvSpPr>
          <p:cNvPr id="14" name="Shape 12"/>
          <p:cNvSpPr/>
          <p:nvPr/>
        </p:nvSpPr>
        <p:spPr>
          <a:xfrm>
            <a:off x="4895850" y="4980920"/>
            <a:ext cx="496133" cy="496133"/>
          </a:xfrm>
          <a:prstGeom prst="roundRect">
            <a:avLst>
              <a:gd name="adj" fmla="val 16802"/>
            </a:avLst>
          </a:prstGeom>
          <a:solidFill>
            <a:srgbClr val="050505"/>
          </a:solidFill>
          <a:ln w="22860">
            <a:solidFill>
              <a:srgbClr val="56565B"/>
            </a:solidFill>
            <a:prstDash val="solid"/>
          </a:ln>
        </p:spPr>
      </p:sp>
      <p:pic>
        <p:nvPicPr>
          <p:cNvPr id="1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19913" y="5104864"/>
            <a:ext cx="248007" cy="248007"/>
          </a:xfrm>
          <a:prstGeom prst="rect">
            <a:avLst/>
          </a:prstGeom>
        </p:spPr>
      </p:pic>
      <p:sp>
        <p:nvSpPr>
          <p:cNvPr id="16" name="Shape 13"/>
          <p:cNvSpPr/>
          <p:nvPr/>
        </p:nvSpPr>
        <p:spPr>
          <a:xfrm>
            <a:off x="9486424" y="4022169"/>
            <a:ext cx="4342567" cy="2413635"/>
          </a:xfrm>
          <a:prstGeom prst="rect">
            <a:avLst/>
          </a:prstGeom>
          <a:solidFill>
            <a:srgbClr val="3D3D42"/>
          </a:solidFill>
          <a:ln/>
        </p:spPr>
      </p:sp>
      <p:sp>
        <p:nvSpPr>
          <p:cNvPr id="17" name="Shape 14"/>
          <p:cNvSpPr/>
          <p:nvPr/>
        </p:nvSpPr>
        <p:spPr>
          <a:xfrm>
            <a:off x="9486424" y="4022169"/>
            <a:ext cx="22860" cy="2413635"/>
          </a:xfrm>
          <a:prstGeom prst="roundRect">
            <a:avLst>
              <a:gd name="adj" fmla="val 364651"/>
            </a:avLst>
          </a:prstGeom>
          <a:solidFill>
            <a:srgbClr val="56565B"/>
          </a:solidFill>
          <a:ln/>
        </p:spPr>
      </p:sp>
      <p:sp>
        <p:nvSpPr>
          <p:cNvPr id="18" name="Text 15"/>
          <p:cNvSpPr/>
          <p:nvPr/>
        </p:nvSpPr>
        <p:spPr>
          <a:xfrm>
            <a:off x="9982557" y="4220528"/>
            <a:ext cx="3057252" cy="310158"/>
          </a:xfrm>
          <a:prstGeom prst="rect">
            <a:avLst/>
          </a:prstGeom>
          <a:noFill/>
          <a:ln/>
        </p:spPr>
        <p:txBody>
          <a:bodyPr wrap="none" lIns="0" tIns="0" rIns="0" bIns="0" rtlCol="0" anchor="t"/>
          <a:lstStyle/>
          <a:p>
            <a:pPr marL="0" indent="0" algn="l">
              <a:lnSpc>
                <a:spcPts val="2400"/>
              </a:lnSpc>
              <a:buNone/>
            </a:pPr>
            <a:r>
              <a:rPr lang="en-US" sz="1950" dirty="0">
                <a:solidFill>
                  <a:srgbClr val="E5E0DF"/>
                </a:solidFill>
                <a:latin typeface="Poppins Light" pitchFamily="34" charset="0"/>
                <a:ea typeface="Poppins Light" pitchFamily="34" charset="-122"/>
                <a:cs typeface="Poppins Light" pitchFamily="34" charset="-120"/>
              </a:rPr>
              <a:t>Recommended Action</a:t>
            </a:r>
            <a:endParaRPr lang="en-US" sz="1950" dirty="0"/>
          </a:p>
        </p:txBody>
      </p:sp>
      <p:sp>
        <p:nvSpPr>
          <p:cNvPr id="19" name="Text 16"/>
          <p:cNvSpPr/>
          <p:nvPr/>
        </p:nvSpPr>
        <p:spPr>
          <a:xfrm>
            <a:off x="9982557" y="4649748"/>
            <a:ext cx="3648075" cy="127015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A prescriptive action mapped to each risk tier — from a loyalty program invite for medium-risk customers to an immediate retention call for critical cases.</a:t>
            </a:r>
            <a:endParaRPr lang="en-US" sz="1550" dirty="0"/>
          </a:p>
        </p:txBody>
      </p:sp>
      <p:sp>
        <p:nvSpPr>
          <p:cNvPr id="20" name="Shape 17"/>
          <p:cNvSpPr/>
          <p:nvPr/>
        </p:nvSpPr>
        <p:spPr>
          <a:xfrm>
            <a:off x="9238417" y="4980920"/>
            <a:ext cx="496133" cy="496133"/>
          </a:xfrm>
          <a:prstGeom prst="roundRect">
            <a:avLst>
              <a:gd name="adj" fmla="val 16802"/>
            </a:avLst>
          </a:prstGeom>
          <a:solidFill>
            <a:srgbClr val="050505"/>
          </a:solidFill>
          <a:ln w="22860">
            <a:solidFill>
              <a:srgbClr val="56565B"/>
            </a:solidFill>
            <a:prstDash val="solid"/>
          </a:ln>
        </p:spPr>
      </p:sp>
      <p:pic>
        <p:nvPicPr>
          <p:cNvPr id="2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62480" y="5104864"/>
            <a:ext cx="248007" cy="24800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756642" y="632103"/>
            <a:ext cx="1697593" cy="349687"/>
          </a:xfrm>
          <a:prstGeom prst="roundRect">
            <a:avLst>
              <a:gd name="adj" fmla="val 18177"/>
            </a:avLst>
          </a:prstGeom>
          <a:solidFill>
            <a:srgbClr val="252528"/>
          </a:solidFill>
          <a:ln/>
        </p:spPr>
      </p:sp>
      <p:sp>
        <p:nvSpPr>
          <p:cNvPr id="3" name="Text 1"/>
          <p:cNvSpPr/>
          <p:nvPr/>
        </p:nvSpPr>
        <p:spPr>
          <a:xfrm>
            <a:off x="870109" y="688777"/>
            <a:ext cx="1470660" cy="236339"/>
          </a:xfrm>
          <a:prstGeom prst="rect">
            <a:avLst/>
          </a:prstGeom>
          <a:noFill/>
          <a:ln/>
        </p:spPr>
        <p:txBody>
          <a:bodyPr wrap="none" lIns="0" tIns="0" rIns="0" bIns="0" rtlCol="0" anchor="t"/>
          <a:lstStyle/>
          <a:p>
            <a:pPr marL="0" indent="0" algn="l">
              <a:lnSpc>
                <a:spcPts val="1850"/>
              </a:lnSpc>
              <a:buNone/>
            </a:pPr>
            <a:r>
              <a:rPr lang="en-US" sz="1150" dirty="0">
                <a:solidFill>
                  <a:srgbClr val="E5E0DF"/>
                </a:solidFill>
                <a:latin typeface="Roboto Light" pitchFamily="34" charset="0"/>
                <a:ea typeface="Roboto Light" pitchFamily="34" charset="-122"/>
                <a:cs typeface="Roboto Light" pitchFamily="34" charset="-120"/>
              </a:rPr>
              <a:t>RISK SEGMENTATION</a:t>
            </a:r>
            <a:endParaRPr lang="en-US" sz="1150" dirty="0"/>
          </a:p>
        </p:txBody>
      </p:sp>
      <p:sp>
        <p:nvSpPr>
          <p:cNvPr id="4" name="Text 2"/>
          <p:cNvSpPr/>
          <p:nvPr/>
        </p:nvSpPr>
        <p:spPr>
          <a:xfrm>
            <a:off x="756642" y="1040375"/>
            <a:ext cx="8724760" cy="604592"/>
          </a:xfrm>
          <a:prstGeom prst="rect">
            <a:avLst/>
          </a:prstGeom>
          <a:noFill/>
          <a:ln/>
        </p:spPr>
        <p:txBody>
          <a:bodyPr wrap="none" lIns="0" tIns="0" rIns="0" bIns="0" rtlCol="0" anchor="t"/>
          <a:lstStyle/>
          <a:p>
            <a:pPr marL="0" indent="0" algn="l">
              <a:lnSpc>
                <a:spcPts val="4650"/>
              </a:lnSpc>
              <a:buNone/>
            </a:pPr>
            <a:r>
              <a:rPr lang="en-US" sz="3700" dirty="0">
                <a:solidFill>
                  <a:srgbClr val="F2F2F3"/>
                </a:solidFill>
                <a:latin typeface="Poppins Light" pitchFamily="34" charset="0"/>
                <a:ea typeface="Poppins Light" pitchFamily="34" charset="-122"/>
                <a:cs typeface="Poppins Light" pitchFamily="34" charset="-120"/>
              </a:rPr>
              <a:t>Four-Tier Customer Risk Framework</a:t>
            </a:r>
            <a:endParaRPr lang="en-US" sz="3700" dirty="0"/>
          </a:p>
        </p:txBody>
      </p:sp>
      <p:sp>
        <p:nvSpPr>
          <p:cNvPr id="5" name="Text 3"/>
          <p:cNvSpPr/>
          <p:nvPr/>
        </p:nvSpPr>
        <p:spPr>
          <a:xfrm>
            <a:off x="756642" y="1915358"/>
            <a:ext cx="13117116" cy="591026"/>
          </a:xfrm>
          <a:prstGeom prst="rect">
            <a:avLst/>
          </a:prstGeom>
          <a:noFill/>
          <a:ln/>
        </p:spPr>
        <p:txBody>
          <a:bodyPr wrap="square" lIns="0" tIns="0" rIns="0" bIns="0" rtlCol="0" anchor="t"/>
          <a:lstStyle/>
          <a:p>
            <a:pPr marL="0" indent="0" algn="l">
              <a:lnSpc>
                <a:spcPts val="2300"/>
              </a:lnSpc>
              <a:buNone/>
            </a:pPr>
            <a:r>
              <a:rPr lang="en-US" sz="1450" dirty="0">
                <a:solidFill>
                  <a:srgbClr val="E5E0DF"/>
                </a:solidFill>
                <a:latin typeface="Roboto Light" pitchFamily="34" charset="0"/>
                <a:ea typeface="Roboto Light" pitchFamily="34" charset="-122"/>
                <a:cs typeface="Roboto Light" pitchFamily="34" charset="-120"/>
              </a:rPr>
              <a:t>Segmentation ensures that retention resources are allocated efficiently — not uniformly. The framework focuses investment on segments where intervention has the highest expected ROI: medium and high-risk customers who are still recoverable.</a:t>
            </a:r>
            <a:endParaRPr lang="en-US" sz="1450" dirty="0"/>
          </a:p>
        </p:txBody>
      </p:sp>
      <p:sp>
        <p:nvSpPr>
          <p:cNvPr id="6" name="Shape 4"/>
          <p:cNvSpPr/>
          <p:nvPr/>
        </p:nvSpPr>
        <p:spPr>
          <a:xfrm>
            <a:off x="756642" y="2709148"/>
            <a:ext cx="1639610" cy="1077278"/>
          </a:xfrm>
          <a:prstGeom prst="roundRect">
            <a:avLst>
              <a:gd name="adj" fmla="val 7375"/>
            </a:avLst>
          </a:prstGeom>
          <a:solidFill>
            <a:srgbClr val="3D3D42"/>
          </a:solidFill>
          <a:ln w="7620">
            <a:solidFill>
              <a:srgbClr val="56565B"/>
            </a:solidFill>
            <a:prstDash val="solid"/>
          </a:ln>
        </p:spPr>
      </p:sp>
      <p:sp>
        <p:nvSpPr>
          <p:cNvPr id="7" name="Text 5"/>
          <p:cNvSpPr/>
          <p:nvPr/>
        </p:nvSpPr>
        <p:spPr>
          <a:xfrm>
            <a:off x="1443395" y="3081576"/>
            <a:ext cx="265986" cy="332423"/>
          </a:xfrm>
          <a:prstGeom prst="rect">
            <a:avLst/>
          </a:prstGeom>
          <a:noFill/>
          <a:ln/>
        </p:spPr>
        <p:txBody>
          <a:bodyPr wrap="none" lIns="0" tIns="0" rIns="0" bIns="0" rtlCol="0" anchor="t"/>
          <a:lstStyle/>
          <a:p>
            <a:pPr marL="0" indent="0" algn="ctr">
              <a:lnSpc>
                <a:spcPts val="3250"/>
              </a:lnSpc>
              <a:buNone/>
            </a:pPr>
            <a:r>
              <a:rPr lang="en-US" sz="2050" dirty="0">
                <a:solidFill>
                  <a:srgbClr val="E5E0DF"/>
                </a:solidFill>
                <a:latin typeface="Poppins Light" pitchFamily="34" charset="0"/>
                <a:ea typeface="Poppins Light" pitchFamily="34" charset="-122"/>
                <a:cs typeface="Poppins Light" pitchFamily="34" charset="-120"/>
              </a:rPr>
              <a:t>1</a:t>
            </a:r>
            <a:endParaRPr lang="en-US" sz="2050" dirty="0"/>
          </a:p>
        </p:txBody>
      </p:sp>
      <p:sp>
        <p:nvSpPr>
          <p:cNvPr id="8" name="Text 6"/>
          <p:cNvSpPr/>
          <p:nvPr/>
        </p:nvSpPr>
        <p:spPr>
          <a:xfrm>
            <a:off x="2544982" y="2925113"/>
            <a:ext cx="3128037" cy="308960"/>
          </a:xfrm>
          <a:prstGeom prst="rect">
            <a:avLst/>
          </a:prstGeom>
          <a:noFill/>
          <a:ln/>
        </p:spPr>
        <p:txBody>
          <a:bodyPr wrap="none" lIns="0" tIns="0" rIns="0" bIns="0" rtlCol="0" anchor="t"/>
          <a:lstStyle/>
          <a:p>
            <a:pPr marL="0" indent="0" algn="l">
              <a:lnSpc>
                <a:spcPts val="2300"/>
              </a:lnSpc>
              <a:buNone/>
            </a:pPr>
            <a:r>
              <a:rPr lang="en-US" sz="1850" dirty="0">
                <a:solidFill>
                  <a:srgbClr val="E5E0DF"/>
                </a:solidFill>
                <a:latin typeface="Poppins Light" pitchFamily="34" charset="0"/>
                <a:ea typeface="Poppins Light" pitchFamily="34" charset="-122"/>
                <a:cs typeface="Poppins Light" pitchFamily="34" charset="-120"/>
              </a:rPr>
              <a:t>Low Risk — Below 0.40</a:t>
            </a:r>
            <a:endParaRPr lang="en-US" sz="1850" dirty="0"/>
          </a:p>
        </p:txBody>
      </p:sp>
      <p:sp>
        <p:nvSpPr>
          <p:cNvPr id="9" name="Text 7"/>
          <p:cNvSpPr/>
          <p:nvPr/>
        </p:nvSpPr>
        <p:spPr>
          <a:xfrm>
            <a:off x="2585323" y="3301841"/>
            <a:ext cx="8297585" cy="295513"/>
          </a:xfrm>
          <a:prstGeom prst="rect">
            <a:avLst/>
          </a:prstGeom>
          <a:noFill/>
          <a:ln/>
        </p:spPr>
        <p:txBody>
          <a:bodyPr wrap="none" lIns="0" tIns="0" rIns="0" bIns="0" rtlCol="0" anchor="t"/>
          <a:lstStyle/>
          <a:p>
            <a:pPr marL="0" indent="0" algn="l">
              <a:lnSpc>
                <a:spcPts val="2300"/>
              </a:lnSpc>
              <a:buNone/>
            </a:pPr>
            <a:r>
              <a:rPr lang="en-US" sz="1450" dirty="0">
                <a:solidFill>
                  <a:srgbClr val="E5E0DF"/>
                </a:solidFill>
                <a:latin typeface="Roboto Light" pitchFamily="34" charset="0"/>
                <a:ea typeface="Roboto Light" pitchFamily="34" charset="-122"/>
                <a:cs typeface="Roboto Light" pitchFamily="34" charset="-120"/>
              </a:rPr>
              <a:t>No action required. These customers show stable behavior and are unlikely to churn in the near term.</a:t>
            </a:r>
            <a:endParaRPr lang="en-US" sz="1450" dirty="0"/>
          </a:p>
        </p:txBody>
      </p:sp>
      <p:sp>
        <p:nvSpPr>
          <p:cNvPr id="10" name="Shape 8"/>
          <p:cNvSpPr/>
          <p:nvPr/>
        </p:nvSpPr>
        <p:spPr>
          <a:xfrm>
            <a:off x="2490787" y="3776901"/>
            <a:ext cx="11288435" cy="11430"/>
          </a:xfrm>
          <a:prstGeom prst="roundRect">
            <a:avLst>
              <a:gd name="adj" fmla="val 695116"/>
            </a:avLst>
          </a:prstGeom>
          <a:solidFill>
            <a:srgbClr val="56565B"/>
          </a:solidFill>
          <a:ln/>
        </p:spPr>
      </p:sp>
      <p:sp>
        <p:nvSpPr>
          <p:cNvPr id="11" name="Shape 9"/>
          <p:cNvSpPr/>
          <p:nvPr/>
        </p:nvSpPr>
        <p:spPr>
          <a:xfrm>
            <a:off x="756642" y="3880961"/>
            <a:ext cx="3279219" cy="1077278"/>
          </a:xfrm>
          <a:prstGeom prst="roundRect">
            <a:avLst>
              <a:gd name="adj" fmla="val 7375"/>
            </a:avLst>
          </a:prstGeom>
          <a:solidFill>
            <a:srgbClr val="3D3D42"/>
          </a:solidFill>
          <a:ln w="7620">
            <a:solidFill>
              <a:srgbClr val="56565B"/>
            </a:solidFill>
            <a:prstDash val="solid"/>
          </a:ln>
        </p:spPr>
      </p:sp>
      <p:sp>
        <p:nvSpPr>
          <p:cNvPr id="12" name="Text 10"/>
          <p:cNvSpPr/>
          <p:nvPr/>
        </p:nvSpPr>
        <p:spPr>
          <a:xfrm>
            <a:off x="2263259" y="4253389"/>
            <a:ext cx="265986" cy="332423"/>
          </a:xfrm>
          <a:prstGeom prst="rect">
            <a:avLst/>
          </a:prstGeom>
          <a:noFill/>
          <a:ln/>
        </p:spPr>
        <p:txBody>
          <a:bodyPr wrap="none" lIns="0" tIns="0" rIns="0" bIns="0" rtlCol="0" anchor="t"/>
          <a:lstStyle/>
          <a:p>
            <a:pPr marL="0" indent="0" algn="ctr">
              <a:lnSpc>
                <a:spcPts val="3250"/>
              </a:lnSpc>
              <a:buNone/>
            </a:pPr>
            <a:r>
              <a:rPr lang="en-US" sz="2050" dirty="0">
                <a:solidFill>
                  <a:srgbClr val="E5E0DF"/>
                </a:solidFill>
                <a:latin typeface="Poppins Light" pitchFamily="34" charset="0"/>
                <a:ea typeface="Poppins Light" pitchFamily="34" charset="-122"/>
                <a:cs typeface="Poppins Light" pitchFamily="34" charset="-120"/>
              </a:rPr>
              <a:t>2</a:t>
            </a:r>
            <a:endParaRPr lang="en-US" sz="2050" dirty="0"/>
          </a:p>
        </p:txBody>
      </p:sp>
      <p:sp>
        <p:nvSpPr>
          <p:cNvPr id="13" name="Text 11"/>
          <p:cNvSpPr/>
          <p:nvPr/>
        </p:nvSpPr>
        <p:spPr>
          <a:xfrm>
            <a:off x="4184592" y="4110374"/>
            <a:ext cx="3597452" cy="295513"/>
          </a:xfrm>
          <a:prstGeom prst="rect">
            <a:avLst/>
          </a:prstGeom>
          <a:noFill/>
          <a:ln/>
        </p:spPr>
        <p:txBody>
          <a:bodyPr wrap="none" lIns="0" tIns="0" rIns="0" bIns="0" rtlCol="0" anchor="t"/>
          <a:lstStyle/>
          <a:p>
            <a:pPr marL="0" indent="0" algn="l">
              <a:lnSpc>
                <a:spcPts val="2300"/>
              </a:lnSpc>
              <a:buNone/>
            </a:pPr>
            <a:r>
              <a:rPr lang="en-US" sz="1850" dirty="0">
                <a:solidFill>
                  <a:srgbClr val="E5E0DF"/>
                </a:solidFill>
                <a:latin typeface="Poppins Light" pitchFamily="34" charset="0"/>
                <a:ea typeface="Poppins Light" pitchFamily="34" charset="-122"/>
                <a:cs typeface="Poppins Light" pitchFamily="34" charset="-120"/>
              </a:rPr>
              <a:t>Medium Risk — 0.40 to 0.60</a:t>
            </a:r>
            <a:endParaRPr lang="en-US" sz="1850" dirty="0"/>
          </a:p>
        </p:txBody>
      </p:sp>
      <p:sp>
        <p:nvSpPr>
          <p:cNvPr id="14" name="Text 12"/>
          <p:cNvSpPr/>
          <p:nvPr/>
        </p:nvSpPr>
        <p:spPr>
          <a:xfrm>
            <a:off x="4224933" y="4473654"/>
            <a:ext cx="9418677" cy="295513"/>
          </a:xfrm>
          <a:prstGeom prst="rect">
            <a:avLst/>
          </a:prstGeom>
          <a:noFill/>
          <a:ln/>
        </p:spPr>
        <p:txBody>
          <a:bodyPr wrap="none" lIns="0" tIns="0" rIns="0" bIns="0" rtlCol="0" anchor="t"/>
          <a:lstStyle/>
          <a:p>
            <a:pPr marL="0" indent="0" algn="l">
              <a:lnSpc>
                <a:spcPts val="2300"/>
              </a:lnSpc>
              <a:buNone/>
            </a:pPr>
            <a:r>
              <a:rPr lang="en-US" sz="1450" dirty="0">
                <a:solidFill>
                  <a:srgbClr val="E5E0DF"/>
                </a:solidFill>
                <a:latin typeface="Roboto Light" pitchFamily="34" charset="0"/>
                <a:ea typeface="Roboto Light" pitchFamily="34" charset="-122"/>
                <a:cs typeface="Roboto Light" pitchFamily="34" charset="-120"/>
              </a:rPr>
              <a:t>Salvageable customers. Proactive engagement through loyalty programs or personalized offers can prevent churn.</a:t>
            </a:r>
            <a:endParaRPr lang="en-US" sz="1450" dirty="0"/>
          </a:p>
        </p:txBody>
      </p:sp>
      <p:sp>
        <p:nvSpPr>
          <p:cNvPr id="15" name="Shape 13"/>
          <p:cNvSpPr/>
          <p:nvPr/>
        </p:nvSpPr>
        <p:spPr>
          <a:xfrm>
            <a:off x="4130397" y="4948714"/>
            <a:ext cx="9648825" cy="11430"/>
          </a:xfrm>
          <a:prstGeom prst="roundRect">
            <a:avLst>
              <a:gd name="adj" fmla="val 695116"/>
            </a:avLst>
          </a:prstGeom>
          <a:solidFill>
            <a:srgbClr val="56565B"/>
          </a:solidFill>
          <a:ln/>
        </p:spPr>
      </p:sp>
      <p:sp>
        <p:nvSpPr>
          <p:cNvPr id="16" name="Shape 14"/>
          <p:cNvSpPr/>
          <p:nvPr/>
        </p:nvSpPr>
        <p:spPr>
          <a:xfrm>
            <a:off x="756642" y="5052774"/>
            <a:ext cx="4918829" cy="1077278"/>
          </a:xfrm>
          <a:prstGeom prst="roundRect">
            <a:avLst>
              <a:gd name="adj" fmla="val 7375"/>
            </a:avLst>
          </a:prstGeom>
          <a:solidFill>
            <a:srgbClr val="3D3D42"/>
          </a:solidFill>
          <a:ln w="7620">
            <a:solidFill>
              <a:srgbClr val="56565B"/>
            </a:solidFill>
            <a:prstDash val="solid"/>
          </a:ln>
        </p:spPr>
      </p:sp>
      <p:sp>
        <p:nvSpPr>
          <p:cNvPr id="17" name="Text 15"/>
          <p:cNvSpPr/>
          <p:nvPr/>
        </p:nvSpPr>
        <p:spPr>
          <a:xfrm>
            <a:off x="3083004" y="5425202"/>
            <a:ext cx="265986" cy="332423"/>
          </a:xfrm>
          <a:prstGeom prst="rect">
            <a:avLst/>
          </a:prstGeom>
          <a:noFill/>
          <a:ln/>
        </p:spPr>
        <p:txBody>
          <a:bodyPr wrap="none" lIns="0" tIns="0" rIns="0" bIns="0" rtlCol="0" anchor="t"/>
          <a:lstStyle/>
          <a:p>
            <a:pPr marL="0" indent="0" algn="ctr">
              <a:lnSpc>
                <a:spcPts val="3250"/>
              </a:lnSpc>
              <a:buNone/>
            </a:pPr>
            <a:r>
              <a:rPr lang="en-US" sz="2050" dirty="0">
                <a:solidFill>
                  <a:srgbClr val="E5E0DF"/>
                </a:solidFill>
                <a:latin typeface="Poppins Light" pitchFamily="34" charset="0"/>
                <a:ea typeface="Poppins Light" pitchFamily="34" charset="-122"/>
                <a:cs typeface="Poppins Light" pitchFamily="34" charset="-120"/>
              </a:rPr>
              <a:t>3</a:t>
            </a:r>
            <a:endParaRPr lang="en-US" sz="2050" dirty="0"/>
          </a:p>
        </p:txBody>
      </p:sp>
      <p:sp>
        <p:nvSpPr>
          <p:cNvPr id="18" name="Text 16"/>
          <p:cNvSpPr/>
          <p:nvPr/>
        </p:nvSpPr>
        <p:spPr>
          <a:xfrm>
            <a:off x="5783861" y="5268740"/>
            <a:ext cx="3165128" cy="308960"/>
          </a:xfrm>
          <a:prstGeom prst="rect">
            <a:avLst/>
          </a:prstGeom>
          <a:noFill/>
          <a:ln/>
        </p:spPr>
        <p:txBody>
          <a:bodyPr wrap="none" lIns="0" tIns="0" rIns="0" bIns="0" rtlCol="0" anchor="t"/>
          <a:lstStyle/>
          <a:p>
            <a:pPr marL="0" indent="0" algn="l">
              <a:lnSpc>
                <a:spcPts val="2300"/>
              </a:lnSpc>
              <a:buNone/>
            </a:pPr>
            <a:r>
              <a:rPr lang="en-US" sz="1850" dirty="0">
                <a:solidFill>
                  <a:srgbClr val="E5E0DF"/>
                </a:solidFill>
                <a:latin typeface="Poppins Light" pitchFamily="34" charset="0"/>
                <a:ea typeface="Poppins Light" pitchFamily="34" charset="-122"/>
                <a:cs typeface="Poppins Light" pitchFamily="34" charset="-120"/>
              </a:rPr>
              <a:t>High Risk — 0.60 to 0.75</a:t>
            </a:r>
            <a:endParaRPr lang="en-US" sz="1850" dirty="0"/>
          </a:p>
        </p:txBody>
      </p:sp>
      <p:sp>
        <p:nvSpPr>
          <p:cNvPr id="19" name="Text 17"/>
          <p:cNvSpPr/>
          <p:nvPr/>
        </p:nvSpPr>
        <p:spPr>
          <a:xfrm>
            <a:off x="5864543" y="5645468"/>
            <a:ext cx="7681793" cy="295513"/>
          </a:xfrm>
          <a:prstGeom prst="rect">
            <a:avLst/>
          </a:prstGeom>
          <a:noFill/>
          <a:ln/>
        </p:spPr>
        <p:txBody>
          <a:bodyPr wrap="none" lIns="0" tIns="0" rIns="0" bIns="0" rtlCol="0" anchor="t"/>
          <a:lstStyle/>
          <a:p>
            <a:pPr marL="0" indent="0" algn="l">
              <a:lnSpc>
                <a:spcPts val="2300"/>
              </a:lnSpc>
              <a:buNone/>
            </a:pPr>
            <a:r>
              <a:rPr lang="en-US" sz="1450" dirty="0">
                <a:solidFill>
                  <a:srgbClr val="E5E0DF"/>
                </a:solidFill>
                <a:latin typeface="Roboto Light" pitchFamily="34" charset="0"/>
                <a:ea typeface="Roboto Light" pitchFamily="34" charset="-122"/>
                <a:cs typeface="Roboto Light" pitchFamily="34" charset="-120"/>
              </a:rPr>
              <a:t>Priority targets. Requires a compelling retention offer or upgrade incentive delivered promptly.</a:t>
            </a:r>
            <a:endParaRPr lang="en-US" sz="1450" dirty="0"/>
          </a:p>
        </p:txBody>
      </p:sp>
      <p:sp>
        <p:nvSpPr>
          <p:cNvPr id="20" name="Shape 18"/>
          <p:cNvSpPr/>
          <p:nvPr/>
        </p:nvSpPr>
        <p:spPr>
          <a:xfrm>
            <a:off x="5770007" y="6120527"/>
            <a:ext cx="8009215" cy="11430"/>
          </a:xfrm>
          <a:prstGeom prst="roundRect">
            <a:avLst>
              <a:gd name="adj" fmla="val 695116"/>
            </a:avLst>
          </a:prstGeom>
          <a:solidFill>
            <a:srgbClr val="56565B"/>
          </a:solidFill>
          <a:ln/>
        </p:spPr>
      </p:sp>
      <p:sp>
        <p:nvSpPr>
          <p:cNvPr id="21" name="Shape 19"/>
          <p:cNvSpPr/>
          <p:nvPr/>
        </p:nvSpPr>
        <p:spPr>
          <a:xfrm>
            <a:off x="756642" y="6224588"/>
            <a:ext cx="6558558" cy="1372791"/>
          </a:xfrm>
          <a:prstGeom prst="roundRect">
            <a:avLst>
              <a:gd name="adj" fmla="val 5788"/>
            </a:avLst>
          </a:prstGeom>
          <a:solidFill>
            <a:srgbClr val="3D3D42"/>
          </a:solidFill>
          <a:ln w="7620">
            <a:solidFill>
              <a:srgbClr val="56565B"/>
            </a:solidFill>
            <a:prstDash val="solid"/>
          </a:ln>
        </p:spPr>
      </p:sp>
      <p:sp>
        <p:nvSpPr>
          <p:cNvPr id="22" name="Text 20"/>
          <p:cNvSpPr/>
          <p:nvPr/>
        </p:nvSpPr>
        <p:spPr>
          <a:xfrm>
            <a:off x="3902869" y="6744772"/>
            <a:ext cx="265986" cy="332423"/>
          </a:xfrm>
          <a:prstGeom prst="rect">
            <a:avLst/>
          </a:prstGeom>
          <a:noFill/>
          <a:ln/>
        </p:spPr>
        <p:txBody>
          <a:bodyPr wrap="none" lIns="0" tIns="0" rIns="0" bIns="0" rtlCol="0" anchor="t"/>
          <a:lstStyle/>
          <a:p>
            <a:pPr marL="0" indent="0" algn="ctr">
              <a:lnSpc>
                <a:spcPts val="3250"/>
              </a:lnSpc>
              <a:buNone/>
            </a:pPr>
            <a:r>
              <a:rPr lang="en-US" sz="2050" dirty="0">
                <a:solidFill>
                  <a:srgbClr val="E5E0DF"/>
                </a:solidFill>
                <a:latin typeface="Poppins Light" pitchFamily="34" charset="0"/>
                <a:ea typeface="Poppins Light" pitchFamily="34" charset="-122"/>
                <a:cs typeface="Poppins Light" pitchFamily="34" charset="-120"/>
              </a:rPr>
              <a:t>4</a:t>
            </a:r>
            <a:endParaRPr lang="en-US" sz="2050" dirty="0"/>
          </a:p>
        </p:txBody>
      </p:sp>
      <p:sp>
        <p:nvSpPr>
          <p:cNvPr id="23" name="Text 21"/>
          <p:cNvSpPr/>
          <p:nvPr/>
        </p:nvSpPr>
        <p:spPr>
          <a:xfrm>
            <a:off x="7504271" y="6467447"/>
            <a:ext cx="3906903" cy="268619"/>
          </a:xfrm>
          <a:prstGeom prst="rect">
            <a:avLst/>
          </a:prstGeom>
          <a:noFill/>
          <a:ln/>
        </p:spPr>
        <p:txBody>
          <a:bodyPr wrap="none" lIns="0" tIns="0" rIns="0" bIns="0" rtlCol="0" anchor="t"/>
          <a:lstStyle/>
          <a:p>
            <a:pPr marL="0" indent="0" algn="l">
              <a:lnSpc>
                <a:spcPts val="2300"/>
              </a:lnSpc>
              <a:buNone/>
            </a:pPr>
            <a:r>
              <a:rPr lang="en-US" sz="1850" dirty="0">
                <a:solidFill>
                  <a:srgbClr val="E5E0DF"/>
                </a:solidFill>
                <a:latin typeface="Poppins Light" pitchFamily="34" charset="0"/>
                <a:ea typeface="Poppins Light" pitchFamily="34" charset="-122"/>
                <a:cs typeface="Poppins Light" pitchFamily="34" charset="-120"/>
              </a:rPr>
              <a:t>Very High Risk — Above 0.75</a:t>
            </a:r>
            <a:endParaRPr lang="en-US" sz="1850" dirty="0"/>
          </a:p>
        </p:txBody>
      </p:sp>
      <p:sp>
        <p:nvSpPr>
          <p:cNvPr id="24" name="Text 22"/>
          <p:cNvSpPr/>
          <p:nvPr/>
        </p:nvSpPr>
        <p:spPr>
          <a:xfrm>
            <a:off x="7504271" y="6817281"/>
            <a:ext cx="6180415" cy="591026"/>
          </a:xfrm>
          <a:prstGeom prst="rect">
            <a:avLst/>
          </a:prstGeom>
          <a:noFill/>
          <a:ln/>
        </p:spPr>
        <p:txBody>
          <a:bodyPr wrap="square" lIns="0" tIns="0" rIns="0" bIns="0" rtlCol="0" anchor="t"/>
          <a:lstStyle/>
          <a:p>
            <a:pPr marL="0" indent="0" algn="l">
              <a:lnSpc>
                <a:spcPts val="2300"/>
              </a:lnSpc>
              <a:buNone/>
            </a:pPr>
            <a:r>
              <a:rPr lang="en-US" sz="1450" dirty="0">
                <a:solidFill>
                  <a:srgbClr val="E5E0DF"/>
                </a:solidFill>
                <a:latin typeface="Roboto Light" pitchFamily="34" charset="0"/>
                <a:ea typeface="Roboto Light" pitchFamily="34" charset="-122"/>
                <a:cs typeface="Roboto Light" pitchFamily="34" charset="-120"/>
              </a:rPr>
              <a:t>Critical intervention required. Immediate outreach — typically a direct retention call — is the recommended action.</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793790" y="1121212"/>
            <a:ext cx="1572935" cy="373142"/>
          </a:xfrm>
          <a:prstGeom prst="roundRect">
            <a:avLst>
              <a:gd name="adj" fmla="val 17872"/>
            </a:avLst>
          </a:prstGeom>
          <a:solidFill>
            <a:srgbClr val="252528"/>
          </a:solidFill>
          <a:ln/>
        </p:spPr>
      </p:sp>
      <p:sp>
        <p:nvSpPr>
          <p:cNvPr id="3" name="Text 1"/>
          <p:cNvSpPr/>
          <p:nvPr/>
        </p:nvSpPr>
        <p:spPr>
          <a:xfrm>
            <a:off x="912852" y="1180743"/>
            <a:ext cx="1334810" cy="254079"/>
          </a:xfrm>
          <a:prstGeom prst="rect">
            <a:avLst/>
          </a:prstGeom>
          <a:noFill/>
          <a:ln/>
        </p:spPr>
        <p:txBody>
          <a:bodyPr wrap="none" lIns="0" tIns="0" rIns="0" bIns="0" rtlCol="0" anchor="t"/>
          <a:lstStyle/>
          <a:p>
            <a:pPr marL="0" indent="0" algn="l">
              <a:lnSpc>
                <a:spcPts val="2000"/>
              </a:lnSpc>
              <a:buNone/>
            </a:pPr>
            <a:r>
              <a:rPr lang="en-US" sz="1250" dirty="0">
                <a:solidFill>
                  <a:srgbClr val="E5E0DF"/>
                </a:solidFill>
                <a:latin typeface="Roboto Light" pitchFamily="34" charset="0"/>
                <a:ea typeface="Roboto Light" pitchFamily="34" charset="-122"/>
                <a:cs typeface="Roboto Light" pitchFamily="34" charset="-120"/>
              </a:rPr>
              <a:t>OUTPUT EXAMPLE</a:t>
            </a:r>
            <a:endParaRPr lang="en-US" sz="1250" dirty="0"/>
          </a:p>
        </p:txBody>
      </p:sp>
      <p:sp>
        <p:nvSpPr>
          <p:cNvPr id="4" name="Text 2"/>
          <p:cNvSpPr/>
          <p:nvPr/>
        </p:nvSpPr>
        <p:spPr>
          <a:xfrm>
            <a:off x="793790" y="1506414"/>
            <a:ext cx="10093796" cy="687313"/>
          </a:xfrm>
          <a:prstGeom prst="rect">
            <a:avLst/>
          </a:prstGeom>
          <a:noFill/>
          <a:ln/>
        </p:spPr>
        <p:txBody>
          <a:bodyPr wrap="none" lIns="0" tIns="0" rIns="0" bIns="0" rtlCol="0" anchor="t"/>
          <a:lstStyle/>
          <a:p>
            <a:pPr marL="0" indent="0" algn="l">
              <a:lnSpc>
                <a:spcPts val="4850"/>
              </a:lnSpc>
              <a:buNone/>
            </a:pPr>
            <a:r>
              <a:rPr lang="en-US" sz="3900" dirty="0">
                <a:solidFill>
                  <a:srgbClr val="F2F2F3"/>
                </a:solidFill>
                <a:latin typeface="Poppins Light" pitchFamily="34" charset="0"/>
                <a:ea typeface="Poppins Light" pitchFamily="34" charset="-122"/>
                <a:cs typeface="Poppins Light" pitchFamily="34" charset="-120"/>
              </a:rPr>
              <a:t>Customer Targeting Output in Practice</a:t>
            </a:r>
            <a:endParaRPr lang="en-US" sz="3900" dirty="0"/>
          </a:p>
        </p:txBody>
      </p:sp>
      <p:sp>
        <p:nvSpPr>
          <p:cNvPr id="5" name="Text 3"/>
          <p:cNvSpPr/>
          <p:nvPr/>
        </p:nvSpPr>
        <p:spPr>
          <a:xfrm>
            <a:off x="793790" y="2491383"/>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The system's output is a structured, ready-to-use targeting list that integrates directly with CRM workflows. Each row gives the marketing team everything they need to take the right action with the right customer — without any manual interpretation required.</a:t>
            </a:r>
            <a:endParaRPr lang="en-US" sz="1550" dirty="0"/>
          </a:p>
        </p:txBody>
      </p:sp>
      <p:sp>
        <p:nvSpPr>
          <p:cNvPr id="6" name="Shape 4"/>
          <p:cNvSpPr/>
          <p:nvPr/>
        </p:nvSpPr>
        <p:spPr>
          <a:xfrm>
            <a:off x="793790" y="3349704"/>
            <a:ext cx="13042821" cy="2900243"/>
          </a:xfrm>
          <a:prstGeom prst="roundRect">
            <a:avLst>
              <a:gd name="adj" fmla="val 2874"/>
            </a:avLst>
          </a:prstGeom>
          <a:noFill/>
          <a:ln w="7620">
            <a:solidFill>
              <a:srgbClr val="FFFFFF">
                <a:alpha val="24000"/>
              </a:srgbClr>
            </a:solidFill>
            <a:prstDash val="solid"/>
          </a:ln>
        </p:spPr>
      </p:sp>
      <p:sp>
        <p:nvSpPr>
          <p:cNvPr id="7" name="Text 5"/>
          <p:cNvSpPr/>
          <p:nvPr/>
        </p:nvSpPr>
        <p:spPr>
          <a:xfrm>
            <a:off x="1000006" y="3484007"/>
            <a:ext cx="1553528" cy="317540"/>
          </a:xfrm>
          <a:prstGeom prst="rect">
            <a:avLst/>
          </a:prstGeom>
          <a:noFill/>
          <a:ln/>
        </p:spPr>
        <p:txBody>
          <a:bodyPr wrap="none" lIns="0" tIns="0" rIns="0" bIns="0" rtlCol="0" anchor="t"/>
          <a:lstStyle/>
          <a:p>
            <a:pPr marL="0" indent="0" algn="l">
              <a:lnSpc>
                <a:spcPts val="2500"/>
              </a:lnSpc>
              <a:buNone/>
            </a:pPr>
            <a:r>
              <a:rPr lang="en-US" sz="1550" b="1" dirty="0">
                <a:solidFill>
                  <a:srgbClr val="E5E0DF"/>
                </a:solidFill>
                <a:latin typeface="Roboto Light" pitchFamily="34" charset="0"/>
                <a:ea typeface="Roboto Light" pitchFamily="34" charset="-122"/>
                <a:cs typeface="Roboto Light" pitchFamily="34" charset="-120"/>
              </a:rPr>
              <a:t>Customer ID</a:t>
            </a:r>
            <a:endParaRPr lang="en-US" sz="1550" dirty="0"/>
          </a:p>
        </p:txBody>
      </p:sp>
      <p:sp>
        <p:nvSpPr>
          <p:cNvPr id="8" name="Text 6"/>
          <p:cNvSpPr/>
          <p:nvPr/>
        </p:nvSpPr>
        <p:spPr>
          <a:xfrm>
            <a:off x="2957870" y="3484007"/>
            <a:ext cx="2201108" cy="317540"/>
          </a:xfrm>
          <a:prstGeom prst="rect">
            <a:avLst/>
          </a:prstGeom>
          <a:noFill/>
          <a:ln/>
        </p:spPr>
        <p:txBody>
          <a:bodyPr wrap="none" lIns="0" tIns="0" rIns="0" bIns="0" rtlCol="0" anchor="t"/>
          <a:lstStyle/>
          <a:p>
            <a:pPr marL="0" indent="0" algn="l">
              <a:lnSpc>
                <a:spcPts val="2500"/>
              </a:lnSpc>
              <a:buNone/>
            </a:pPr>
            <a:r>
              <a:rPr lang="en-US" sz="1550" b="1" dirty="0">
                <a:solidFill>
                  <a:srgbClr val="E5E0DF"/>
                </a:solidFill>
                <a:latin typeface="Roboto Light" pitchFamily="34" charset="0"/>
                <a:ea typeface="Roboto Light" pitchFamily="34" charset="-122"/>
                <a:cs typeface="Roboto Light" pitchFamily="34" charset="-120"/>
              </a:rPr>
              <a:t>Churn Probability</a:t>
            </a:r>
            <a:endParaRPr lang="en-US" sz="1550" dirty="0"/>
          </a:p>
        </p:txBody>
      </p:sp>
      <p:sp>
        <p:nvSpPr>
          <p:cNvPr id="9" name="Text 7"/>
          <p:cNvSpPr/>
          <p:nvPr/>
        </p:nvSpPr>
        <p:spPr>
          <a:xfrm>
            <a:off x="5563314" y="3484007"/>
            <a:ext cx="2201108" cy="317540"/>
          </a:xfrm>
          <a:prstGeom prst="rect">
            <a:avLst/>
          </a:prstGeom>
          <a:noFill/>
          <a:ln/>
        </p:spPr>
        <p:txBody>
          <a:bodyPr wrap="none" lIns="0" tIns="0" rIns="0" bIns="0" rtlCol="0" anchor="t"/>
          <a:lstStyle/>
          <a:p>
            <a:pPr marL="0" indent="0" algn="l">
              <a:lnSpc>
                <a:spcPts val="2500"/>
              </a:lnSpc>
              <a:buNone/>
            </a:pPr>
            <a:r>
              <a:rPr lang="en-US" sz="1550" b="1" dirty="0">
                <a:solidFill>
                  <a:srgbClr val="E5E0DF"/>
                </a:solidFill>
                <a:latin typeface="Roboto Light" pitchFamily="34" charset="0"/>
                <a:ea typeface="Roboto Light" pitchFamily="34" charset="-122"/>
                <a:cs typeface="Roboto Light" pitchFamily="34" charset="-120"/>
              </a:rPr>
              <a:t>Risk Segment</a:t>
            </a:r>
            <a:endParaRPr lang="en-US" sz="1550" dirty="0"/>
          </a:p>
        </p:txBody>
      </p:sp>
      <p:sp>
        <p:nvSpPr>
          <p:cNvPr id="10" name="Text 8"/>
          <p:cNvSpPr/>
          <p:nvPr/>
        </p:nvSpPr>
        <p:spPr>
          <a:xfrm>
            <a:off x="8168759" y="3484007"/>
            <a:ext cx="5461873" cy="317540"/>
          </a:xfrm>
          <a:prstGeom prst="rect">
            <a:avLst/>
          </a:prstGeom>
          <a:noFill/>
          <a:ln/>
        </p:spPr>
        <p:txBody>
          <a:bodyPr wrap="none" lIns="0" tIns="0" rIns="0" bIns="0" rtlCol="0" anchor="t"/>
          <a:lstStyle/>
          <a:p>
            <a:pPr marL="0" indent="0" algn="l">
              <a:lnSpc>
                <a:spcPts val="2500"/>
              </a:lnSpc>
              <a:buNone/>
            </a:pPr>
            <a:r>
              <a:rPr lang="en-US" sz="1550" b="1" dirty="0">
                <a:solidFill>
                  <a:srgbClr val="E5E0DF"/>
                </a:solidFill>
                <a:latin typeface="Roboto Light" pitchFamily="34" charset="0"/>
                <a:ea typeface="Roboto Light" pitchFamily="34" charset="-122"/>
                <a:cs typeface="Roboto Light" pitchFamily="34" charset="-120"/>
              </a:rPr>
              <a:t>Recommended Action</a:t>
            </a:r>
            <a:endParaRPr lang="en-US" sz="1550" dirty="0"/>
          </a:p>
        </p:txBody>
      </p:sp>
      <p:sp>
        <p:nvSpPr>
          <p:cNvPr id="11" name="Text 9"/>
          <p:cNvSpPr/>
          <p:nvPr/>
        </p:nvSpPr>
        <p:spPr>
          <a:xfrm>
            <a:off x="1000006" y="4062532"/>
            <a:ext cx="1553528" cy="317540"/>
          </a:xfrm>
          <a:prstGeom prst="rect">
            <a:avLst/>
          </a:prstGeom>
          <a:noFill/>
          <a:ln/>
        </p:spPr>
        <p:txBody>
          <a:bodyPr wrap="non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7590</a:t>
            </a:r>
            <a:endParaRPr lang="en-US" sz="1550" dirty="0"/>
          </a:p>
        </p:txBody>
      </p:sp>
      <p:sp>
        <p:nvSpPr>
          <p:cNvPr id="12" name="Text 10"/>
          <p:cNvSpPr/>
          <p:nvPr/>
        </p:nvSpPr>
        <p:spPr>
          <a:xfrm>
            <a:off x="2957870" y="4062532"/>
            <a:ext cx="2201108" cy="317540"/>
          </a:xfrm>
          <a:prstGeom prst="rect">
            <a:avLst/>
          </a:prstGeom>
          <a:noFill/>
          <a:ln/>
        </p:spPr>
        <p:txBody>
          <a:bodyPr wrap="non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0.82</a:t>
            </a:r>
            <a:endParaRPr lang="en-US" sz="1550" dirty="0"/>
          </a:p>
        </p:txBody>
      </p:sp>
      <p:sp>
        <p:nvSpPr>
          <p:cNvPr id="13" name="Text 11"/>
          <p:cNvSpPr/>
          <p:nvPr/>
        </p:nvSpPr>
        <p:spPr>
          <a:xfrm>
            <a:off x="5563314" y="4062532"/>
            <a:ext cx="2201108" cy="317540"/>
          </a:xfrm>
          <a:prstGeom prst="rect">
            <a:avLst/>
          </a:prstGeom>
          <a:noFill/>
          <a:ln/>
        </p:spPr>
        <p:txBody>
          <a:bodyPr wrap="non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Very High</a:t>
            </a:r>
            <a:endParaRPr lang="en-US" sz="1550" dirty="0"/>
          </a:p>
        </p:txBody>
      </p:sp>
      <p:sp>
        <p:nvSpPr>
          <p:cNvPr id="14" name="Text 12"/>
          <p:cNvSpPr/>
          <p:nvPr/>
        </p:nvSpPr>
        <p:spPr>
          <a:xfrm>
            <a:off x="8168759" y="4062532"/>
            <a:ext cx="5461873" cy="317540"/>
          </a:xfrm>
          <a:prstGeom prst="rect">
            <a:avLst/>
          </a:prstGeom>
          <a:noFill/>
          <a:ln/>
        </p:spPr>
        <p:txBody>
          <a:bodyPr wrap="non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Immediate retention call — priority escalation</a:t>
            </a:r>
            <a:endParaRPr lang="en-US" sz="1550" dirty="0"/>
          </a:p>
        </p:txBody>
      </p:sp>
      <p:sp>
        <p:nvSpPr>
          <p:cNvPr id="15" name="Text 13"/>
          <p:cNvSpPr/>
          <p:nvPr/>
        </p:nvSpPr>
        <p:spPr>
          <a:xfrm>
            <a:off x="1000006" y="4641056"/>
            <a:ext cx="1553528" cy="317540"/>
          </a:xfrm>
          <a:prstGeom prst="rect">
            <a:avLst/>
          </a:prstGeom>
          <a:noFill/>
          <a:ln/>
        </p:spPr>
        <p:txBody>
          <a:bodyPr wrap="non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5575</a:t>
            </a:r>
            <a:endParaRPr lang="en-US" sz="1550" dirty="0"/>
          </a:p>
        </p:txBody>
      </p:sp>
      <p:sp>
        <p:nvSpPr>
          <p:cNvPr id="16" name="Text 14"/>
          <p:cNvSpPr/>
          <p:nvPr/>
        </p:nvSpPr>
        <p:spPr>
          <a:xfrm>
            <a:off x="2957870" y="4641056"/>
            <a:ext cx="2201108" cy="317540"/>
          </a:xfrm>
          <a:prstGeom prst="rect">
            <a:avLst/>
          </a:prstGeom>
          <a:noFill/>
          <a:ln/>
        </p:spPr>
        <p:txBody>
          <a:bodyPr wrap="non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0.65</a:t>
            </a:r>
            <a:endParaRPr lang="en-US" sz="1550" dirty="0"/>
          </a:p>
        </p:txBody>
      </p:sp>
      <p:sp>
        <p:nvSpPr>
          <p:cNvPr id="17" name="Text 15"/>
          <p:cNvSpPr/>
          <p:nvPr/>
        </p:nvSpPr>
        <p:spPr>
          <a:xfrm>
            <a:off x="5563314" y="4641056"/>
            <a:ext cx="2201108" cy="317540"/>
          </a:xfrm>
          <a:prstGeom prst="rect">
            <a:avLst/>
          </a:prstGeom>
          <a:noFill/>
          <a:ln/>
        </p:spPr>
        <p:txBody>
          <a:bodyPr wrap="non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High</a:t>
            </a:r>
            <a:endParaRPr lang="en-US" sz="1550" dirty="0"/>
          </a:p>
        </p:txBody>
      </p:sp>
      <p:sp>
        <p:nvSpPr>
          <p:cNvPr id="18" name="Text 16"/>
          <p:cNvSpPr/>
          <p:nvPr/>
        </p:nvSpPr>
        <p:spPr>
          <a:xfrm>
            <a:off x="8168759" y="4641056"/>
            <a:ext cx="5461873" cy="317540"/>
          </a:xfrm>
          <a:prstGeom prst="rect">
            <a:avLst/>
          </a:prstGeom>
          <a:noFill/>
          <a:ln/>
        </p:spPr>
        <p:txBody>
          <a:bodyPr wrap="non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Offer targeted promotion or service upgrade</a:t>
            </a:r>
            <a:endParaRPr lang="en-US" sz="1550" dirty="0"/>
          </a:p>
        </p:txBody>
      </p:sp>
      <p:sp>
        <p:nvSpPr>
          <p:cNvPr id="19" name="Text 17"/>
          <p:cNvSpPr/>
          <p:nvPr/>
        </p:nvSpPr>
        <p:spPr>
          <a:xfrm>
            <a:off x="1000006" y="5219581"/>
            <a:ext cx="1553528" cy="317540"/>
          </a:xfrm>
          <a:prstGeom prst="rect">
            <a:avLst/>
          </a:prstGeom>
          <a:noFill/>
          <a:ln/>
        </p:spPr>
        <p:txBody>
          <a:bodyPr wrap="non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3668</a:t>
            </a:r>
            <a:endParaRPr lang="en-US" sz="1550" dirty="0"/>
          </a:p>
        </p:txBody>
      </p:sp>
      <p:sp>
        <p:nvSpPr>
          <p:cNvPr id="20" name="Text 18"/>
          <p:cNvSpPr/>
          <p:nvPr/>
        </p:nvSpPr>
        <p:spPr>
          <a:xfrm>
            <a:off x="2957870" y="5219581"/>
            <a:ext cx="2201108" cy="317540"/>
          </a:xfrm>
          <a:prstGeom prst="rect">
            <a:avLst/>
          </a:prstGeom>
          <a:noFill/>
          <a:ln/>
        </p:spPr>
        <p:txBody>
          <a:bodyPr wrap="non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0.50</a:t>
            </a:r>
            <a:endParaRPr lang="en-US" sz="1550" dirty="0"/>
          </a:p>
        </p:txBody>
      </p:sp>
      <p:sp>
        <p:nvSpPr>
          <p:cNvPr id="21" name="Text 19"/>
          <p:cNvSpPr/>
          <p:nvPr/>
        </p:nvSpPr>
        <p:spPr>
          <a:xfrm>
            <a:off x="5563314" y="5219581"/>
            <a:ext cx="2201108" cy="317540"/>
          </a:xfrm>
          <a:prstGeom prst="rect">
            <a:avLst/>
          </a:prstGeom>
          <a:noFill/>
          <a:ln/>
        </p:spPr>
        <p:txBody>
          <a:bodyPr wrap="non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Medium</a:t>
            </a:r>
            <a:endParaRPr lang="en-US" sz="1550" dirty="0"/>
          </a:p>
        </p:txBody>
      </p:sp>
      <p:sp>
        <p:nvSpPr>
          <p:cNvPr id="22" name="Text 20"/>
          <p:cNvSpPr/>
          <p:nvPr/>
        </p:nvSpPr>
        <p:spPr>
          <a:xfrm>
            <a:off x="8168759" y="5219581"/>
            <a:ext cx="5461873" cy="317540"/>
          </a:xfrm>
          <a:prstGeom prst="rect">
            <a:avLst/>
          </a:prstGeom>
          <a:noFill/>
          <a:ln/>
        </p:spPr>
        <p:txBody>
          <a:bodyPr wrap="non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Enroll in loyalty program with personalized touchpoint</a:t>
            </a:r>
            <a:endParaRPr lang="en-US" sz="1550" dirty="0"/>
          </a:p>
        </p:txBody>
      </p:sp>
      <p:sp>
        <p:nvSpPr>
          <p:cNvPr id="23" name="Text 21"/>
          <p:cNvSpPr/>
          <p:nvPr/>
        </p:nvSpPr>
        <p:spPr>
          <a:xfrm>
            <a:off x="1000006" y="5798106"/>
            <a:ext cx="1553528" cy="317540"/>
          </a:xfrm>
          <a:prstGeom prst="rect">
            <a:avLst/>
          </a:prstGeom>
          <a:noFill/>
          <a:ln/>
        </p:spPr>
        <p:txBody>
          <a:bodyPr wrap="non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1042</a:t>
            </a:r>
            <a:endParaRPr lang="en-US" sz="1550" dirty="0"/>
          </a:p>
        </p:txBody>
      </p:sp>
      <p:sp>
        <p:nvSpPr>
          <p:cNvPr id="24" name="Text 22"/>
          <p:cNvSpPr/>
          <p:nvPr/>
        </p:nvSpPr>
        <p:spPr>
          <a:xfrm>
            <a:off x="2957870" y="5798106"/>
            <a:ext cx="2201108" cy="317540"/>
          </a:xfrm>
          <a:prstGeom prst="rect">
            <a:avLst/>
          </a:prstGeom>
          <a:noFill/>
          <a:ln/>
        </p:spPr>
        <p:txBody>
          <a:bodyPr wrap="non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0.31</a:t>
            </a:r>
            <a:endParaRPr lang="en-US" sz="1550" dirty="0"/>
          </a:p>
        </p:txBody>
      </p:sp>
      <p:sp>
        <p:nvSpPr>
          <p:cNvPr id="25" name="Text 23"/>
          <p:cNvSpPr/>
          <p:nvPr/>
        </p:nvSpPr>
        <p:spPr>
          <a:xfrm>
            <a:off x="5563314" y="5798106"/>
            <a:ext cx="2201108" cy="317540"/>
          </a:xfrm>
          <a:prstGeom prst="rect">
            <a:avLst/>
          </a:prstGeom>
          <a:noFill/>
          <a:ln/>
        </p:spPr>
        <p:txBody>
          <a:bodyPr wrap="non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Low</a:t>
            </a:r>
            <a:endParaRPr lang="en-US" sz="1550" dirty="0"/>
          </a:p>
        </p:txBody>
      </p:sp>
      <p:sp>
        <p:nvSpPr>
          <p:cNvPr id="26" name="Text 24"/>
          <p:cNvSpPr/>
          <p:nvPr/>
        </p:nvSpPr>
        <p:spPr>
          <a:xfrm>
            <a:off x="8168759" y="5798106"/>
            <a:ext cx="5461873" cy="317540"/>
          </a:xfrm>
          <a:prstGeom prst="rect">
            <a:avLst/>
          </a:prstGeom>
          <a:noFill/>
          <a:ln/>
        </p:spPr>
        <p:txBody>
          <a:bodyPr wrap="non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No action — standard service experience</a:t>
            </a:r>
            <a:endParaRPr lang="en-US" sz="1550" dirty="0"/>
          </a:p>
        </p:txBody>
      </p:sp>
      <p:sp>
        <p:nvSpPr>
          <p:cNvPr id="27" name="Text 25"/>
          <p:cNvSpPr/>
          <p:nvPr/>
        </p:nvSpPr>
        <p:spPr>
          <a:xfrm>
            <a:off x="793790" y="6473190"/>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This output format is designed for immediate ingestion by CRM systems and marketing automation platforms, minimizing the time between prediction and action.</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793790" y="1098590"/>
            <a:ext cx="1891903" cy="373142"/>
          </a:xfrm>
          <a:prstGeom prst="roundRect">
            <a:avLst>
              <a:gd name="adj" fmla="val 17872"/>
            </a:avLst>
          </a:prstGeom>
          <a:solidFill>
            <a:srgbClr val="252528"/>
          </a:solidFill>
          <a:ln/>
        </p:spPr>
      </p:sp>
      <p:sp>
        <p:nvSpPr>
          <p:cNvPr id="3" name="Text 1"/>
          <p:cNvSpPr/>
          <p:nvPr/>
        </p:nvSpPr>
        <p:spPr>
          <a:xfrm>
            <a:off x="912852" y="1158121"/>
            <a:ext cx="1653778" cy="254079"/>
          </a:xfrm>
          <a:prstGeom prst="rect">
            <a:avLst/>
          </a:prstGeom>
          <a:noFill/>
          <a:ln/>
        </p:spPr>
        <p:txBody>
          <a:bodyPr wrap="none" lIns="0" tIns="0" rIns="0" bIns="0" rtlCol="0" anchor="t"/>
          <a:lstStyle/>
          <a:p>
            <a:pPr marL="0" indent="0" algn="l">
              <a:lnSpc>
                <a:spcPts val="2000"/>
              </a:lnSpc>
              <a:buNone/>
            </a:pPr>
            <a:r>
              <a:rPr lang="en-US" sz="1250" dirty="0">
                <a:solidFill>
                  <a:srgbClr val="E5E0DF"/>
                </a:solidFill>
                <a:latin typeface="Roboto Light" pitchFamily="34" charset="0"/>
                <a:ea typeface="Roboto Light" pitchFamily="34" charset="-122"/>
                <a:cs typeface="Roboto Light" pitchFamily="34" charset="-120"/>
              </a:rPr>
              <a:t>TARGETING STRATEGY</a:t>
            </a:r>
            <a:endParaRPr lang="en-US" sz="1250" dirty="0"/>
          </a:p>
        </p:txBody>
      </p:sp>
      <p:sp>
        <p:nvSpPr>
          <p:cNvPr id="4" name="Text 2"/>
          <p:cNvSpPr/>
          <p:nvPr/>
        </p:nvSpPr>
        <p:spPr>
          <a:xfrm>
            <a:off x="780343" y="1483792"/>
            <a:ext cx="13036516" cy="687313"/>
          </a:xfrm>
          <a:prstGeom prst="rect">
            <a:avLst/>
          </a:prstGeom>
          <a:noFill/>
          <a:ln/>
        </p:spPr>
        <p:txBody>
          <a:bodyPr wrap="none" lIns="0" tIns="0" rIns="0" bIns="0" rtlCol="0" anchor="t"/>
          <a:lstStyle/>
          <a:p>
            <a:pPr marL="0" indent="0" algn="l">
              <a:lnSpc>
                <a:spcPts val="4850"/>
              </a:lnSpc>
              <a:buNone/>
            </a:pPr>
            <a:r>
              <a:rPr lang="en-US" sz="3900" dirty="0">
                <a:solidFill>
                  <a:srgbClr val="F2F2F3"/>
                </a:solidFill>
                <a:latin typeface="Poppins Light" pitchFamily="34" charset="0"/>
                <a:ea typeface="Poppins Light" pitchFamily="34" charset="-122"/>
                <a:cs typeface="Poppins Light" pitchFamily="34" charset="-120"/>
              </a:rPr>
              <a:t>Maximizing Retention ROI Through Smart Targeting</a:t>
            </a:r>
            <a:endParaRPr lang="en-US" sz="3900" dirty="0"/>
          </a:p>
        </p:txBody>
      </p:sp>
      <p:sp>
        <p:nvSpPr>
          <p:cNvPr id="5" name="Text 3"/>
          <p:cNvSpPr/>
          <p:nvPr/>
        </p:nvSpPr>
        <p:spPr>
          <a:xfrm>
            <a:off x="793790" y="2468761"/>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Targeting every customer equally is neither efficient nor effective. The strategy concentrates resources where they generate the greatest return: the top 20% of highest-risk customers represent a disproportionate share of recoverable revenue.</a:t>
            </a:r>
            <a:endParaRPr lang="en-US" sz="1550" dirty="0"/>
          </a:p>
        </p:txBody>
      </p:sp>
      <p:sp>
        <p:nvSpPr>
          <p:cNvPr id="6" name="Text 4"/>
          <p:cNvSpPr/>
          <p:nvPr/>
        </p:nvSpPr>
        <p:spPr>
          <a:xfrm>
            <a:off x="793790" y="3525441"/>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F2F2F3"/>
                </a:solidFill>
                <a:latin typeface="Poppins Light" pitchFamily="34" charset="0"/>
                <a:ea typeface="Poppins Light" pitchFamily="34" charset="-122"/>
                <a:cs typeface="Poppins Light" pitchFamily="34" charset="-120"/>
              </a:rPr>
              <a:t>Who to Target</a:t>
            </a:r>
            <a:endParaRPr lang="en-US" sz="1950" dirty="0"/>
          </a:p>
        </p:txBody>
      </p:sp>
      <p:sp>
        <p:nvSpPr>
          <p:cNvPr id="7" name="Shape 5"/>
          <p:cNvSpPr/>
          <p:nvPr/>
        </p:nvSpPr>
        <p:spPr>
          <a:xfrm>
            <a:off x="793790" y="4058841"/>
            <a:ext cx="3378637" cy="2848808"/>
          </a:xfrm>
          <a:prstGeom prst="roundRect">
            <a:avLst>
              <a:gd name="adj" fmla="val 3852"/>
            </a:avLst>
          </a:prstGeom>
          <a:solidFill>
            <a:srgbClr val="050505"/>
          </a:solidFill>
          <a:ln w="22860">
            <a:solidFill>
              <a:srgbClr val="56565B"/>
            </a:solidFill>
            <a:prstDash val="solid"/>
          </a:ln>
        </p:spPr>
      </p:sp>
      <p:sp>
        <p:nvSpPr>
          <p:cNvPr id="8" name="Shape 6"/>
          <p:cNvSpPr/>
          <p:nvPr/>
        </p:nvSpPr>
        <p:spPr>
          <a:xfrm>
            <a:off x="770930" y="4058841"/>
            <a:ext cx="91440" cy="2848808"/>
          </a:xfrm>
          <a:prstGeom prst="roundRect">
            <a:avLst>
              <a:gd name="adj" fmla="val 91163"/>
            </a:avLst>
          </a:prstGeom>
          <a:solidFill>
            <a:srgbClr val="F2F2F3"/>
          </a:solidFill>
          <a:ln/>
        </p:spPr>
      </p:sp>
      <p:sp>
        <p:nvSpPr>
          <p:cNvPr id="9" name="Text 7"/>
          <p:cNvSpPr/>
          <p:nvPr/>
        </p:nvSpPr>
        <p:spPr>
          <a:xfrm>
            <a:off x="1083588" y="4280059"/>
            <a:ext cx="2867620" cy="620316"/>
          </a:xfrm>
          <a:prstGeom prst="rect">
            <a:avLst/>
          </a:prstGeom>
          <a:noFill/>
          <a:ln/>
        </p:spPr>
        <p:txBody>
          <a:bodyPr wrap="square" lIns="0" tIns="0" rIns="0" bIns="0" rtlCol="0" anchor="t"/>
          <a:lstStyle/>
          <a:p>
            <a:pPr marL="0" indent="0" algn="l">
              <a:lnSpc>
                <a:spcPts val="2400"/>
              </a:lnSpc>
              <a:buNone/>
            </a:pPr>
            <a:r>
              <a:rPr lang="en-US" sz="1950" dirty="0">
                <a:solidFill>
                  <a:srgbClr val="E5E0DF"/>
                </a:solidFill>
                <a:latin typeface="Poppins Light" pitchFamily="34" charset="0"/>
                <a:ea typeface="Poppins Light" pitchFamily="34" charset="-122"/>
                <a:cs typeface="Poppins Light" pitchFamily="34" charset="-120"/>
              </a:rPr>
              <a:t>Top 20% Highest-Risk Customers</a:t>
            </a:r>
            <a:endParaRPr lang="en-US" sz="1950" dirty="0"/>
          </a:p>
        </p:txBody>
      </p:sp>
      <p:sp>
        <p:nvSpPr>
          <p:cNvPr id="10" name="Text 8"/>
          <p:cNvSpPr/>
          <p:nvPr/>
        </p:nvSpPr>
        <p:spPr>
          <a:xfrm>
            <a:off x="1083588" y="5098733"/>
            <a:ext cx="2867620" cy="1587698"/>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Statistically, this group accounts for the majority of actual churn events — concentrating effort here maximizes detection efficiency.</a:t>
            </a:r>
            <a:endParaRPr lang="en-US" sz="1550" dirty="0"/>
          </a:p>
        </p:txBody>
      </p:sp>
      <p:sp>
        <p:nvSpPr>
          <p:cNvPr id="11" name="Shape 9"/>
          <p:cNvSpPr/>
          <p:nvPr/>
        </p:nvSpPr>
        <p:spPr>
          <a:xfrm>
            <a:off x="4370784" y="4058841"/>
            <a:ext cx="3378637" cy="2848808"/>
          </a:xfrm>
          <a:prstGeom prst="roundRect">
            <a:avLst>
              <a:gd name="adj" fmla="val 3852"/>
            </a:avLst>
          </a:prstGeom>
          <a:solidFill>
            <a:srgbClr val="050505"/>
          </a:solidFill>
          <a:ln w="22860">
            <a:solidFill>
              <a:srgbClr val="56565B"/>
            </a:solidFill>
            <a:prstDash val="solid"/>
          </a:ln>
        </p:spPr>
      </p:sp>
      <p:sp>
        <p:nvSpPr>
          <p:cNvPr id="12" name="Shape 10"/>
          <p:cNvSpPr/>
          <p:nvPr/>
        </p:nvSpPr>
        <p:spPr>
          <a:xfrm>
            <a:off x="4347924" y="4058841"/>
            <a:ext cx="91440" cy="2848808"/>
          </a:xfrm>
          <a:prstGeom prst="roundRect">
            <a:avLst>
              <a:gd name="adj" fmla="val 91163"/>
            </a:avLst>
          </a:prstGeom>
          <a:solidFill>
            <a:srgbClr val="F2F2F3"/>
          </a:solidFill>
          <a:ln/>
        </p:spPr>
      </p:sp>
      <p:sp>
        <p:nvSpPr>
          <p:cNvPr id="13" name="Text 11"/>
          <p:cNvSpPr/>
          <p:nvPr/>
        </p:nvSpPr>
        <p:spPr>
          <a:xfrm>
            <a:off x="4660583" y="4280059"/>
            <a:ext cx="2867620" cy="620316"/>
          </a:xfrm>
          <a:prstGeom prst="rect">
            <a:avLst/>
          </a:prstGeom>
          <a:noFill/>
          <a:ln/>
        </p:spPr>
        <p:txBody>
          <a:bodyPr wrap="square" lIns="0" tIns="0" rIns="0" bIns="0" rtlCol="0" anchor="t"/>
          <a:lstStyle/>
          <a:p>
            <a:pPr marL="0" indent="0" algn="l">
              <a:lnSpc>
                <a:spcPts val="2400"/>
              </a:lnSpc>
              <a:buNone/>
            </a:pPr>
            <a:r>
              <a:rPr lang="en-US" sz="1950" dirty="0">
                <a:solidFill>
                  <a:srgbClr val="E5E0DF"/>
                </a:solidFill>
                <a:latin typeface="Poppins Light" pitchFamily="34" charset="0"/>
                <a:ea typeface="Poppins Light" pitchFamily="34" charset="-122"/>
                <a:cs typeface="Poppins Light" pitchFamily="34" charset="-120"/>
              </a:rPr>
              <a:t>Medium and High Risk Segments</a:t>
            </a:r>
            <a:endParaRPr lang="en-US" sz="1950" dirty="0"/>
          </a:p>
        </p:txBody>
      </p:sp>
      <p:sp>
        <p:nvSpPr>
          <p:cNvPr id="14" name="Text 12"/>
          <p:cNvSpPr/>
          <p:nvPr/>
        </p:nvSpPr>
        <p:spPr>
          <a:xfrm>
            <a:off x="4660583" y="5098733"/>
            <a:ext cx="2867620" cy="1587698"/>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These customers have a meaningful probability of churning but are still engaged enough to be influenced by a well-timed retention offer.</a:t>
            </a:r>
            <a:endParaRPr lang="en-US" sz="1550" dirty="0"/>
          </a:p>
        </p:txBody>
      </p:sp>
      <p:sp>
        <p:nvSpPr>
          <p:cNvPr id="15" name="Shape 13"/>
          <p:cNvSpPr/>
          <p:nvPr/>
        </p:nvSpPr>
        <p:spPr>
          <a:xfrm>
            <a:off x="8098274" y="3327083"/>
            <a:ext cx="5888712" cy="3803809"/>
          </a:xfrm>
          <a:prstGeom prst="roundRect">
            <a:avLst>
              <a:gd name="adj" fmla="val 3757"/>
            </a:avLst>
          </a:prstGeom>
          <a:solidFill>
            <a:srgbClr val="F2F2F3"/>
          </a:solidFill>
          <a:ln/>
        </p:spPr>
      </p:sp>
      <p:sp>
        <p:nvSpPr>
          <p:cNvPr id="16" name="Text 14"/>
          <p:cNvSpPr/>
          <p:nvPr/>
        </p:nvSpPr>
        <p:spPr>
          <a:xfrm>
            <a:off x="8296632" y="3525441"/>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000000"/>
                </a:solidFill>
                <a:latin typeface="Poppins Light" pitchFamily="34" charset="0"/>
                <a:ea typeface="Poppins Light" pitchFamily="34" charset="-122"/>
                <a:cs typeface="Poppins Light" pitchFamily="34" charset="-120"/>
              </a:rPr>
              <a:t>Who Not to Target</a:t>
            </a:r>
            <a:endParaRPr lang="en-US" sz="1950" dirty="0"/>
          </a:p>
        </p:txBody>
      </p:sp>
      <p:sp>
        <p:nvSpPr>
          <p:cNvPr id="17" name="Text 15"/>
          <p:cNvSpPr/>
          <p:nvPr/>
        </p:nvSpPr>
        <p:spPr>
          <a:xfrm>
            <a:off x="8296632" y="4033957"/>
            <a:ext cx="5491996" cy="127015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Roboto Light" pitchFamily="34" charset="0"/>
                <a:ea typeface="Roboto Light" pitchFamily="34" charset="-122"/>
                <a:cs typeface="Roboto Light" pitchFamily="34" charset="-120"/>
              </a:rPr>
              <a:t>Very low-risk customers should be excluded from active campaigns. Unnecessary outreach inflates costs, dilutes campaign effectiveness, and can create friction for satisfied customers.</a:t>
            </a:r>
            <a:endParaRPr lang="en-US" sz="1550" dirty="0"/>
          </a:p>
        </p:txBody>
      </p:sp>
      <p:sp>
        <p:nvSpPr>
          <p:cNvPr id="18" name="Text 16"/>
          <p:cNvSpPr/>
          <p:nvPr/>
        </p:nvSpPr>
        <p:spPr>
          <a:xfrm>
            <a:off x="8296632" y="5482709"/>
            <a:ext cx="5491996" cy="63507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Roboto Light" pitchFamily="34" charset="0"/>
                <a:ea typeface="Roboto Light" pitchFamily="34" charset="-122"/>
                <a:cs typeface="Roboto Light" pitchFamily="34" charset="-120"/>
              </a:rPr>
              <a:t>Very high-risk customers with declining engagement may require specialized win-back tactics beyond standard retention.</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682228" y="475178"/>
            <a:ext cx="1729026" cy="305038"/>
          </a:xfrm>
          <a:prstGeom prst="roundRect">
            <a:avLst>
              <a:gd name="adj" fmla="val 18788"/>
            </a:avLst>
          </a:prstGeom>
          <a:solidFill>
            <a:srgbClr val="252528"/>
          </a:solidFill>
          <a:ln/>
        </p:spPr>
      </p:sp>
      <p:sp>
        <p:nvSpPr>
          <p:cNvPr id="3" name="Text 1"/>
          <p:cNvSpPr/>
          <p:nvPr/>
        </p:nvSpPr>
        <p:spPr>
          <a:xfrm>
            <a:off x="784503" y="526256"/>
            <a:ext cx="1524476" cy="202883"/>
          </a:xfrm>
          <a:prstGeom prst="rect">
            <a:avLst/>
          </a:prstGeom>
          <a:noFill/>
          <a:ln/>
        </p:spPr>
        <p:txBody>
          <a:bodyPr wrap="none" lIns="0" tIns="0" rIns="0" bIns="0" rtlCol="0" anchor="t"/>
          <a:lstStyle/>
          <a:p>
            <a:pPr marL="0" indent="0" algn="l">
              <a:lnSpc>
                <a:spcPts val="1550"/>
              </a:lnSpc>
              <a:buNone/>
            </a:pPr>
            <a:r>
              <a:rPr lang="en-US" sz="1050" dirty="0">
                <a:solidFill>
                  <a:srgbClr val="E5E0DF"/>
                </a:solidFill>
                <a:latin typeface="Roboto Light" pitchFamily="34" charset="0"/>
                <a:ea typeface="Roboto Light" pitchFamily="34" charset="-122"/>
                <a:cs typeface="Roboto Light" pitchFamily="34" charset="-120"/>
              </a:rPr>
              <a:t>SYSTEM ARCHITECTURE</a:t>
            </a:r>
            <a:endParaRPr lang="en-US" sz="1050" dirty="0"/>
          </a:p>
        </p:txBody>
      </p:sp>
      <p:sp>
        <p:nvSpPr>
          <p:cNvPr id="4" name="Text 2"/>
          <p:cNvSpPr/>
          <p:nvPr/>
        </p:nvSpPr>
        <p:spPr>
          <a:xfrm>
            <a:off x="762910" y="798454"/>
            <a:ext cx="7693497" cy="573265"/>
          </a:xfrm>
          <a:prstGeom prst="rect">
            <a:avLst/>
          </a:prstGeom>
          <a:noFill/>
          <a:ln/>
        </p:spPr>
        <p:txBody>
          <a:bodyPr wrap="none" lIns="0" tIns="0" rIns="0" bIns="0" rtlCol="0" anchor="t"/>
          <a:lstStyle/>
          <a:p>
            <a:pPr marL="0" indent="0" algn="l">
              <a:lnSpc>
                <a:spcPts val="4150"/>
              </a:lnSpc>
              <a:buNone/>
            </a:pPr>
            <a:r>
              <a:rPr lang="en-US" sz="3350" dirty="0">
                <a:solidFill>
                  <a:srgbClr val="F2F2F3"/>
                </a:solidFill>
                <a:latin typeface="Poppins Light" pitchFamily="34" charset="0"/>
                <a:ea typeface="Poppins Light" pitchFamily="34" charset="-122"/>
                <a:cs typeface="Poppins Light" pitchFamily="34" charset="-120"/>
              </a:rPr>
              <a:t>End-to-End Pipeline Architecture</a:t>
            </a:r>
            <a:endParaRPr lang="en-US" sz="3350" dirty="0"/>
          </a:p>
        </p:txBody>
      </p:sp>
      <p:sp>
        <p:nvSpPr>
          <p:cNvPr id="5" name="Text 3"/>
          <p:cNvSpPr/>
          <p:nvPr/>
        </p:nvSpPr>
        <p:spPr>
          <a:xfrm>
            <a:off x="682228" y="1591508"/>
            <a:ext cx="13265944" cy="507444"/>
          </a:xfrm>
          <a:prstGeom prst="rect">
            <a:avLst/>
          </a:prstGeom>
          <a:noFill/>
          <a:ln/>
        </p:spPr>
        <p:txBody>
          <a:bodyPr wrap="square" lIns="0" tIns="0" rIns="0" bIns="0" rtlCol="0" anchor="t"/>
          <a:lstStyle/>
          <a:p>
            <a:pPr marL="0" indent="0" algn="l">
              <a:lnSpc>
                <a:spcPts val="1950"/>
              </a:lnSpc>
              <a:buNone/>
            </a:pPr>
            <a:r>
              <a:rPr lang="en-US" sz="1300" dirty="0">
                <a:solidFill>
                  <a:srgbClr val="E5E0DF"/>
                </a:solidFill>
                <a:latin typeface="Roboto Light" pitchFamily="34" charset="0"/>
                <a:ea typeface="Roboto Light" pitchFamily="34" charset="-122"/>
                <a:cs typeface="Roboto Light" pitchFamily="34" charset="-120"/>
              </a:rPr>
              <a:t>The data product operates as a fully automated pipeline — from raw CRM data to actionable targeting lists — running on a weekly scoring cadence with monthly model retraining to maintain predictive accuracy as customer behavior evolves.</a:t>
            </a:r>
            <a:endParaRPr lang="en-US" sz="1300" dirty="0"/>
          </a:p>
        </p:txBody>
      </p:sp>
      <p:pic>
        <p:nvPicPr>
          <p:cNvPr id="6" name="Image 0" descr="preencoded.png"/>
          <p:cNvPicPr>
            <a:picLocks noChangeAspect="1"/>
          </p:cNvPicPr>
          <p:nvPr/>
        </p:nvPicPr>
        <p:blipFill>
          <a:blip r:embed="rId3"/>
          <a:stretch>
            <a:fillRect/>
          </a:stretch>
        </p:blipFill>
        <p:spPr>
          <a:xfrm>
            <a:off x="894636" y="2263735"/>
            <a:ext cx="12841010" cy="4818459"/>
          </a:xfrm>
          <a:prstGeom prst="rect">
            <a:avLst/>
          </a:prstGeom>
        </p:spPr>
      </p:pic>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860927" y="3491083"/>
            <a:ext cx="663280" cy="663280"/>
          </a:xfrm>
          <a:prstGeom prst="rect">
            <a:avLst/>
          </a:prstGeom>
        </p:spPr>
      </p:pic>
      <p:sp>
        <p:nvSpPr>
          <p:cNvPr id="8" name="Text 4"/>
          <p:cNvSpPr/>
          <p:nvPr/>
        </p:nvSpPr>
        <p:spPr>
          <a:xfrm>
            <a:off x="11269987" y="5912469"/>
            <a:ext cx="1936777" cy="373095"/>
          </a:xfrm>
          <a:prstGeom prst="rect">
            <a:avLst/>
          </a:prstGeom>
          <a:noFill/>
          <a:ln/>
        </p:spPr>
        <p:txBody>
          <a:bodyPr wrap="none" lIns="0" tIns="0" rIns="0" bIns="0" rtlCol="0" anchor="t"/>
          <a:lstStyle/>
          <a:p>
            <a:pPr marL="0" indent="0" algn="ctr">
              <a:lnSpc>
                <a:spcPts val="2900"/>
              </a:lnSpc>
              <a:buNone/>
            </a:pPr>
            <a:r>
              <a:rPr lang="en-US" sz="2350" dirty="0">
                <a:solidFill>
                  <a:srgbClr val="E5E0DF"/>
                </a:solidFill>
                <a:latin typeface="Poppins Light" pitchFamily="34" charset="0"/>
                <a:ea typeface="Poppins Light" pitchFamily="34" charset="-122"/>
                <a:cs typeface="Poppins Light" pitchFamily="34" charset="-120"/>
              </a:rPr>
              <a:t>Assign Risk</a:t>
            </a:r>
            <a:endParaRPr lang="en-US" sz="235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432701" y="3492327"/>
            <a:ext cx="663280" cy="663280"/>
          </a:xfrm>
          <a:prstGeom prst="rect">
            <a:avLst/>
          </a:prstGeom>
        </p:spPr>
      </p:pic>
      <p:sp>
        <p:nvSpPr>
          <p:cNvPr id="10" name="Text 5"/>
          <p:cNvSpPr/>
          <p:nvPr/>
        </p:nvSpPr>
        <p:spPr>
          <a:xfrm>
            <a:off x="8829117" y="5725922"/>
            <a:ext cx="1936777" cy="746190"/>
          </a:xfrm>
          <a:prstGeom prst="rect">
            <a:avLst/>
          </a:prstGeom>
          <a:noFill/>
          <a:ln/>
        </p:spPr>
        <p:txBody>
          <a:bodyPr wrap="square" lIns="0" tIns="0" rIns="0" bIns="0" rtlCol="0" anchor="t"/>
          <a:lstStyle/>
          <a:p>
            <a:pPr marL="0" indent="0" algn="ctr">
              <a:lnSpc>
                <a:spcPts val="2900"/>
              </a:lnSpc>
              <a:buNone/>
            </a:pPr>
            <a:r>
              <a:rPr lang="en-US" sz="2350" dirty="0">
                <a:solidFill>
                  <a:srgbClr val="E5E0DF"/>
                </a:solidFill>
                <a:latin typeface="Poppins Light" pitchFamily="34" charset="0"/>
                <a:ea typeface="Poppins Light" pitchFamily="34" charset="-122"/>
                <a:cs typeface="Poppins Light" pitchFamily="34" charset="-120"/>
              </a:rPr>
              <a:t>Calculate Churn</a:t>
            </a:r>
            <a:endParaRPr lang="en-US" sz="2350" dirty="0"/>
          </a:p>
        </p:txBody>
      </p:sp>
      <p:pic>
        <p:nvPicPr>
          <p:cNvPr id="1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005097" y="3492327"/>
            <a:ext cx="663280" cy="663280"/>
          </a:xfrm>
          <a:prstGeom prst="rect">
            <a:avLst/>
          </a:prstGeom>
        </p:spPr>
      </p:pic>
      <p:sp>
        <p:nvSpPr>
          <p:cNvPr id="12" name="Text 6"/>
          <p:cNvSpPr/>
          <p:nvPr/>
        </p:nvSpPr>
        <p:spPr>
          <a:xfrm>
            <a:off x="6401513" y="5725922"/>
            <a:ext cx="1936777" cy="746190"/>
          </a:xfrm>
          <a:prstGeom prst="rect">
            <a:avLst/>
          </a:prstGeom>
          <a:noFill/>
          <a:ln/>
        </p:spPr>
        <p:txBody>
          <a:bodyPr wrap="square" lIns="0" tIns="0" rIns="0" bIns="0" rtlCol="0" anchor="t"/>
          <a:lstStyle/>
          <a:p>
            <a:pPr marL="0" indent="0" algn="ctr">
              <a:lnSpc>
                <a:spcPts val="2900"/>
              </a:lnSpc>
              <a:buNone/>
            </a:pPr>
            <a:r>
              <a:rPr lang="en-US" sz="2350" dirty="0">
                <a:solidFill>
                  <a:srgbClr val="E5E0DF"/>
                </a:solidFill>
                <a:latin typeface="Poppins Light" pitchFamily="34" charset="0"/>
                <a:ea typeface="Poppins Light" pitchFamily="34" charset="-122"/>
                <a:cs typeface="Poppins Light" pitchFamily="34" charset="-120"/>
              </a:rPr>
              <a:t>Score Customers</a:t>
            </a:r>
            <a:endParaRPr lang="en-US" sz="2350" dirty="0"/>
          </a:p>
        </p:txBody>
      </p:sp>
      <p:pic>
        <p:nvPicPr>
          <p:cNvPr id="13"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577493" y="3492327"/>
            <a:ext cx="663280" cy="663280"/>
          </a:xfrm>
          <a:prstGeom prst="rect">
            <a:avLst/>
          </a:prstGeom>
        </p:spPr>
      </p:pic>
      <p:sp>
        <p:nvSpPr>
          <p:cNvPr id="14" name="Text 7"/>
          <p:cNvSpPr/>
          <p:nvPr/>
        </p:nvSpPr>
        <p:spPr>
          <a:xfrm>
            <a:off x="3973908" y="5912469"/>
            <a:ext cx="1936777" cy="373095"/>
          </a:xfrm>
          <a:prstGeom prst="rect">
            <a:avLst/>
          </a:prstGeom>
          <a:noFill/>
          <a:ln/>
        </p:spPr>
        <p:txBody>
          <a:bodyPr wrap="none" lIns="0" tIns="0" rIns="0" bIns="0" rtlCol="0" anchor="t"/>
          <a:lstStyle/>
          <a:p>
            <a:pPr marL="0" indent="0" algn="ctr">
              <a:lnSpc>
                <a:spcPts val="2900"/>
              </a:lnSpc>
              <a:buNone/>
            </a:pPr>
            <a:r>
              <a:rPr lang="en-US" sz="2350" dirty="0">
                <a:solidFill>
                  <a:srgbClr val="E5E0DF"/>
                </a:solidFill>
                <a:latin typeface="Poppins Light" pitchFamily="34" charset="0"/>
                <a:ea typeface="Poppins Light" pitchFamily="34" charset="-122"/>
                <a:cs typeface="Poppins Light" pitchFamily="34" charset="-120"/>
              </a:rPr>
              <a:t>Preprocess</a:t>
            </a:r>
            <a:endParaRPr lang="en-US" sz="2350" dirty="0"/>
          </a:p>
        </p:txBody>
      </p:sp>
      <p:pic>
        <p:nvPicPr>
          <p:cNvPr id="15"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136623" y="3492327"/>
            <a:ext cx="663280" cy="663280"/>
          </a:xfrm>
          <a:prstGeom prst="rect">
            <a:avLst/>
          </a:prstGeom>
        </p:spPr>
      </p:pic>
      <p:sp>
        <p:nvSpPr>
          <p:cNvPr id="16" name="Text 8"/>
          <p:cNvSpPr/>
          <p:nvPr/>
        </p:nvSpPr>
        <p:spPr>
          <a:xfrm>
            <a:off x="1493242" y="5912469"/>
            <a:ext cx="1936777" cy="373095"/>
          </a:xfrm>
          <a:prstGeom prst="rect">
            <a:avLst/>
          </a:prstGeom>
          <a:noFill/>
          <a:ln/>
        </p:spPr>
        <p:txBody>
          <a:bodyPr wrap="none" lIns="0" tIns="0" rIns="0" bIns="0" rtlCol="0" anchor="t"/>
          <a:lstStyle/>
          <a:p>
            <a:pPr marL="0" indent="0" algn="ctr">
              <a:lnSpc>
                <a:spcPts val="2900"/>
              </a:lnSpc>
              <a:buNone/>
            </a:pPr>
            <a:r>
              <a:rPr lang="en-US" sz="2350" dirty="0">
                <a:solidFill>
                  <a:srgbClr val="E5E0DF"/>
                </a:solidFill>
                <a:latin typeface="Poppins Light" pitchFamily="34" charset="0"/>
                <a:ea typeface="Poppins Light" pitchFamily="34" charset="-122"/>
                <a:cs typeface="Poppins Light" pitchFamily="34" charset="-120"/>
              </a:rPr>
              <a:t>CRM Extract</a:t>
            </a:r>
            <a:endParaRPr lang="en-US" sz="2350" dirty="0"/>
          </a:p>
        </p:txBody>
      </p:sp>
      <p:sp>
        <p:nvSpPr>
          <p:cNvPr id="17" name="Text 9"/>
          <p:cNvSpPr/>
          <p:nvPr/>
        </p:nvSpPr>
        <p:spPr>
          <a:xfrm>
            <a:off x="682228" y="7246977"/>
            <a:ext cx="13265944" cy="507444"/>
          </a:xfrm>
          <a:prstGeom prst="rect">
            <a:avLst/>
          </a:prstGeom>
          <a:noFill/>
          <a:ln/>
        </p:spPr>
        <p:txBody>
          <a:bodyPr wrap="square" lIns="0" tIns="0" rIns="0" bIns="0" rtlCol="0" anchor="t"/>
          <a:lstStyle/>
          <a:p>
            <a:pPr marL="0" indent="0" algn="l">
              <a:lnSpc>
                <a:spcPts val="1950"/>
              </a:lnSpc>
              <a:buNone/>
            </a:pPr>
            <a:r>
              <a:rPr lang="en-US" sz="1300" dirty="0">
                <a:solidFill>
                  <a:srgbClr val="E5E0DF"/>
                </a:solidFill>
                <a:latin typeface="Roboto Light" pitchFamily="34" charset="0"/>
                <a:ea typeface="Roboto Light" pitchFamily="34" charset="-122"/>
                <a:cs typeface="Roboto Light" pitchFamily="34" charset="-120"/>
              </a:rPr>
              <a:t>The closed-loop design ensures continuous improvement: customer outcomes from each campaign cycle are fed back into the training data, enabling the model to adapt to shifting churn patterns over time.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769025" y="587931"/>
            <a:ext cx="1518166" cy="357426"/>
          </a:xfrm>
          <a:prstGeom prst="roundRect">
            <a:avLst>
              <a:gd name="adj" fmla="val 18075"/>
            </a:avLst>
          </a:prstGeom>
          <a:solidFill>
            <a:srgbClr val="252528"/>
          </a:solidFill>
          <a:ln/>
        </p:spPr>
      </p:sp>
      <p:sp>
        <p:nvSpPr>
          <p:cNvPr id="3" name="Text 1"/>
          <p:cNvSpPr/>
          <p:nvPr/>
        </p:nvSpPr>
        <p:spPr>
          <a:xfrm>
            <a:off x="884277" y="645557"/>
            <a:ext cx="1287661" cy="242173"/>
          </a:xfrm>
          <a:prstGeom prst="rect">
            <a:avLst/>
          </a:prstGeom>
          <a:noFill/>
          <a:ln/>
        </p:spPr>
        <p:txBody>
          <a:bodyPr wrap="none" lIns="0" tIns="0" rIns="0" bIns="0" rtlCol="0" anchor="t"/>
          <a:lstStyle/>
          <a:p>
            <a:pPr marL="0" indent="0" algn="l">
              <a:lnSpc>
                <a:spcPts val="1900"/>
              </a:lnSpc>
              <a:buNone/>
            </a:pPr>
            <a:r>
              <a:rPr lang="en-US" sz="1200" dirty="0">
                <a:solidFill>
                  <a:srgbClr val="E5E0DF"/>
                </a:solidFill>
                <a:latin typeface="Roboto Light" pitchFamily="34" charset="0"/>
                <a:ea typeface="Roboto Light" pitchFamily="34" charset="-122"/>
                <a:cs typeface="Roboto Light" pitchFamily="34" charset="-120"/>
              </a:rPr>
              <a:t>INFRASTRUCTURE</a:t>
            </a:r>
            <a:endParaRPr lang="en-US" sz="1200" dirty="0"/>
          </a:p>
        </p:txBody>
      </p:sp>
      <p:sp>
        <p:nvSpPr>
          <p:cNvPr id="4" name="Text 2"/>
          <p:cNvSpPr/>
          <p:nvPr/>
        </p:nvSpPr>
        <p:spPr>
          <a:xfrm>
            <a:off x="809366" y="952535"/>
            <a:ext cx="10776550" cy="668024"/>
          </a:xfrm>
          <a:prstGeom prst="rect">
            <a:avLst/>
          </a:prstGeom>
          <a:noFill/>
          <a:ln/>
        </p:spPr>
        <p:txBody>
          <a:bodyPr wrap="none" lIns="0" tIns="0" rIns="0" bIns="0" rtlCol="0" anchor="t"/>
          <a:lstStyle/>
          <a:p>
            <a:pPr marL="0" indent="0" algn="l">
              <a:lnSpc>
                <a:spcPts val="4700"/>
              </a:lnSpc>
              <a:buNone/>
            </a:pPr>
            <a:r>
              <a:rPr lang="en-US" sz="3750" dirty="0">
                <a:solidFill>
                  <a:srgbClr val="F2F2F3"/>
                </a:solidFill>
                <a:latin typeface="Poppins Light" pitchFamily="34" charset="0"/>
                <a:ea typeface="Poppins Light" pitchFamily="34" charset="-122"/>
                <a:cs typeface="Poppins Light" pitchFamily="34" charset="-120"/>
              </a:rPr>
              <a:t>Dockerized, Scalable, and Production-Ready</a:t>
            </a:r>
            <a:endParaRPr lang="en-US" sz="3750" dirty="0"/>
          </a:p>
        </p:txBody>
      </p:sp>
      <p:sp>
        <p:nvSpPr>
          <p:cNvPr id="5" name="Text 3"/>
          <p:cNvSpPr/>
          <p:nvPr/>
        </p:nvSpPr>
        <p:spPr>
          <a:xfrm>
            <a:off x="769025" y="1899880"/>
            <a:ext cx="13092351" cy="605552"/>
          </a:xfrm>
          <a:prstGeom prst="rect">
            <a:avLst/>
          </a:prstGeom>
          <a:noFill/>
          <a:ln/>
        </p:spPr>
        <p:txBody>
          <a:bodyPr wrap="square" lIns="0" tIns="0" rIns="0" bIns="0" rtlCol="0" anchor="t"/>
          <a:lstStyle/>
          <a:p>
            <a:pPr marL="0" indent="0" algn="l">
              <a:lnSpc>
                <a:spcPts val="2350"/>
              </a:lnSpc>
              <a:buNone/>
            </a:pPr>
            <a:r>
              <a:rPr lang="en-US" sz="1500" dirty="0">
                <a:solidFill>
                  <a:srgbClr val="E5E0DF"/>
                </a:solidFill>
                <a:latin typeface="Roboto Light" pitchFamily="34" charset="0"/>
                <a:ea typeface="Roboto Light" pitchFamily="34" charset="-122"/>
                <a:cs typeface="Roboto Light" pitchFamily="34" charset="-120"/>
              </a:rPr>
              <a:t>The entire pipeline is containerized using Docker, making it portable, reproducible, and easy to deploy across environments — from local development to cloud infrastructure — without configuration drift or dependency conflicts.</a:t>
            </a:r>
            <a:endParaRPr lang="en-US" sz="1500" dirty="0"/>
          </a:p>
        </p:txBody>
      </p:sp>
      <p:sp>
        <p:nvSpPr>
          <p:cNvPr id="6" name="Shape 4"/>
          <p:cNvSpPr/>
          <p:nvPr/>
        </p:nvSpPr>
        <p:spPr>
          <a:xfrm>
            <a:off x="630555" y="2714863"/>
            <a:ext cx="6588562" cy="4926806"/>
          </a:xfrm>
          <a:prstGeom prst="roundRect">
            <a:avLst>
              <a:gd name="adj" fmla="val 2810"/>
            </a:avLst>
          </a:prstGeom>
          <a:solidFill>
            <a:srgbClr val="F2F2F3"/>
          </a:solidFill>
          <a:ln/>
        </p:spPr>
      </p:sp>
      <p:sp>
        <p:nvSpPr>
          <p:cNvPr id="7" name="Text 5"/>
          <p:cNvSpPr/>
          <p:nvPr/>
        </p:nvSpPr>
        <p:spPr>
          <a:xfrm>
            <a:off x="822722" y="2901077"/>
            <a:ext cx="2403396" cy="300395"/>
          </a:xfrm>
          <a:prstGeom prst="rect">
            <a:avLst/>
          </a:prstGeom>
          <a:noFill/>
          <a:ln/>
        </p:spPr>
        <p:txBody>
          <a:bodyPr wrap="none" lIns="0" tIns="0" rIns="0" bIns="0" rtlCol="0" anchor="t"/>
          <a:lstStyle/>
          <a:p>
            <a:pPr marL="0" indent="0" algn="l">
              <a:lnSpc>
                <a:spcPts val="2350"/>
              </a:lnSpc>
              <a:buNone/>
            </a:pPr>
            <a:r>
              <a:rPr lang="en-US" sz="1850" dirty="0">
                <a:solidFill>
                  <a:srgbClr val="000000"/>
                </a:solidFill>
                <a:latin typeface="Poppins Light" pitchFamily="34" charset="0"/>
                <a:ea typeface="Poppins Light" pitchFamily="34" charset="-122"/>
                <a:cs typeface="Poppins Light" pitchFamily="34" charset="-120"/>
              </a:rPr>
              <a:t>Why Docker?</a:t>
            </a:r>
            <a:endParaRPr lang="en-US" sz="1850" dirty="0"/>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2722" y="3410903"/>
            <a:ext cx="480655" cy="480655"/>
          </a:xfrm>
          <a:prstGeom prst="rect">
            <a:avLst/>
          </a:prstGeom>
        </p:spPr>
      </p:pic>
      <p:sp>
        <p:nvSpPr>
          <p:cNvPr id="9" name="Text 6"/>
          <p:cNvSpPr/>
          <p:nvPr/>
        </p:nvSpPr>
        <p:spPr>
          <a:xfrm>
            <a:off x="1536144" y="3410903"/>
            <a:ext cx="2403396" cy="300395"/>
          </a:xfrm>
          <a:prstGeom prst="rect">
            <a:avLst/>
          </a:prstGeom>
          <a:noFill/>
          <a:ln/>
        </p:spPr>
        <p:txBody>
          <a:bodyPr wrap="none" lIns="0" tIns="0" rIns="0" bIns="0" rtlCol="0" anchor="t"/>
          <a:lstStyle/>
          <a:p>
            <a:pPr marL="0" indent="0" algn="l">
              <a:lnSpc>
                <a:spcPts val="2350"/>
              </a:lnSpc>
              <a:buNone/>
            </a:pPr>
            <a:r>
              <a:rPr lang="en-US" sz="1850" dirty="0">
                <a:solidFill>
                  <a:srgbClr val="000000"/>
                </a:solidFill>
                <a:latin typeface="Poppins Light" pitchFamily="34" charset="0"/>
                <a:ea typeface="Poppins Light" pitchFamily="34" charset="-122"/>
                <a:cs typeface="Poppins Light" pitchFamily="34" charset="-120"/>
              </a:rPr>
              <a:t>Reproducibility</a:t>
            </a:r>
            <a:endParaRPr lang="en-US" sz="1850" dirty="0"/>
          </a:p>
        </p:txBody>
      </p:sp>
      <p:sp>
        <p:nvSpPr>
          <p:cNvPr id="10" name="Text 7"/>
          <p:cNvSpPr/>
          <p:nvPr/>
        </p:nvSpPr>
        <p:spPr>
          <a:xfrm>
            <a:off x="1536144" y="3897511"/>
            <a:ext cx="5490805" cy="605552"/>
          </a:xfrm>
          <a:prstGeom prst="rect">
            <a:avLst/>
          </a:prstGeom>
          <a:noFill/>
          <a:ln/>
        </p:spPr>
        <p:txBody>
          <a:bodyPr wrap="square" lIns="0" tIns="0" rIns="0" bIns="0" rtlCol="0" anchor="t"/>
          <a:lstStyle/>
          <a:p>
            <a:pPr marL="0" indent="0" algn="l">
              <a:lnSpc>
                <a:spcPts val="2350"/>
              </a:lnSpc>
              <a:buNone/>
            </a:pPr>
            <a:r>
              <a:rPr lang="en-US" sz="1500" dirty="0">
                <a:solidFill>
                  <a:srgbClr val="000000"/>
                </a:solidFill>
                <a:latin typeface="Roboto Light" pitchFamily="34" charset="0"/>
                <a:ea typeface="Roboto Light" pitchFamily="34" charset="-122"/>
                <a:cs typeface="Roboto Light" pitchFamily="34" charset="-120"/>
              </a:rPr>
              <a:t>Identical behavior across dev, staging, and production environments</a:t>
            </a:r>
            <a:endParaRPr lang="en-US" sz="1500" dirty="0"/>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722" y="4875490"/>
            <a:ext cx="480655" cy="480655"/>
          </a:xfrm>
          <a:prstGeom prst="rect">
            <a:avLst/>
          </a:prstGeom>
        </p:spPr>
      </p:pic>
      <p:sp>
        <p:nvSpPr>
          <p:cNvPr id="12" name="Text 8"/>
          <p:cNvSpPr/>
          <p:nvPr/>
        </p:nvSpPr>
        <p:spPr>
          <a:xfrm>
            <a:off x="1536144" y="4875490"/>
            <a:ext cx="2403396" cy="300395"/>
          </a:xfrm>
          <a:prstGeom prst="rect">
            <a:avLst/>
          </a:prstGeom>
          <a:noFill/>
          <a:ln/>
        </p:spPr>
        <p:txBody>
          <a:bodyPr wrap="none" lIns="0" tIns="0" rIns="0" bIns="0" rtlCol="0" anchor="t"/>
          <a:lstStyle/>
          <a:p>
            <a:pPr marL="0" indent="0" algn="l">
              <a:lnSpc>
                <a:spcPts val="2350"/>
              </a:lnSpc>
              <a:buNone/>
            </a:pPr>
            <a:r>
              <a:rPr lang="en-US" sz="1850" dirty="0">
                <a:solidFill>
                  <a:srgbClr val="000000"/>
                </a:solidFill>
                <a:latin typeface="Poppins Light" pitchFamily="34" charset="0"/>
                <a:ea typeface="Poppins Light" pitchFamily="34" charset="-122"/>
                <a:cs typeface="Poppins Light" pitchFamily="34" charset="-120"/>
              </a:rPr>
              <a:t>Scalability</a:t>
            </a:r>
            <a:endParaRPr lang="en-US" sz="1850" dirty="0"/>
          </a:p>
        </p:txBody>
      </p:sp>
      <p:sp>
        <p:nvSpPr>
          <p:cNvPr id="13" name="Text 9"/>
          <p:cNvSpPr/>
          <p:nvPr/>
        </p:nvSpPr>
        <p:spPr>
          <a:xfrm>
            <a:off x="1536144" y="5362099"/>
            <a:ext cx="5490805" cy="605552"/>
          </a:xfrm>
          <a:prstGeom prst="rect">
            <a:avLst/>
          </a:prstGeom>
          <a:noFill/>
          <a:ln/>
        </p:spPr>
        <p:txBody>
          <a:bodyPr wrap="square" lIns="0" tIns="0" rIns="0" bIns="0" rtlCol="0" anchor="t"/>
          <a:lstStyle/>
          <a:p>
            <a:pPr marL="0" indent="0" algn="l">
              <a:lnSpc>
                <a:spcPts val="2350"/>
              </a:lnSpc>
              <a:buNone/>
            </a:pPr>
            <a:r>
              <a:rPr lang="en-US" sz="1500" dirty="0">
                <a:solidFill>
                  <a:srgbClr val="000000"/>
                </a:solidFill>
                <a:latin typeface="Roboto Light" pitchFamily="34" charset="0"/>
                <a:ea typeface="Roboto Light" pitchFamily="34" charset="-122"/>
                <a:cs typeface="Roboto Light" pitchFamily="34" charset="-120"/>
              </a:rPr>
              <a:t>Effortlessly handles larger customer volumes as the business grows</a:t>
            </a:r>
            <a:endParaRPr lang="en-US" sz="1500" dirty="0"/>
          </a:p>
        </p:txBody>
      </p:sp>
      <p:pic>
        <p:nvPicPr>
          <p:cNvPr id="1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22722" y="6340078"/>
            <a:ext cx="480655" cy="480655"/>
          </a:xfrm>
          <a:prstGeom prst="rect">
            <a:avLst/>
          </a:prstGeom>
        </p:spPr>
      </p:pic>
      <p:sp>
        <p:nvSpPr>
          <p:cNvPr id="15" name="Text 10"/>
          <p:cNvSpPr/>
          <p:nvPr/>
        </p:nvSpPr>
        <p:spPr>
          <a:xfrm>
            <a:off x="1536144" y="6340078"/>
            <a:ext cx="2403396" cy="300395"/>
          </a:xfrm>
          <a:prstGeom prst="rect">
            <a:avLst/>
          </a:prstGeom>
          <a:noFill/>
          <a:ln/>
        </p:spPr>
        <p:txBody>
          <a:bodyPr wrap="none" lIns="0" tIns="0" rIns="0" bIns="0" rtlCol="0" anchor="t"/>
          <a:lstStyle/>
          <a:p>
            <a:pPr marL="0" indent="0" algn="l">
              <a:lnSpc>
                <a:spcPts val="2350"/>
              </a:lnSpc>
              <a:buNone/>
            </a:pPr>
            <a:r>
              <a:rPr lang="en-US" sz="1850" dirty="0">
                <a:solidFill>
                  <a:srgbClr val="000000"/>
                </a:solidFill>
                <a:latin typeface="Poppins Light" pitchFamily="34" charset="0"/>
                <a:ea typeface="Poppins Light" pitchFamily="34" charset="-122"/>
                <a:cs typeface="Poppins Light" pitchFamily="34" charset="-120"/>
              </a:rPr>
              <a:t>Easy Deployment</a:t>
            </a:r>
            <a:endParaRPr lang="en-US" sz="1850" dirty="0"/>
          </a:p>
        </p:txBody>
      </p:sp>
      <p:sp>
        <p:nvSpPr>
          <p:cNvPr id="16" name="Text 11"/>
          <p:cNvSpPr/>
          <p:nvPr/>
        </p:nvSpPr>
        <p:spPr>
          <a:xfrm>
            <a:off x="1536144" y="6826687"/>
            <a:ext cx="5490805" cy="605552"/>
          </a:xfrm>
          <a:prstGeom prst="rect">
            <a:avLst/>
          </a:prstGeom>
          <a:noFill/>
          <a:ln/>
        </p:spPr>
        <p:txBody>
          <a:bodyPr wrap="square" lIns="0" tIns="0" rIns="0" bIns="0" rtlCol="0" anchor="t"/>
          <a:lstStyle/>
          <a:p>
            <a:pPr marL="0" indent="0" algn="l">
              <a:lnSpc>
                <a:spcPts val="2350"/>
              </a:lnSpc>
              <a:buNone/>
            </a:pPr>
            <a:r>
              <a:rPr lang="en-US" sz="1500" dirty="0">
                <a:solidFill>
                  <a:srgbClr val="000000"/>
                </a:solidFill>
                <a:latin typeface="Roboto Light" pitchFamily="34" charset="0"/>
                <a:ea typeface="Roboto Light" pitchFamily="34" charset="-122"/>
                <a:cs typeface="Roboto Light" pitchFamily="34" charset="-120"/>
              </a:rPr>
              <a:t>Single container deployment — no manual environment setup required</a:t>
            </a:r>
            <a:endParaRPr lang="en-US" sz="1500" dirty="0"/>
          </a:p>
        </p:txBody>
      </p:sp>
      <p:sp>
        <p:nvSpPr>
          <p:cNvPr id="17" name="Text 12"/>
          <p:cNvSpPr/>
          <p:nvPr/>
        </p:nvSpPr>
        <p:spPr>
          <a:xfrm>
            <a:off x="7557373" y="2901077"/>
            <a:ext cx="2403396" cy="300395"/>
          </a:xfrm>
          <a:prstGeom prst="rect">
            <a:avLst/>
          </a:prstGeom>
          <a:noFill/>
          <a:ln/>
        </p:spPr>
        <p:txBody>
          <a:bodyPr wrap="none" lIns="0" tIns="0" rIns="0" bIns="0" rtlCol="0" anchor="t"/>
          <a:lstStyle/>
          <a:p>
            <a:pPr marL="0" indent="0" algn="l">
              <a:lnSpc>
                <a:spcPts val="2350"/>
              </a:lnSpc>
              <a:buNone/>
            </a:pPr>
            <a:r>
              <a:rPr lang="en-US" sz="1850" dirty="0">
                <a:solidFill>
                  <a:srgbClr val="F2F2F3"/>
                </a:solidFill>
                <a:latin typeface="Poppins Light" pitchFamily="34" charset="0"/>
                <a:ea typeface="Poppins Light" pitchFamily="34" charset="-122"/>
                <a:cs typeface="Poppins Light" pitchFamily="34" charset="-120"/>
              </a:rPr>
              <a:t>Scheduled Jobs</a:t>
            </a:r>
            <a:endParaRPr lang="en-US" sz="1850" dirty="0"/>
          </a:p>
        </p:txBody>
      </p:sp>
      <p:sp>
        <p:nvSpPr>
          <p:cNvPr id="18" name="Shape 13"/>
          <p:cNvSpPr/>
          <p:nvPr/>
        </p:nvSpPr>
        <p:spPr>
          <a:xfrm>
            <a:off x="7557373" y="3410903"/>
            <a:ext cx="3062645" cy="2730937"/>
          </a:xfrm>
          <a:prstGeom prst="roundRect">
            <a:avLst>
              <a:gd name="adj" fmla="val 2957"/>
            </a:avLst>
          </a:prstGeom>
          <a:solidFill>
            <a:srgbClr val="050505"/>
          </a:solidFill>
          <a:ln w="22860">
            <a:solidFill>
              <a:srgbClr val="56565B"/>
            </a:solidFill>
            <a:prstDash val="solid"/>
          </a:ln>
        </p:spPr>
      </p:sp>
      <p:sp>
        <p:nvSpPr>
          <p:cNvPr id="19" name="Text 14"/>
          <p:cNvSpPr/>
          <p:nvPr/>
        </p:nvSpPr>
        <p:spPr>
          <a:xfrm>
            <a:off x="7772400" y="3625929"/>
            <a:ext cx="2632591" cy="600789"/>
          </a:xfrm>
          <a:prstGeom prst="rect">
            <a:avLst/>
          </a:prstGeom>
          <a:noFill/>
          <a:ln/>
        </p:spPr>
        <p:txBody>
          <a:bodyPr wrap="square" lIns="0" tIns="0" rIns="0" bIns="0" rtlCol="0" anchor="t"/>
          <a:lstStyle/>
          <a:p>
            <a:pPr marL="0" indent="0" algn="l">
              <a:lnSpc>
                <a:spcPts val="2350"/>
              </a:lnSpc>
              <a:buNone/>
            </a:pPr>
            <a:r>
              <a:rPr lang="en-US" sz="1850" dirty="0">
                <a:solidFill>
                  <a:srgbClr val="E5E0DF"/>
                </a:solidFill>
                <a:latin typeface="Poppins Light" pitchFamily="34" charset="0"/>
                <a:ea typeface="Poppins Light" pitchFamily="34" charset="-122"/>
                <a:cs typeface="Poppins Light" pitchFamily="34" charset="-120"/>
              </a:rPr>
              <a:t>Weekly — Prediction Job</a:t>
            </a:r>
            <a:endParaRPr lang="en-US" sz="1850" dirty="0"/>
          </a:p>
        </p:txBody>
      </p:sp>
      <p:sp>
        <p:nvSpPr>
          <p:cNvPr id="20" name="Text 15"/>
          <p:cNvSpPr/>
          <p:nvPr/>
        </p:nvSpPr>
        <p:spPr>
          <a:xfrm>
            <a:off x="7772400" y="4412933"/>
            <a:ext cx="2632591" cy="1513880"/>
          </a:xfrm>
          <a:prstGeom prst="rect">
            <a:avLst/>
          </a:prstGeom>
          <a:noFill/>
          <a:ln/>
        </p:spPr>
        <p:txBody>
          <a:bodyPr wrap="square" lIns="0" tIns="0" rIns="0" bIns="0" rtlCol="0" anchor="t"/>
          <a:lstStyle/>
          <a:p>
            <a:pPr marL="0" indent="0" algn="l">
              <a:lnSpc>
                <a:spcPts val="2350"/>
              </a:lnSpc>
              <a:buNone/>
            </a:pPr>
            <a:r>
              <a:rPr lang="en-US" sz="1500" dirty="0">
                <a:solidFill>
                  <a:srgbClr val="E5E0DF"/>
                </a:solidFill>
                <a:latin typeface="Roboto Light" pitchFamily="34" charset="0"/>
                <a:ea typeface="Roboto Light" pitchFamily="34" charset="-122"/>
                <a:cs typeface="Roboto Light" pitchFamily="34" charset="-120"/>
              </a:rPr>
              <a:t>Scores the full customer base every week using the latest available data, producing a refreshed targeting list for the marketing team.</a:t>
            </a:r>
            <a:endParaRPr lang="en-US" sz="1500" dirty="0"/>
          </a:p>
        </p:txBody>
      </p:sp>
      <p:sp>
        <p:nvSpPr>
          <p:cNvPr id="21" name="Shape 16"/>
          <p:cNvSpPr/>
          <p:nvPr/>
        </p:nvSpPr>
        <p:spPr>
          <a:xfrm>
            <a:off x="10806232" y="3410903"/>
            <a:ext cx="3062764" cy="2730937"/>
          </a:xfrm>
          <a:prstGeom prst="roundRect">
            <a:avLst>
              <a:gd name="adj" fmla="val 2957"/>
            </a:avLst>
          </a:prstGeom>
          <a:solidFill>
            <a:srgbClr val="050505"/>
          </a:solidFill>
          <a:ln w="22860">
            <a:solidFill>
              <a:srgbClr val="56565B"/>
            </a:solidFill>
            <a:prstDash val="solid"/>
          </a:ln>
        </p:spPr>
      </p:sp>
      <p:sp>
        <p:nvSpPr>
          <p:cNvPr id="22" name="Text 17"/>
          <p:cNvSpPr/>
          <p:nvPr/>
        </p:nvSpPr>
        <p:spPr>
          <a:xfrm>
            <a:off x="11021258" y="3625929"/>
            <a:ext cx="2632710" cy="600789"/>
          </a:xfrm>
          <a:prstGeom prst="rect">
            <a:avLst/>
          </a:prstGeom>
          <a:noFill/>
          <a:ln/>
        </p:spPr>
        <p:txBody>
          <a:bodyPr wrap="square" lIns="0" tIns="0" rIns="0" bIns="0" rtlCol="0" anchor="t"/>
          <a:lstStyle/>
          <a:p>
            <a:pPr marL="0" indent="0" algn="l">
              <a:lnSpc>
                <a:spcPts val="2350"/>
              </a:lnSpc>
              <a:buNone/>
            </a:pPr>
            <a:r>
              <a:rPr lang="en-US" sz="1850" dirty="0">
                <a:solidFill>
                  <a:srgbClr val="E5E0DF"/>
                </a:solidFill>
                <a:latin typeface="Poppins Light" pitchFamily="34" charset="0"/>
                <a:ea typeface="Poppins Light" pitchFamily="34" charset="-122"/>
                <a:cs typeface="Poppins Light" pitchFamily="34" charset="-120"/>
              </a:rPr>
              <a:t>Monthly — Retraining Job</a:t>
            </a:r>
            <a:endParaRPr lang="en-US" sz="1850" dirty="0"/>
          </a:p>
        </p:txBody>
      </p:sp>
      <p:sp>
        <p:nvSpPr>
          <p:cNvPr id="23" name="Text 18"/>
          <p:cNvSpPr/>
          <p:nvPr/>
        </p:nvSpPr>
        <p:spPr>
          <a:xfrm>
            <a:off x="11021258" y="4412933"/>
            <a:ext cx="2632710" cy="1513880"/>
          </a:xfrm>
          <a:prstGeom prst="rect">
            <a:avLst/>
          </a:prstGeom>
          <a:noFill/>
          <a:ln/>
        </p:spPr>
        <p:txBody>
          <a:bodyPr wrap="square" lIns="0" tIns="0" rIns="0" bIns="0" rtlCol="0" anchor="t"/>
          <a:lstStyle/>
          <a:p>
            <a:pPr marL="0" indent="0" algn="l">
              <a:lnSpc>
                <a:spcPts val="2350"/>
              </a:lnSpc>
              <a:buNone/>
            </a:pPr>
            <a:r>
              <a:rPr lang="en-US" sz="1500" dirty="0">
                <a:solidFill>
                  <a:srgbClr val="E5E0DF"/>
                </a:solidFill>
                <a:latin typeface="Roboto Light" pitchFamily="34" charset="0"/>
                <a:ea typeface="Roboto Light" pitchFamily="34" charset="-122"/>
                <a:cs typeface="Roboto Light" pitchFamily="34" charset="-120"/>
              </a:rPr>
              <a:t>Retrains the model on cumulative outcome data to prevent model drift and maintain recall performance over time.</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793790" y="554474"/>
            <a:ext cx="1611868" cy="373142"/>
          </a:xfrm>
          <a:prstGeom prst="roundRect">
            <a:avLst>
              <a:gd name="adj" fmla="val 17872"/>
            </a:avLst>
          </a:prstGeom>
          <a:solidFill>
            <a:srgbClr val="252528"/>
          </a:solidFill>
          <a:ln/>
        </p:spPr>
      </p:sp>
      <p:sp>
        <p:nvSpPr>
          <p:cNvPr id="3" name="Text 1"/>
          <p:cNvSpPr/>
          <p:nvPr/>
        </p:nvSpPr>
        <p:spPr>
          <a:xfrm>
            <a:off x="912852" y="614005"/>
            <a:ext cx="1373743" cy="254079"/>
          </a:xfrm>
          <a:prstGeom prst="rect">
            <a:avLst/>
          </a:prstGeom>
          <a:noFill/>
          <a:ln/>
        </p:spPr>
        <p:txBody>
          <a:bodyPr wrap="none" lIns="0" tIns="0" rIns="0" bIns="0" rtlCol="0" anchor="t"/>
          <a:lstStyle/>
          <a:p>
            <a:pPr marL="0" indent="0" algn="l">
              <a:lnSpc>
                <a:spcPts val="2000"/>
              </a:lnSpc>
              <a:buNone/>
            </a:pPr>
            <a:r>
              <a:rPr lang="en-US" sz="1250" dirty="0">
                <a:solidFill>
                  <a:srgbClr val="E5E0DF"/>
                </a:solidFill>
                <a:latin typeface="Roboto Light" pitchFamily="34" charset="0"/>
                <a:ea typeface="Roboto Light" pitchFamily="34" charset="-122"/>
                <a:cs typeface="Roboto Light" pitchFamily="34" charset="-120"/>
              </a:rPr>
              <a:t>CRM INTEGRATION</a:t>
            </a:r>
            <a:endParaRPr lang="en-US" sz="1250" dirty="0"/>
          </a:p>
        </p:txBody>
      </p:sp>
      <p:sp>
        <p:nvSpPr>
          <p:cNvPr id="4" name="Text 2"/>
          <p:cNvSpPr/>
          <p:nvPr/>
        </p:nvSpPr>
        <p:spPr>
          <a:xfrm>
            <a:off x="793790" y="939677"/>
            <a:ext cx="12798686" cy="687313"/>
          </a:xfrm>
          <a:prstGeom prst="rect">
            <a:avLst/>
          </a:prstGeom>
          <a:noFill/>
          <a:ln/>
        </p:spPr>
        <p:txBody>
          <a:bodyPr wrap="none" lIns="0" tIns="0" rIns="0" bIns="0" rtlCol="0" anchor="t"/>
          <a:lstStyle/>
          <a:p>
            <a:pPr marL="0" indent="0" algn="l">
              <a:lnSpc>
                <a:spcPts val="4850"/>
              </a:lnSpc>
              <a:buNone/>
            </a:pPr>
            <a:r>
              <a:rPr lang="en-US" sz="3900" dirty="0">
                <a:solidFill>
                  <a:srgbClr val="F2F2F3"/>
                </a:solidFill>
                <a:latin typeface="Poppins Light" pitchFamily="34" charset="0"/>
                <a:ea typeface="Poppins Light" pitchFamily="34" charset="-122"/>
                <a:cs typeface="Poppins Light" pitchFamily="34" charset="-120"/>
              </a:rPr>
              <a:t>Seamless CRM Integration for Campaign Execution</a:t>
            </a:r>
            <a:endParaRPr lang="en-US" sz="3900" dirty="0"/>
          </a:p>
        </p:txBody>
      </p:sp>
      <p:sp>
        <p:nvSpPr>
          <p:cNvPr id="5" name="Text 3"/>
          <p:cNvSpPr/>
          <p:nvPr/>
        </p:nvSpPr>
        <p:spPr>
          <a:xfrm>
            <a:off x="793790" y="1924645"/>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The data product is designed for zero-friction integration with existing CRM platforms. Predictions are exported in standard formats — </a:t>
            </a:r>
            <a:r>
              <a:rPr lang="en-US" sz="1550" b="1" dirty="0">
                <a:solidFill>
                  <a:srgbClr val="E5E0DF"/>
                </a:solidFill>
                <a:latin typeface="Roboto Light" pitchFamily="34" charset="0"/>
                <a:ea typeface="Roboto Light" pitchFamily="34" charset="-122"/>
                <a:cs typeface="Roboto Light" pitchFamily="34" charset="-120"/>
              </a:rPr>
              <a:t>JSON</a:t>
            </a:r>
            <a:r>
              <a:rPr lang="en-US" sz="1550" dirty="0">
                <a:solidFill>
                  <a:srgbClr val="E5E0DF"/>
                </a:solidFill>
                <a:latin typeface="Roboto Light" pitchFamily="34" charset="0"/>
                <a:ea typeface="Roboto Light" pitchFamily="34" charset="-122"/>
                <a:cs typeface="Roboto Light" pitchFamily="34" charset="-120"/>
              </a:rPr>
              <a:t> or </a:t>
            </a:r>
            <a:r>
              <a:rPr lang="en-US" sz="1550" b="1" dirty="0">
                <a:solidFill>
                  <a:srgbClr val="E5E0DF"/>
                </a:solidFill>
                <a:latin typeface="Roboto Light" pitchFamily="34" charset="0"/>
                <a:ea typeface="Roboto Light" pitchFamily="34" charset="-122"/>
                <a:cs typeface="Roboto Light" pitchFamily="34" charset="-120"/>
              </a:rPr>
              <a:t>CSV</a:t>
            </a:r>
            <a:r>
              <a:rPr lang="en-US" sz="1550" dirty="0">
                <a:solidFill>
                  <a:srgbClr val="E5E0DF"/>
                </a:solidFill>
                <a:latin typeface="Roboto Light" pitchFamily="34" charset="0"/>
                <a:ea typeface="Roboto Light" pitchFamily="34" charset="-122"/>
                <a:cs typeface="Roboto Light" pitchFamily="34" charset="-120"/>
              </a:rPr>
              <a:t> — enabling immediate ingestion by marketing automation tools and CRM dashboards without custom engineering work on the business side.</a:t>
            </a:r>
            <a:endParaRPr lang="en-US" sz="1550" dirty="0"/>
          </a:p>
        </p:txBody>
      </p:sp>
      <p:sp>
        <p:nvSpPr>
          <p:cNvPr id="6" name="Text 4"/>
          <p:cNvSpPr/>
          <p:nvPr/>
        </p:nvSpPr>
        <p:spPr>
          <a:xfrm>
            <a:off x="793790" y="2981325"/>
            <a:ext cx="4281130" cy="310158"/>
          </a:xfrm>
          <a:prstGeom prst="rect">
            <a:avLst/>
          </a:prstGeom>
          <a:noFill/>
          <a:ln/>
        </p:spPr>
        <p:txBody>
          <a:bodyPr wrap="none" lIns="0" tIns="0" rIns="0" bIns="0" rtlCol="0" anchor="t"/>
          <a:lstStyle/>
          <a:p>
            <a:pPr marL="0" indent="0" algn="l">
              <a:lnSpc>
                <a:spcPts val="2400"/>
              </a:lnSpc>
              <a:buNone/>
            </a:pPr>
            <a:r>
              <a:rPr lang="en-US" sz="1950" dirty="0">
                <a:solidFill>
                  <a:srgbClr val="F2F2F3"/>
                </a:solidFill>
                <a:latin typeface="Poppins Light" pitchFamily="34" charset="0"/>
                <a:ea typeface="Poppins Light" pitchFamily="34" charset="-122"/>
                <a:cs typeface="Poppins Light" pitchFamily="34" charset="-120"/>
              </a:rPr>
              <a:t>Output Fields Per Customer Record</a:t>
            </a:r>
            <a:endParaRPr lang="en-US" sz="1950" dirty="0"/>
          </a:p>
        </p:txBody>
      </p:sp>
      <p:sp>
        <p:nvSpPr>
          <p:cNvPr id="7" name="Shape 5"/>
          <p:cNvSpPr/>
          <p:nvPr/>
        </p:nvSpPr>
        <p:spPr>
          <a:xfrm>
            <a:off x="793790" y="3514725"/>
            <a:ext cx="2702243" cy="1873091"/>
          </a:xfrm>
          <a:prstGeom prst="roundRect">
            <a:avLst>
              <a:gd name="adj" fmla="val 4450"/>
            </a:avLst>
          </a:prstGeom>
          <a:solidFill>
            <a:srgbClr val="3D3D42"/>
          </a:solidFill>
          <a:ln w="7620">
            <a:solidFill>
              <a:srgbClr val="56565B"/>
            </a:solidFill>
            <a:prstDash val="solid"/>
          </a:ln>
        </p:spPr>
      </p:sp>
      <p:sp>
        <p:nvSpPr>
          <p:cNvPr id="8" name="Text 6"/>
          <p:cNvSpPr/>
          <p:nvPr/>
        </p:nvSpPr>
        <p:spPr>
          <a:xfrm>
            <a:off x="999768" y="3720703"/>
            <a:ext cx="2290286" cy="310158"/>
          </a:xfrm>
          <a:prstGeom prst="rect">
            <a:avLst/>
          </a:prstGeom>
          <a:noFill/>
          <a:ln/>
        </p:spPr>
        <p:txBody>
          <a:bodyPr wrap="none" lIns="0" tIns="0" rIns="0" bIns="0" rtlCol="0" anchor="t"/>
          <a:lstStyle/>
          <a:p>
            <a:pPr marL="0" indent="0" algn="l">
              <a:lnSpc>
                <a:spcPts val="2400"/>
              </a:lnSpc>
              <a:buNone/>
            </a:pPr>
            <a:r>
              <a:rPr lang="en-US" sz="1950" dirty="0">
                <a:solidFill>
                  <a:srgbClr val="E5E0DF"/>
                </a:solidFill>
                <a:latin typeface="Poppins Light" pitchFamily="34" charset="0"/>
                <a:ea typeface="Poppins Light" pitchFamily="34" charset="-122"/>
                <a:cs typeface="Poppins Light" pitchFamily="34" charset="-120"/>
              </a:rPr>
              <a:t>CustomerID</a:t>
            </a:r>
            <a:endParaRPr lang="en-US" sz="1950" dirty="0"/>
          </a:p>
        </p:txBody>
      </p:sp>
      <p:sp>
        <p:nvSpPr>
          <p:cNvPr id="9" name="Text 7"/>
          <p:cNvSpPr/>
          <p:nvPr/>
        </p:nvSpPr>
        <p:spPr>
          <a:xfrm>
            <a:off x="999768" y="4229219"/>
            <a:ext cx="2290286" cy="95261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Unique identifier linking predictions to CRM records</a:t>
            </a:r>
            <a:endParaRPr lang="en-US" sz="1550" dirty="0"/>
          </a:p>
        </p:txBody>
      </p:sp>
      <p:sp>
        <p:nvSpPr>
          <p:cNvPr id="10" name="Shape 8"/>
          <p:cNvSpPr/>
          <p:nvPr/>
        </p:nvSpPr>
        <p:spPr>
          <a:xfrm>
            <a:off x="3694390" y="3514725"/>
            <a:ext cx="2702362" cy="1873091"/>
          </a:xfrm>
          <a:prstGeom prst="roundRect">
            <a:avLst>
              <a:gd name="adj" fmla="val 4450"/>
            </a:avLst>
          </a:prstGeom>
          <a:solidFill>
            <a:srgbClr val="3D3D42"/>
          </a:solidFill>
          <a:ln w="7620">
            <a:solidFill>
              <a:srgbClr val="56565B"/>
            </a:solidFill>
            <a:prstDash val="solid"/>
          </a:ln>
        </p:spPr>
      </p:sp>
      <p:sp>
        <p:nvSpPr>
          <p:cNvPr id="11" name="Text 9"/>
          <p:cNvSpPr/>
          <p:nvPr/>
        </p:nvSpPr>
        <p:spPr>
          <a:xfrm>
            <a:off x="3900368" y="3720703"/>
            <a:ext cx="2290405" cy="310158"/>
          </a:xfrm>
          <a:prstGeom prst="rect">
            <a:avLst/>
          </a:prstGeom>
          <a:noFill/>
          <a:ln/>
        </p:spPr>
        <p:txBody>
          <a:bodyPr wrap="none" lIns="0" tIns="0" rIns="0" bIns="0" rtlCol="0" anchor="t"/>
          <a:lstStyle/>
          <a:p>
            <a:pPr marL="0" indent="0" algn="l">
              <a:lnSpc>
                <a:spcPts val="2400"/>
              </a:lnSpc>
              <a:buNone/>
            </a:pPr>
            <a:r>
              <a:rPr lang="en-US" sz="1950" dirty="0">
                <a:solidFill>
                  <a:srgbClr val="E5E0DF"/>
                </a:solidFill>
                <a:latin typeface="Poppins Light" pitchFamily="34" charset="0"/>
                <a:ea typeface="Poppins Light" pitchFamily="34" charset="-122"/>
                <a:cs typeface="Poppins Light" pitchFamily="34" charset="-120"/>
              </a:rPr>
              <a:t>Churn Probability</a:t>
            </a:r>
            <a:endParaRPr lang="en-US" sz="1950" dirty="0"/>
          </a:p>
        </p:txBody>
      </p:sp>
      <p:sp>
        <p:nvSpPr>
          <p:cNvPr id="12" name="Text 10"/>
          <p:cNvSpPr/>
          <p:nvPr/>
        </p:nvSpPr>
        <p:spPr>
          <a:xfrm>
            <a:off x="3900368" y="4229219"/>
            <a:ext cx="2290405" cy="63507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Continuous score for custom filtering or ranking</a:t>
            </a:r>
            <a:endParaRPr lang="en-US" sz="1550" dirty="0"/>
          </a:p>
        </p:txBody>
      </p:sp>
      <p:sp>
        <p:nvSpPr>
          <p:cNvPr id="13" name="Shape 11"/>
          <p:cNvSpPr/>
          <p:nvPr/>
        </p:nvSpPr>
        <p:spPr>
          <a:xfrm>
            <a:off x="793790" y="5586174"/>
            <a:ext cx="2702243" cy="1865709"/>
          </a:xfrm>
          <a:prstGeom prst="roundRect">
            <a:avLst>
              <a:gd name="adj" fmla="val 4468"/>
            </a:avLst>
          </a:prstGeom>
          <a:solidFill>
            <a:srgbClr val="3D3D42"/>
          </a:solidFill>
          <a:ln w="7620">
            <a:solidFill>
              <a:srgbClr val="56565B"/>
            </a:solidFill>
            <a:prstDash val="solid"/>
          </a:ln>
        </p:spPr>
      </p:sp>
      <p:sp>
        <p:nvSpPr>
          <p:cNvPr id="14" name="Text 12"/>
          <p:cNvSpPr/>
          <p:nvPr/>
        </p:nvSpPr>
        <p:spPr>
          <a:xfrm>
            <a:off x="999768" y="5792153"/>
            <a:ext cx="2290286" cy="310158"/>
          </a:xfrm>
          <a:prstGeom prst="rect">
            <a:avLst/>
          </a:prstGeom>
          <a:noFill/>
          <a:ln/>
        </p:spPr>
        <p:txBody>
          <a:bodyPr wrap="none" lIns="0" tIns="0" rIns="0" bIns="0" rtlCol="0" anchor="t"/>
          <a:lstStyle/>
          <a:p>
            <a:pPr marL="0" indent="0" algn="l">
              <a:lnSpc>
                <a:spcPts val="2400"/>
              </a:lnSpc>
              <a:buNone/>
            </a:pPr>
            <a:r>
              <a:rPr lang="en-US" sz="1950" dirty="0">
                <a:solidFill>
                  <a:srgbClr val="E5E0DF"/>
                </a:solidFill>
                <a:latin typeface="Poppins Light" pitchFamily="34" charset="0"/>
                <a:ea typeface="Poppins Light" pitchFamily="34" charset="-122"/>
                <a:cs typeface="Poppins Light" pitchFamily="34" charset="-120"/>
              </a:rPr>
              <a:t>Risk Segment</a:t>
            </a:r>
            <a:endParaRPr lang="en-US" sz="1950" dirty="0"/>
          </a:p>
        </p:txBody>
      </p:sp>
      <p:sp>
        <p:nvSpPr>
          <p:cNvPr id="15" name="Text 13"/>
          <p:cNvSpPr/>
          <p:nvPr/>
        </p:nvSpPr>
        <p:spPr>
          <a:xfrm>
            <a:off x="999768" y="6300668"/>
            <a:ext cx="2290286" cy="63507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Categorical tier for campaign routing logic</a:t>
            </a:r>
            <a:endParaRPr lang="en-US" sz="1550" dirty="0"/>
          </a:p>
        </p:txBody>
      </p:sp>
      <p:sp>
        <p:nvSpPr>
          <p:cNvPr id="16" name="Shape 14"/>
          <p:cNvSpPr/>
          <p:nvPr/>
        </p:nvSpPr>
        <p:spPr>
          <a:xfrm>
            <a:off x="3694390" y="5586174"/>
            <a:ext cx="2702362" cy="1865709"/>
          </a:xfrm>
          <a:prstGeom prst="roundRect">
            <a:avLst>
              <a:gd name="adj" fmla="val 4468"/>
            </a:avLst>
          </a:prstGeom>
          <a:solidFill>
            <a:srgbClr val="3D3D42"/>
          </a:solidFill>
          <a:ln w="7620">
            <a:solidFill>
              <a:srgbClr val="56565B"/>
            </a:solidFill>
            <a:prstDash val="solid"/>
          </a:ln>
        </p:spPr>
      </p:sp>
      <p:sp>
        <p:nvSpPr>
          <p:cNvPr id="17" name="Text 15"/>
          <p:cNvSpPr/>
          <p:nvPr/>
        </p:nvSpPr>
        <p:spPr>
          <a:xfrm>
            <a:off x="3900368" y="5792153"/>
            <a:ext cx="2290405" cy="620316"/>
          </a:xfrm>
          <a:prstGeom prst="rect">
            <a:avLst/>
          </a:prstGeom>
          <a:noFill/>
          <a:ln/>
        </p:spPr>
        <p:txBody>
          <a:bodyPr wrap="square" lIns="0" tIns="0" rIns="0" bIns="0" rtlCol="0" anchor="t"/>
          <a:lstStyle/>
          <a:p>
            <a:pPr marL="0" indent="0" algn="l">
              <a:lnSpc>
                <a:spcPts val="2400"/>
              </a:lnSpc>
              <a:buNone/>
            </a:pPr>
            <a:r>
              <a:rPr lang="en-US" sz="1950" dirty="0">
                <a:solidFill>
                  <a:srgbClr val="E5E0DF"/>
                </a:solidFill>
                <a:latin typeface="Poppins Light" pitchFamily="34" charset="0"/>
                <a:ea typeface="Poppins Light" pitchFamily="34" charset="-122"/>
                <a:cs typeface="Poppins Light" pitchFamily="34" charset="-120"/>
              </a:rPr>
              <a:t>Recommended Action</a:t>
            </a:r>
            <a:endParaRPr lang="en-US" sz="1950" dirty="0"/>
          </a:p>
        </p:txBody>
      </p:sp>
      <p:sp>
        <p:nvSpPr>
          <p:cNvPr id="18" name="Text 16"/>
          <p:cNvSpPr/>
          <p:nvPr/>
        </p:nvSpPr>
        <p:spPr>
          <a:xfrm>
            <a:off x="3900368" y="6610826"/>
            <a:ext cx="2290405" cy="63507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Prescriptive guidance for the retention agent</a:t>
            </a:r>
            <a:endParaRPr lang="en-US" sz="1550" dirty="0"/>
          </a:p>
        </p:txBody>
      </p:sp>
      <p:sp>
        <p:nvSpPr>
          <p:cNvPr id="19" name="Shape 17"/>
          <p:cNvSpPr/>
          <p:nvPr/>
        </p:nvSpPr>
        <p:spPr>
          <a:xfrm>
            <a:off x="6745605" y="2782967"/>
            <a:ext cx="7241381" cy="4892159"/>
          </a:xfrm>
          <a:prstGeom prst="roundRect">
            <a:avLst>
              <a:gd name="adj" fmla="val 2921"/>
            </a:avLst>
          </a:prstGeom>
          <a:solidFill>
            <a:srgbClr val="F2F2F3"/>
          </a:solidFill>
          <a:ln/>
        </p:spPr>
      </p:sp>
      <p:sp>
        <p:nvSpPr>
          <p:cNvPr id="20" name="Text 18"/>
          <p:cNvSpPr/>
          <p:nvPr/>
        </p:nvSpPr>
        <p:spPr>
          <a:xfrm>
            <a:off x="6943963" y="2981325"/>
            <a:ext cx="3080524" cy="310158"/>
          </a:xfrm>
          <a:prstGeom prst="rect">
            <a:avLst/>
          </a:prstGeom>
          <a:noFill/>
          <a:ln/>
        </p:spPr>
        <p:txBody>
          <a:bodyPr wrap="none" lIns="0" tIns="0" rIns="0" bIns="0" rtlCol="0" anchor="t"/>
          <a:lstStyle/>
          <a:p>
            <a:pPr marL="0" indent="0" algn="l">
              <a:lnSpc>
                <a:spcPts val="2400"/>
              </a:lnSpc>
              <a:buNone/>
            </a:pPr>
            <a:r>
              <a:rPr lang="en-US" sz="1950" dirty="0">
                <a:solidFill>
                  <a:srgbClr val="000000"/>
                </a:solidFill>
                <a:latin typeface="Poppins Light" pitchFamily="34" charset="0"/>
                <a:ea typeface="Poppins Light" pitchFamily="34" charset="-122"/>
                <a:cs typeface="Poppins Light" pitchFamily="34" charset="-120"/>
              </a:rPr>
              <a:t>How It Works in Practice</a:t>
            </a:r>
            <a:endParaRPr lang="en-US" sz="1950" dirty="0"/>
          </a:p>
        </p:txBody>
      </p:sp>
      <p:sp>
        <p:nvSpPr>
          <p:cNvPr id="21" name="Text 19"/>
          <p:cNvSpPr/>
          <p:nvPr/>
        </p:nvSpPr>
        <p:spPr>
          <a:xfrm>
            <a:off x="6943963" y="3489841"/>
            <a:ext cx="6844665" cy="1587698"/>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Roboto Light" pitchFamily="34" charset="0"/>
                <a:ea typeface="Roboto Light" pitchFamily="34" charset="-122"/>
                <a:cs typeface="Roboto Light" pitchFamily="34" charset="-120"/>
              </a:rPr>
              <a:t>The weekly export file is automatically uploaded to the CRM. Campaign managers use the risk segment and recommended action fields to configure automated outreach workflows — assigning customers to call queues, email campaigns, or loyalty program invitations with no manual segmentation required.</a:t>
            </a:r>
            <a:endParaRPr lang="en-US" sz="1550" dirty="0"/>
          </a:p>
        </p:txBody>
      </p:sp>
      <p:sp>
        <p:nvSpPr>
          <p:cNvPr id="22" name="Shape 20"/>
          <p:cNvSpPr/>
          <p:nvPr/>
        </p:nvSpPr>
        <p:spPr>
          <a:xfrm>
            <a:off x="6943963" y="5300782"/>
            <a:ext cx="6844665" cy="1478280"/>
          </a:xfrm>
          <a:prstGeom prst="roundRect">
            <a:avLst>
              <a:gd name="adj" fmla="val 5639"/>
            </a:avLst>
          </a:prstGeom>
          <a:solidFill>
            <a:srgbClr val="183A13"/>
          </a:solidFill>
          <a:ln/>
        </p:spPr>
      </p:sp>
      <p:pic>
        <p:nvPicPr>
          <p:cNvPr id="23" name="Image 0" descr="preencoded.png"/>
          <p:cNvPicPr>
            <a:picLocks noChangeAspect="1"/>
          </p:cNvPicPr>
          <p:nvPr/>
        </p:nvPicPr>
        <p:blipFill>
          <a:blip r:embed="rId3"/>
          <a:stretch>
            <a:fillRect/>
          </a:stretch>
        </p:blipFill>
        <p:spPr>
          <a:xfrm>
            <a:off x="7142321" y="5596057"/>
            <a:ext cx="248007" cy="198358"/>
          </a:xfrm>
          <a:prstGeom prst="rect">
            <a:avLst/>
          </a:prstGeom>
        </p:spPr>
      </p:pic>
      <p:sp>
        <p:nvSpPr>
          <p:cNvPr id="24" name="Text 21"/>
          <p:cNvSpPr/>
          <p:nvPr/>
        </p:nvSpPr>
        <p:spPr>
          <a:xfrm>
            <a:off x="7588687" y="5548670"/>
            <a:ext cx="6001583" cy="952619"/>
          </a:xfrm>
          <a:prstGeom prst="rect">
            <a:avLst/>
          </a:prstGeom>
          <a:noFill/>
          <a:ln/>
        </p:spPr>
        <p:txBody>
          <a:bodyPr wrap="square" lIns="0" tIns="0" rIns="0" bIns="0" rtlCol="0" anchor="t"/>
          <a:lstStyle/>
          <a:p>
            <a:pPr marL="0" indent="0" algn="l">
              <a:lnSpc>
                <a:spcPts val="2500"/>
              </a:lnSpc>
              <a:buNone/>
            </a:pPr>
            <a:r>
              <a:rPr lang="en-US" sz="1550" dirty="0">
                <a:solidFill>
                  <a:srgbClr val="FFFFFF"/>
                </a:solidFill>
                <a:latin typeface="Roboto Light" pitchFamily="34" charset="0"/>
                <a:ea typeface="Roboto Light" pitchFamily="34" charset="-122"/>
                <a:cs typeface="Roboto Light" pitchFamily="34" charset="-120"/>
              </a:rPr>
              <a:t>The CRM dashboard provides a real-time view of campaign progress, customer responses, and retention outcomes — closing the feedback loop for model improvement.</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793790" y="1275278"/>
            <a:ext cx="1566743" cy="373142"/>
          </a:xfrm>
          <a:prstGeom prst="roundRect">
            <a:avLst>
              <a:gd name="adj" fmla="val 17872"/>
            </a:avLst>
          </a:prstGeom>
          <a:solidFill>
            <a:srgbClr val="252528"/>
          </a:solidFill>
          <a:ln/>
        </p:spPr>
      </p:sp>
      <p:sp>
        <p:nvSpPr>
          <p:cNvPr id="3" name="Text 1"/>
          <p:cNvSpPr/>
          <p:nvPr/>
        </p:nvSpPr>
        <p:spPr>
          <a:xfrm>
            <a:off x="912852" y="1334810"/>
            <a:ext cx="1328618" cy="254079"/>
          </a:xfrm>
          <a:prstGeom prst="rect">
            <a:avLst/>
          </a:prstGeom>
          <a:noFill/>
          <a:ln/>
        </p:spPr>
        <p:txBody>
          <a:bodyPr wrap="none" lIns="0" tIns="0" rIns="0" bIns="0" rtlCol="0" anchor="t"/>
          <a:lstStyle/>
          <a:p>
            <a:pPr marL="0" indent="0" algn="l">
              <a:lnSpc>
                <a:spcPts val="2000"/>
              </a:lnSpc>
              <a:buNone/>
            </a:pPr>
            <a:r>
              <a:rPr lang="en-US" sz="1250" dirty="0">
                <a:solidFill>
                  <a:srgbClr val="E5E0DF"/>
                </a:solidFill>
                <a:latin typeface="Roboto Light" pitchFamily="34" charset="0"/>
                <a:ea typeface="Roboto Light" pitchFamily="34" charset="-122"/>
                <a:cs typeface="Roboto Light" pitchFamily="34" charset="-120"/>
              </a:rPr>
              <a:t>BUSINESS IMPACT</a:t>
            </a:r>
            <a:endParaRPr lang="en-US" sz="1250" dirty="0"/>
          </a:p>
        </p:txBody>
      </p:sp>
      <p:sp>
        <p:nvSpPr>
          <p:cNvPr id="4" name="Text 2"/>
          <p:cNvSpPr/>
          <p:nvPr/>
        </p:nvSpPr>
        <p:spPr>
          <a:xfrm>
            <a:off x="793790" y="1660481"/>
            <a:ext cx="9551004" cy="687313"/>
          </a:xfrm>
          <a:prstGeom prst="rect">
            <a:avLst/>
          </a:prstGeom>
          <a:noFill/>
          <a:ln/>
        </p:spPr>
        <p:txBody>
          <a:bodyPr wrap="none" lIns="0" tIns="0" rIns="0" bIns="0" rtlCol="0" anchor="t"/>
          <a:lstStyle/>
          <a:p>
            <a:pPr marL="0" indent="0" algn="l">
              <a:lnSpc>
                <a:spcPts val="4850"/>
              </a:lnSpc>
              <a:buNone/>
            </a:pPr>
            <a:r>
              <a:rPr lang="en-US" sz="3900" dirty="0">
                <a:solidFill>
                  <a:srgbClr val="F2F2F3"/>
                </a:solidFill>
                <a:latin typeface="Poppins Light" pitchFamily="34" charset="0"/>
                <a:ea typeface="Poppins Light" pitchFamily="34" charset="-122"/>
                <a:cs typeface="Poppins Light" pitchFamily="34" charset="-120"/>
              </a:rPr>
              <a:t>Measurable Revenue Impact at Scale</a:t>
            </a:r>
            <a:endParaRPr lang="en-US" sz="3900" dirty="0"/>
          </a:p>
        </p:txBody>
      </p:sp>
      <p:sp>
        <p:nvSpPr>
          <p:cNvPr id="5" name="Text 3"/>
          <p:cNvSpPr/>
          <p:nvPr/>
        </p:nvSpPr>
        <p:spPr>
          <a:xfrm>
            <a:off x="793790" y="2645450"/>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Roboto Light" pitchFamily="34" charset="0"/>
                <a:ea typeface="Roboto Light" pitchFamily="34" charset="-122"/>
                <a:cs typeface="Roboto Light" pitchFamily="34" charset="-120"/>
              </a:rPr>
              <a:t>The deployed system is projected to reduce annual churn from 18% to approximately 15–16%, representing a meaningful and measurable shift in the company's retention trajectory. Across a one-million-customer base, that improvement translates directly to protected revenue.</a:t>
            </a:r>
            <a:endParaRPr lang="en-US" sz="1550" dirty="0"/>
          </a:p>
        </p:txBody>
      </p:sp>
      <p:sp>
        <p:nvSpPr>
          <p:cNvPr id="6" name="Text 4"/>
          <p:cNvSpPr/>
          <p:nvPr/>
        </p:nvSpPr>
        <p:spPr>
          <a:xfrm>
            <a:off x="793790" y="3602950"/>
            <a:ext cx="4182189" cy="654963"/>
          </a:xfrm>
          <a:prstGeom prst="rect">
            <a:avLst/>
          </a:prstGeom>
          <a:noFill/>
          <a:ln/>
        </p:spPr>
        <p:txBody>
          <a:bodyPr wrap="none" lIns="0" tIns="0" rIns="0" bIns="0" rtlCol="0" anchor="t"/>
          <a:lstStyle/>
          <a:p>
            <a:pPr marL="0" indent="0" algn="ctr">
              <a:lnSpc>
                <a:spcPts val="5150"/>
              </a:lnSpc>
              <a:buNone/>
            </a:pPr>
            <a:r>
              <a:rPr lang="en-US" sz="5150" dirty="0">
                <a:solidFill>
                  <a:srgbClr val="E5E0DF"/>
                </a:solidFill>
                <a:latin typeface="Poppins Light" pitchFamily="34" charset="0"/>
                <a:ea typeface="Poppins Light" pitchFamily="34" charset="-122"/>
                <a:cs typeface="Poppins Light" pitchFamily="34" charset="-120"/>
              </a:rPr>
              <a:t>18%→15%</a:t>
            </a:r>
            <a:endParaRPr lang="en-US" sz="5150" dirty="0"/>
          </a:p>
        </p:txBody>
      </p:sp>
      <p:sp>
        <p:nvSpPr>
          <p:cNvPr id="7" name="Text 5"/>
          <p:cNvSpPr/>
          <p:nvPr/>
        </p:nvSpPr>
        <p:spPr>
          <a:xfrm>
            <a:off x="1544360" y="4505920"/>
            <a:ext cx="2681049" cy="310158"/>
          </a:xfrm>
          <a:prstGeom prst="rect">
            <a:avLst/>
          </a:prstGeom>
          <a:noFill/>
          <a:ln/>
        </p:spPr>
        <p:txBody>
          <a:bodyPr wrap="none" lIns="0" tIns="0" rIns="0" bIns="0" rtlCol="0" anchor="t"/>
          <a:lstStyle/>
          <a:p>
            <a:pPr marL="0" indent="0" algn="ctr">
              <a:lnSpc>
                <a:spcPts val="2400"/>
              </a:lnSpc>
              <a:buNone/>
            </a:pPr>
            <a:r>
              <a:rPr lang="en-US" sz="1950" dirty="0">
                <a:solidFill>
                  <a:srgbClr val="E5E0DF"/>
                </a:solidFill>
                <a:latin typeface="Poppins Light" pitchFamily="34" charset="0"/>
                <a:ea typeface="Poppins Light" pitchFamily="34" charset="-122"/>
                <a:cs typeface="Poppins Light" pitchFamily="34" charset="-120"/>
              </a:rPr>
              <a:t>Churn Rate Reduction</a:t>
            </a:r>
            <a:endParaRPr lang="en-US" sz="1950" dirty="0"/>
          </a:p>
        </p:txBody>
      </p:sp>
      <p:sp>
        <p:nvSpPr>
          <p:cNvPr id="8" name="Text 6"/>
          <p:cNvSpPr/>
          <p:nvPr/>
        </p:nvSpPr>
        <p:spPr>
          <a:xfrm>
            <a:off x="793790" y="4935141"/>
            <a:ext cx="4182189" cy="635079"/>
          </a:xfrm>
          <a:prstGeom prst="rect">
            <a:avLst/>
          </a:prstGeom>
          <a:noFill/>
          <a:ln/>
        </p:spPr>
        <p:txBody>
          <a:bodyPr wrap="square" lIns="0" tIns="0" rIns="0" bIns="0" rtlCol="0" anchor="t"/>
          <a:lstStyle/>
          <a:p>
            <a:pPr marL="0" indent="0" algn="ctr">
              <a:lnSpc>
                <a:spcPts val="2500"/>
              </a:lnSpc>
              <a:buNone/>
            </a:pPr>
            <a:r>
              <a:rPr lang="en-US" sz="1550" dirty="0">
                <a:solidFill>
                  <a:srgbClr val="E5E0DF"/>
                </a:solidFill>
                <a:latin typeface="Roboto Light" pitchFamily="34" charset="0"/>
                <a:ea typeface="Roboto Light" pitchFamily="34" charset="-122"/>
                <a:cs typeface="Roboto Light" pitchFamily="34" charset="-120"/>
              </a:rPr>
              <a:t>From current baseline to projected post-deployment rate</a:t>
            </a:r>
            <a:endParaRPr lang="en-US" sz="1550" dirty="0"/>
          </a:p>
        </p:txBody>
      </p:sp>
      <p:sp>
        <p:nvSpPr>
          <p:cNvPr id="9" name="Text 7"/>
          <p:cNvSpPr/>
          <p:nvPr/>
        </p:nvSpPr>
        <p:spPr>
          <a:xfrm>
            <a:off x="5223986" y="3602950"/>
            <a:ext cx="4182308" cy="654963"/>
          </a:xfrm>
          <a:prstGeom prst="rect">
            <a:avLst/>
          </a:prstGeom>
          <a:noFill/>
          <a:ln/>
        </p:spPr>
        <p:txBody>
          <a:bodyPr wrap="none" lIns="0" tIns="0" rIns="0" bIns="0" rtlCol="0" anchor="t"/>
          <a:lstStyle/>
          <a:p>
            <a:pPr marL="0" indent="0" algn="ctr">
              <a:lnSpc>
                <a:spcPts val="5150"/>
              </a:lnSpc>
              <a:buNone/>
            </a:pPr>
            <a:r>
              <a:rPr lang="en-US" sz="5150" dirty="0">
                <a:solidFill>
                  <a:srgbClr val="E5E0DF"/>
                </a:solidFill>
                <a:latin typeface="Poppins Light" pitchFamily="34" charset="0"/>
                <a:ea typeface="Poppins Light" pitchFamily="34" charset="-122"/>
                <a:cs typeface="Poppins Light" pitchFamily="34" charset="-120"/>
              </a:rPr>
              <a:t>27K</a:t>
            </a:r>
            <a:endParaRPr lang="en-US" sz="5150" dirty="0"/>
          </a:p>
        </p:txBody>
      </p:sp>
      <p:sp>
        <p:nvSpPr>
          <p:cNvPr id="10" name="Text 8"/>
          <p:cNvSpPr/>
          <p:nvPr/>
        </p:nvSpPr>
        <p:spPr>
          <a:xfrm>
            <a:off x="6062543" y="4505920"/>
            <a:ext cx="2505194" cy="310158"/>
          </a:xfrm>
          <a:prstGeom prst="rect">
            <a:avLst/>
          </a:prstGeom>
          <a:noFill/>
          <a:ln/>
        </p:spPr>
        <p:txBody>
          <a:bodyPr wrap="none" lIns="0" tIns="0" rIns="0" bIns="0" rtlCol="0" anchor="t"/>
          <a:lstStyle/>
          <a:p>
            <a:pPr marL="0" indent="0" algn="ctr">
              <a:lnSpc>
                <a:spcPts val="2400"/>
              </a:lnSpc>
              <a:buNone/>
            </a:pPr>
            <a:r>
              <a:rPr lang="en-US" sz="1950" dirty="0">
                <a:solidFill>
                  <a:srgbClr val="E5E0DF"/>
                </a:solidFill>
                <a:latin typeface="Poppins Light" pitchFamily="34" charset="0"/>
                <a:ea typeface="Poppins Light" pitchFamily="34" charset="-122"/>
                <a:cs typeface="Poppins Light" pitchFamily="34" charset="-120"/>
              </a:rPr>
              <a:t>Customers Retained</a:t>
            </a:r>
            <a:endParaRPr lang="en-US" sz="1950" dirty="0"/>
          </a:p>
        </p:txBody>
      </p:sp>
      <p:sp>
        <p:nvSpPr>
          <p:cNvPr id="11" name="Text 9"/>
          <p:cNvSpPr/>
          <p:nvPr/>
        </p:nvSpPr>
        <p:spPr>
          <a:xfrm>
            <a:off x="5223986" y="4935141"/>
            <a:ext cx="4182308" cy="635079"/>
          </a:xfrm>
          <a:prstGeom prst="rect">
            <a:avLst/>
          </a:prstGeom>
          <a:noFill/>
          <a:ln/>
        </p:spPr>
        <p:txBody>
          <a:bodyPr wrap="square" lIns="0" tIns="0" rIns="0" bIns="0" rtlCol="0" anchor="t"/>
          <a:lstStyle/>
          <a:p>
            <a:pPr marL="0" indent="0" algn="ctr">
              <a:lnSpc>
                <a:spcPts val="2500"/>
              </a:lnSpc>
              <a:buNone/>
            </a:pPr>
            <a:r>
              <a:rPr lang="en-US" sz="1550" dirty="0">
                <a:solidFill>
                  <a:srgbClr val="E5E0DF"/>
                </a:solidFill>
                <a:latin typeface="Roboto Light" pitchFamily="34" charset="0"/>
                <a:ea typeface="Roboto Light" pitchFamily="34" charset="-122"/>
                <a:cs typeface="Roboto Light" pitchFamily="34" charset="-120"/>
              </a:rPr>
              <a:t>Estimated number of churners successfully prevented annually</a:t>
            </a:r>
            <a:endParaRPr lang="en-US" sz="1550" dirty="0"/>
          </a:p>
        </p:txBody>
      </p:sp>
      <p:sp>
        <p:nvSpPr>
          <p:cNvPr id="12" name="Text 10"/>
          <p:cNvSpPr/>
          <p:nvPr/>
        </p:nvSpPr>
        <p:spPr>
          <a:xfrm>
            <a:off x="9654302" y="3602950"/>
            <a:ext cx="4182308" cy="654963"/>
          </a:xfrm>
          <a:prstGeom prst="rect">
            <a:avLst/>
          </a:prstGeom>
          <a:noFill/>
          <a:ln/>
        </p:spPr>
        <p:txBody>
          <a:bodyPr wrap="none" lIns="0" tIns="0" rIns="0" bIns="0" rtlCol="0" anchor="t"/>
          <a:lstStyle/>
          <a:p>
            <a:pPr marL="0" indent="0" algn="ctr">
              <a:lnSpc>
                <a:spcPts val="5150"/>
              </a:lnSpc>
              <a:buNone/>
            </a:pPr>
            <a:r>
              <a:rPr lang="en-US" sz="5150" dirty="0">
                <a:solidFill>
                  <a:srgbClr val="E5E0DF"/>
                </a:solidFill>
                <a:latin typeface="Poppins Light" pitchFamily="34" charset="0"/>
                <a:ea typeface="Poppins Light" pitchFamily="34" charset="-122"/>
                <a:cs typeface="Poppins Light" pitchFamily="34" charset="-120"/>
              </a:rPr>
              <a:t>$8.1M</a:t>
            </a:r>
            <a:endParaRPr lang="en-US" sz="5150" dirty="0"/>
          </a:p>
        </p:txBody>
      </p:sp>
      <p:sp>
        <p:nvSpPr>
          <p:cNvPr id="13" name="Text 11"/>
          <p:cNvSpPr/>
          <p:nvPr/>
        </p:nvSpPr>
        <p:spPr>
          <a:xfrm>
            <a:off x="10336768" y="4505920"/>
            <a:ext cx="2817376" cy="310158"/>
          </a:xfrm>
          <a:prstGeom prst="rect">
            <a:avLst/>
          </a:prstGeom>
          <a:noFill/>
          <a:ln/>
        </p:spPr>
        <p:txBody>
          <a:bodyPr wrap="none" lIns="0" tIns="0" rIns="0" bIns="0" rtlCol="0" anchor="t"/>
          <a:lstStyle/>
          <a:p>
            <a:pPr marL="0" indent="0" algn="ctr">
              <a:lnSpc>
                <a:spcPts val="2400"/>
              </a:lnSpc>
              <a:buNone/>
            </a:pPr>
            <a:r>
              <a:rPr lang="en-US" sz="1950" dirty="0">
                <a:solidFill>
                  <a:srgbClr val="E5E0DF"/>
                </a:solidFill>
                <a:latin typeface="Poppins Light" pitchFamily="34" charset="0"/>
                <a:ea typeface="Poppins Light" pitchFamily="34" charset="-122"/>
                <a:cs typeface="Poppins Light" pitchFamily="34" charset="-120"/>
              </a:rPr>
              <a:t>Annual Revenue Saved</a:t>
            </a:r>
            <a:endParaRPr lang="en-US" sz="1950" dirty="0"/>
          </a:p>
        </p:txBody>
      </p:sp>
      <p:sp>
        <p:nvSpPr>
          <p:cNvPr id="14" name="Text 12"/>
          <p:cNvSpPr/>
          <p:nvPr/>
        </p:nvSpPr>
        <p:spPr>
          <a:xfrm>
            <a:off x="9654302" y="4935141"/>
            <a:ext cx="4182308" cy="317540"/>
          </a:xfrm>
          <a:prstGeom prst="rect">
            <a:avLst/>
          </a:prstGeom>
          <a:noFill/>
          <a:ln/>
        </p:spPr>
        <p:txBody>
          <a:bodyPr wrap="none" lIns="0" tIns="0" rIns="0" bIns="0" rtlCol="0" anchor="t"/>
          <a:lstStyle/>
          <a:p>
            <a:pPr marL="0" indent="0" algn="ctr">
              <a:lnSpc>
                <a:spcPts val="2500"/>
              </a:lnSpc>
              <a:buNone/>
            </a:pPr>
            <a:r>
              <a:rPr lang="en-US" sz="1550" dirty="0">
                <a:solidFill>
                  <a:srgbClr val="E5E0DF"/>
                </a:solidFill>
                <a:latin typeface="Roboto Light" pitchFamily="34" charset="0"/>
                <a:ea typeface="Roboto Light" pitchFamily="34" charset="-122"/>
                <a:cs typeface="Roboto Light" pitchFamily="34" charset="-120"/>
              </a:rPr>
              <a:t>Based on $300 ARPU per retained customer</a:t>
            </a:r>
            <a:endParaRPr lang="en-US" sz="1550" dirty="0"/>
          </a:p>
        </p:txBody>
      </p:sp>
      <p:sp>
        <p:nvSpPr>
          <p:cNvPr id="15" name="Shape 13"/>
          <p:cNvSpPr/>
          <p:nvPr/>
        </p:nvSpPr>
        <p:spPr>
          <a:xfrm>
            <a:off x="793790" y="5793462"/>
            <a:ext cx="13042821" cy="1160740"/>
          </a:xfrm>
          <a:prstGeom prst="roundRect">
            <a:avLst>
              <a:gd name="adj" fmla="val 7182"/>
            </a:avLst>
          </a:prstGeom>
          <a:solidFill>
            <a:srgbClr val="183A13"/>
          </a:solidFill>
          <a:ln/>
        </p:spPr>
      </p:sp>
      <p:pic>
        <p:nvPicPr>
          <p:cNvPr id="16" name="Image 0" descr="preencoded.png"/>
          <p:cNvPicPr>
            <a:picLocks noChangeAspect="1"/>
          </p:cNvPicPr>
          <p:nvPr/>
        </p:nvPicPr>
        <p:blipFill>
          <a:blip r:embed="rId3"/>
          <a:stretch>
            <a:fillRect/>
          </a:stretch>
        </p:blipFill>
        <p:spPr>
          <a:xfrm>
            <a:off x="992148" y="6088737"/>
            <a:ext cx="248007" cy="198358"/>
          </a:xfrm>
          <a:prstGeom prst="rect">
            <a:avLst/>
          </a:prstGeom>
        </p:spPr>
      </p:pic>
      <p:sp>
        <p:nvSpPr>
          <p:cNvPr id="17" name="Text 14"/>
          <p:cNvSpPr/>
          <p:nvPr/>
        </p:nvSpPr>
        <p:spPr>
          <a:xfrm>
            <a:off x="1438513" y="6041350"/>
            <a:ext cx="12199739" cy="635079"/>
          </a:xfrm>
          <a:prstGeom prst="rect">
            <a:avLst/>
          </a:prstGeom>
          <a:noFill/>
          <a:ln/>
        </p:spPr>
        <p:txBody>
          <a:bodyPr wrap="square" lIns="0" tIns="0" rIns="0" bIns="0" rtlCol="0" anchor="t"/>
          <a:lstStyle/>
          <a:p>
            <a:pPr marL="0" indent="0" algn="l">
              <a:lnSpc>
                <a:spcPts val="2500"/>
              </a:lnSpc>
              <a:buNone/>
            </a:pPr>
            <a:r>
              <a:rPr lang="en-US" sz="1550" dirty="0">
                <a:solidFill>
                  <a:srgbClr val="FFFFFF"/>
                </a:solidFill>
                <a:latin typeface="Roboto Light" pitchFamily="34" charset="0"/>
                <a:ea typeface="Roboto Light" pitchFamily="34" charset="-122"/>
                <a:cs typeface="Roboto Light" pitchFamily="34" charset="-120"/>
              </a:rPr>
              <a:t> These projections assume the retention campaign achieves a </a:t>
            </a:r>
            <a:r>
              <a:rPr lang="en-US" sz="1550" b="1" dirty="0">
                <a:solidFill>
                  <a:srgbClr val="FFFFFF"/>
                </a:solidFill>
                <a:latin typeface="Roboto Light" pitchFamily="34" charset="0"/>
                <a:ea typeface="Roboto Light" pitchFamily="34" charset="-122"/>
                <a:cs typeface="Roboto Light" pitchFamily="34" charset="-120"/>
              </a:rPr>
              <a:t>15% success rate</a:t>
            </a:r>
            <a:r>
              <a:rPr lang="en-US" sz="1550" dirty="0">
                <a:solidFill>
                  <a:srgbClr val="FFFFFF"/>
                </a:solidFill>
                <a:latin typeface="Roboto Light" pitchFamily="34" charset="0"/>
                <a:ea typeface="Roboto Light" pitchFamily="34" charset="-122"/>
                <a:cs typeface="Roboto Light" pitchFamily="34" charset="-120"/>
              </a:rPr>
              <a:t> on targeted customers — a conservative estimate consistent with industry benchmarks for proactive telecom retention programs.</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2913340" y="329565"/>
            <a:ext cx="816173" cy="178475"/>
          </a:xfrm>
          <a:prstGeom prst="roundRect">
            <a:avLst>
              <a:gd name="adj" fmla="val 21018"/>
            </a:avLst>
          </a:prstGeom>
          <a:solidFill>
            <a:srgbClr val="252528"/>
          </a:solidFill>
          <a:ln/>
        </p:spPr>
      </p:sp>
      <p:sp>
        <p:nvSpPr>
          <p:cNvPr id="3" name="Text 1"/>
          <p:cNvSpPr/>
          <p:nvPr/>
        </p:nvSpPr>
        <p:spPr>
          <a:xfrm>
            <a:off x="2980253" y="363022"/>
            <a:ext cx="682347" cy="111562"/>
          </a:xfrm>
          <a:prstGeom prst="rect">
            <a:avLst/>
          </a:prstGeom>
          <a:noFill/>
          <a:ln/>
        </p:spPr>
        <p:txBody>
          <a:bodyPr wrap="none" lIns="0" tIns="0" rIns="0" bIns="0" rtlCol="0" anchor="t"/>
          <a:lstStyle/>
          <a:p>
            <a:pPr marL="0" indent="0" algn="l">
              <a:lnSpc>
                <a:spcPts val="850"/>
              </a:lnSpc>
              <a:buNone/>
            </a:pPr>
            <a:r>
              <a:rPr lang="en-US" sz="700" dirty="0">
                <a:solidFill>
                  <a:srgbClr val="E5E0DF"/>
                </a:solidFill>
                <a:latin typeface="Roboto Light" pitchFamily="34" charset="0"/>
                <a:ea typeface="Roboto Light" pitchFamily="34" charset="-122"/>
                <a:cs typeface="Roboto Light" pitchFamily="34" charset="-120"/>
              </a:rPr>
              <a:t>FINANCIAL CASE</a:t>
            </a:r>
            <a:endParaRPr lang="en-US" sz="700" dirty="0"/>
          </a:p>
        </p:txBody>
      </p:sp>
      <p:sp>
        <p:nvSpPr>
          <p:cNvPr id="4" name="Text 2"/>
          <p:cNvSpPr/>
          <p:nvPr/>
        </p:nvSpPr>
        <p:spPr>
          <a:xfrm>
            <a:off x="2913340" y="533043"/>
            <a:ext cx="4707255" cy="348853"/>
          </a:xfrm>
          <a:prstGeom prst="rect">
            <a:avLst/>
          </a:prstGeom>
          <a:noFill/>
          <a:ln/>
        </p:spPr>
        <p:txBody>
          <a:bodyPr wrap="none" lIns="0" tIns="0" rIns="0" bIns="0" rtlCol="0" anchor="t"/>
          <a:lstStyle/>
          <a:p>
            <a:pPr marL="0" indent="0" algn="l">
              <a:lnSpc>
                <a:spcPts val="2700"/>
              </a:lnSpc>
              <a:buNone/>
            </a:pPr>
            <a:r>
              <a:rPr lang="en-US" sz="2150" dirty="0">
                <a:solidFill>
                  <a:srgbClr val="F2F2F3"/>
                </a:solidFill>
                <a:latin typeface="Poppins Light" pitchFamily="34" charset="0"/>
                <a:ea typeface="Poppins Light" pitchFamily="34" charset="-122"/>
                <a:cs typeface="Poppins Light" pitchFamily="34" charset="-120"/>
              </a:rPr>
              <a:t>ROI: 170% Return in Under One Year</a:t>
            </a:r>
            <a:endParaRPr lang="en-US" sz="2150" dirty="0"/>
          </a:p>
        </p:txBody>
      </p:sp>
      <p:sp>
        <p:nvSpPr>
          <p:cNvPr id="5" name="Text 3"/>
          <p:cNvSpPr/>
          <p:nvPr/>
        </p:nvSpPr>
        <p:spPr>
          <a:xfrm>
            <a:off x="2913340" y="976074"/>
            <a:ext cx="8803719" cy="279083"/>
          </a:xfrm>
          <a:prstGeom prst="rect">
            <a:avLst/>
          </a:prstGeom>
          <a:noFill/>
          <a:ln/>
        </p:spPr>
        <p:txBody>
          <a:bodyPr wrap="square" lIns="0" tIns="0" rIns="0" bIns="0" rtlCol="0" anchor="t"/>
          <a:lstStyle/>
          <a:p>
            <a:pPr marL="0" indent="0" algn="l">
              <a:lnSpc>
                <a:spcPts val="1050"/>
              </a:lnSpc>
              <a:buNone/>
            </a:pPr>
            <a:r>
              <a:rPr lang="en-US" sz="850" dirty="0">
                <a:solidFill>
                  <a:srgbClr val="E5E0DF"/>
                </a:solidFill>
                <a:latin typeface="Roboto Light" pitchFamily="34" charset="0"/>
                <a:ea typeface="Roboto Light" pitchFamily="34" charset="-122"/>
                <a:cs typeface="Roboto Light" pitchFamily="34" charset="-120"/>
              </a:rPr>
              <a:t>The business case for this data product is compelling. With a retention campaign investment of approximately $3M, the system generates a net financial benefit of $5.1M — delivering a 170% return on investment and paying back the full deployment cost within the first year of operation.</a:t>
            </a:r>
            <a:endParaRPr lang="en-US" sz="850" dirty="0"/>
          </a:p>
        </p:txBody>
      </p:sp>
      <p:pic>
        <p:nvPicPr>
          <p:cNvPr id="6" name="Image 0" descr="preencoded.png"/>
          <p:cNvPicPr>
            <a:picLocks noChangeAspect="1"/>
          </p:cNvPicPr>
          <p:nvPr/>
        </p:nvPicPr>
        <p:blipFill>
          <a:blip r:embed="rId3"/>
          <a:stretch>
            <a:fillRect/>
          </a:stretch>
        </p:blipFill>
        <p:spPr>
          <a:xfrm>
            <a:off x="1555188" y="1258526"/>
            <a:ext cx="10175318" cy="4275324"/>
          </a:xfrm>
          <a:prstGeom prst="rect">
            <a:avLst/>
          </a:prstGeom>
        </p:spPr>
      </p:pic>
      <p:sp>
        <p:nvSpPr>
          <p:cNvPr id="7" name="Text 4"/>
          <p:cNvSpPr/>
          <p:nvPr/>
        </p:nvSpPr>
        <p:spPr>
          <a:xfrm>
            <a:off x="3947160" y="3387013"/>
            <a:ext cx="237411" cy="144780"/>
          </a:xfrm>
          <a:prstGeom prst="rect">
            <a:avLst/>
          </a:prstGeom>
          <a:noFill/>
          <a:ln/>
        </p:spPr>
        <p:txBody>
          <a:bodyPr wrap="square" lIns="30480" tIns="30480" rIns="30480" bIns="30480" rtlCol="0" anchor="t"/>
          <a:lstStyle/>
          <a:p>
            <a:pPr marL="0" indent="0" algn="l">
              <a:lnSpc>
                <a:spcPts val="650"/>
              </a:lnSpc>
              <a:buNone/>
            </a:pPr>
            <a:r>
              <a:rPr lang="en-US" sz="650" dirty="0">
                <a:solidFill>
                  <a:srgbClr val="000000"/>
                </a:solidFill>
                <a:latin typeface="-apple-system, BlinkMacSystemFont, Segoe UI, Roboto, Helvetica Neue, Arial, sans-serif Medium" pitchFamily="34" charset="0"/>
                <a:ea typeface="-apple-system, BlinkMacSystemFont, Segoe UI, Roboto, Helvetica Neue, Arial, sans-serif Medium" pitchFamily="34" charset="-122"/>
                <a:cs typeface="-apple-system, BlinkMacSystemFont, Segoe UI, Roboto, Helvetica Neue, Arial, sans-serif Medium" pitchFamily="34" charset="-120"/>
              </a:rPr>
              <a:t>8.1m</a:t>
            </a:r>
            <a:endParaRPr lang="en-US" sz="650" dirty="0"/>
          </a:p>
        </p:txBody>
      </p:sp>
      <p:sp>
        <p:nvSpPr>
          <p:cNvPr id="8" name="Text 5"/>
          <p:cNvSpPr/>
          <p:nvPr/>
        </p:nvSpPr>
        <p:spPr>
          <a:xfrm>
            <a:off x="5973660" y="2655889"/>
            <a:ext cx="445175" cy="144780"/>
          </a:xfrm>
          <a:prstGeom prst="rect">
            <a:avLst/>
          </a:prstGeom>
          <a:noFill/>
          <a:ln/>
        </p:spPr>
        <p:txBody>
          <a:bodyPr wrap="square" lIns="30480" tIns="30480" rIns="30480" bIns="30480" rtlCol="0" anchor="t"/>
          <a:lstStyle/>
          <a:p>
            <a:pPr marL="0" indent="0" algn="l">
              <a:lnSpc>
                <a:spcPts val="650"/>
              </a:lnSpc>
              <a:buNone/>
            </a:pPr>
            <a:r>
              <a:rPr lang="en-US" sz="650" dirty="0">
                <a:solidFill>
                  <a:srgbClr val="000000"/>
                </a:solidFill>
                <a:latin typeface="-apple-system, BlinkMacSystemFont, Segoe UI, Roboto, Helvetica Neue, Arial, sans-serif Medium" pitchFamily="34" charset="0"/>
                <a:ea typeface="-apple-system, BlinkMacSystemFont, Segoe UI, Roboto, Helvetica Neue, Arial, sans-serif Medium" pitchFamily="34" charset="-122"/>
                <a:cs typeface="-apple-system, BlinkMacSystemFont, Segoe UI, Roboto, Helvetica Neue, Arial, sans-serif Medium" pitchFamily="34" charset="-120"/>
              </a:rPr>
              <a:t>-3,000,000</a:t>
            </a:r>
            <a:endParaRPr lang="en-US" sz="650" dirty="0"/>
          </a:p>
        </p:txBody>
      </p:sp>
      <p:sp>
        <p:nvSpPr>
          <p:cNvPr id="9" name="Text 6"/>
          <p:cNvSpPr/>
          <p:nvPr/>
        </p:nvSpPr>
        <p:spPr>
          <a:xfrm>
            <a:off x="8181970" y="2354838"/>
            <a:ext cx="283845" cy="144780"/>
          </a:xfrm>
          <a:prstGeom prst="rect">
            <a:avLst/>
          </a:prstGeom>
          <a:noFill/>
          <a:ln/>
        </p:spPr>
        <p:txBody>
          <a:bodyPr wrap="square" lIns="30480" tIns="30480" rIns="30480" bIns="30480" rtlCol="0" anchor="t"/>
          <a:lstStyle/>
          <a:p>
            <a:pPr marL="0" indent="0" algn="l">
              <a:lnSpc>
                <a:spcPts val="650"/>
              </a:lnSpc>
              <a:buNone/>
            </a:pPr>
            <a:r>
              <a:rPr lang="en-US" sz="650" dirty="0">
                <a:solidFill>
                  <a:srgbClr val="000000"/>
                </a:solidFill>
                <a:latin typeface="-apple-system, BlinkMacSystemFont, Segoe UI, Roboto, Helvetica Neue, Arial, sans-serif Medium" pitchFamily="34" charset="0"/>
                <a:ea typeface="-apple-system, BlinkMacSystemFont, Segoe UI, Roboto, Helvetica Neue, Arial, sans-serif Medium" pitchFamily="34" charset="-122"/>
                <a:cs typeface="-apple-system, BlinkMacSystemFont, Segoe UI, Roboto, Helvetica Neue, Arial, sans-serif Medium" pitchFamily="34" charset="-120"/>
              </a:rPr>
              <a:t>+5.1m</a:t>
            </a:r>
            <a:endParaRPr lang="en-US" sz="650" dirty="0"/>
          </a:p>
        </p:txBody>
      </p:sp>
      <p:sp>
        <p:nvSpPr>
          <p:cNvPr id="10" name="Text 7"/>
          <p:cNvSpPr/>
          <p:nvPr/>
        </p:nvSpPr>
        <p:spPr>
          <a:xfrm>
            <a:off x="10309020" y="3085962"/>
            <a:ext cx="285036" cy="144780"/>
          </a:xfrm>
          <a:prstGeom prst="rect">
            <a:avLst/>
          </a:prstGeom>
          <a:noFill/>
          <a:ln/>
        </p:spPr>
        <p:txBody>
          <a:bodyPr wrap="square" lIns="30480" tIns="30480" rIns="30480" bIns="30480" rtlCol="0" anchor="t"/>
          <a:lstStyle/>
          <a:p>
            <a:pPr marL="0" indent="0" algn="l">
              <a:lnSpc>
                <a:spcPts val="650"/>
              </a:lnSpc>
              <a:buNone/>
            </a:pPr>
            <a:r>
              <a:rPr lang="en-US" sz="650" dirty="0">
                <a:solidFill>
                  <a:srgbClr val="000000"/>
                </a:solidFill>
                <a:latin typeface="-apple-system, BlinkMacSystemFont, Segoe UI, Roboto, Helvetica Neue, Arial, sans-serif Medium" pitchFamily="34" charset="0"/>
                <a:ea typeface="-apple-system, BlinkMacSystemFont, Segoe UI, Roboto, Helvetica Neue, Arial, sans-serif Medium" pitchFamily="34" charset="-122"/>
                <a:cs typeface="-apple-system, BlinkMacSystemFont, Segoe UI, Roboto, Helvetica Neue, Arial, sans-serif Medium" pitchFamily="34" charset="-120"/>
              </a:rPr>
              <a:t>10.2m</a:t>
            </a:r>
            <a:endParaRPr lang="en-US" sz="650" dirty="0"/>
          </a:p>
        </p:txBody>
      </p:sp>
      <p:sp>
        <p:nvSpPr>
          <p:cNvPr id="11" name="Shape 8"/>
          <p:cNvSpPr/>
          <p:nvPr/>
        </p:nvSpPr>
        <p:spPr>
          <a:xfrm>
            <a:off x="2913340" y="6396990"/>
            <a:ext cx="2101453" cy="754618"/>
          </a:xfrm>
          <a:prstGeom prst="roundRect">
            <a:avLst>
              <a:gd name="adj" fmla="val 6214"/>
            </a:avLst>
          </a:prstGeom>
          <a:solidFill>
            <a:srgbClr val="3D3D42"/>
          </a:solidFill>
          <a:ln w="7620">
            <a:solidFill>
              <a:srgbClr val="56565B"/>
            </a:solidFill>
            <a:prstDash val="solid"/>
          </a:ln>
        </p:spPr>
      </p:sp>
      <p:sp>
        <p:nvSpPr>
          <p:cNvPr id="12" name="Text 9"/>
          <p:cNvSpPr/>
          <p:nvPr/>
        </p:nvSpPr>
        <p:spPr>
          <a:xfrm>
            <a:off x="3032522" y="6516172"/>
            <a:ext cx="1395412" cy="174427"/>
          </a:xfrm>
          <a:prstGeom prst="rect">
            <a:avLst/>
          </a:prstGeom>
          <a:noFill/>
          <a:ln/>
        </p:spPr>
        <p:txBody>
          <a:bodyPr wrap="none" lIns="0" tIns="0" rIns="0" bIns="0" rtlCol="0" anchor="t"/>
          <a:lstStyle/>
          <a:p>
            <a:pPr marL="0" indent="0" algn="l">
              <a:lnSpc>
                <a:spcPts val="1350"/>
              </a:lnSpc>
              <a:buNone/>
            </a:pPr>
            <a:r>
              <a:rPr lang="en-US" sz="1050" dirty="0">
                <a:solidFill>
                  <a:srgbClr val="E5E0DF"/>
                </a:solidFill>
                <a:latin typeface="Poppins Light" pitchFamily="34" charset="0"/>
                <a:ea typeface="Poppins Light" pitchFamily="34" charset="-122"/>
                <a:cs typeface="Poppins Light" pitchFamily="34" charset="-120"/>
              </a:rPr>
              <a:t>~$3M</a:t>
            </a:r>
            <a:endParaRPr lang="en-US" sz="1050" dirty="0"/>
          </a:p>
        </p:txBody>
      </p:sp>
      <p:sp>
        <p:nvSpPr>
          <p:cNvPr id="13" name="Text 10"/>
          <p:cNvSpPr/>
          <p:nvPr/>
        </p:nvSpPr>
        <p:spPr>
          <a:xfrm>
            <a:off x="3032522" y="6753344"/>
            <a:ext cx="1863090" cy="279083"/>
          </a:xfrm>
          <a:prstGeom prst="rect">
            <a:avLst/>
          </a:prstGeom>
          <a:noFill/>
          <a:ln/>
        </p:spPr>
        <p:txBody>
          <a:bodyPr wrap="square" lIns="0" tIns="0" rIns="0" bIns="0" rtlCol="0" anchor="t"/>
          <a:lstStyle/>
          <a:p>
            <a:pPr marL="0" indent="0" algn="l">
              <a:lnSpc>
                <a:spcPts val="1050"/>
              </a:lnSpc>
              <a:buNone/>
            </a:pPr>
            <a:r>
              <a:rPr lang="en-US" sz="850" dirty="0">
                <a:solidFill>
                  <a:srgbClr val="E5E0DF"/>
                </a:solidFill>
                <a:latin typeface="Roboto Light" pitchFamily="34" charset="0"/>
                <a:ea typeface="Roboto Light" pitchFamily="34" charset="-122"/>
                <a:cs typeface="Roboto Light" pitchFamily="34" charset="-120"/>
              </a:rPr>
              <a:t>Total retention campaign cost (outreach, offers, tooling)</a:t>
            </a:r>
            <a:endParaRPr lang="en-US" sz="850" dirty="0"/>
          </a:p>
        </p:txBody>
      </p:sp>
      <p:sp>
        <p:nvSpPr>
          <p:cNvPr id="14" name="Shape 11"/>
          <p:cNvSpPr/>
          <p:nvPr/>
        </p:nvSpPr>
        <p:spPr>
          <a:xfrm>
            <a:off x="5077539" y="6396990"/>
            <a:ext cx="2101572" cy="754618"/>
          </a:xfrm>
          <a:prstGeom prst="roundRect">
            <a:avLst>
              <a:gd name="adj" fmla="val 6214"/>
            </a:avLst>
          </a:prstGeom>
          <a:solidFill>
            <a:srgbClr val="3D3D42"/>
          </a:solidFill>
          <a:ln w="7620">
            <a:solidFill>
              <a:srgbClr val="56565B"/>
            </a:solidFill>
            <a:prstDash val="solid"/>
          </a:ln>
        </p:spPr>
      </p:sp>
      <p:sp>
        <p:nvSpPr>
          <p:cNvPr id="15" name="Text 12"/>
          <p:cNvSpPr/>
          <p:nvPr/>
        </p:nvSpPr>
        <p:spPr>
          <a:xfrm>
            <a:off x="5196721" y="6516172"/>
            <a:ext cx="1395412" cy="174427"/>
          </a:xfrm>
          <a:prstGeom prst="rect">
            <a:avLst/>
          </a:prstGeom>
          <a:noFill/>
          <a:ln/>
        </p:spPr>
        <p:txBody>
          <a:bodyPr wrap="none" lIns="0" tIns="0" rIns="0" bIns="0" rtlCol="0" anchor="t"/>
          <a:lstStyle/>
          <a:p>
            <a:pPr marL="0" indent="0" algn="l">
              <a:lnSpc>
                <a:spcPts val="1350"/>
              </a:lnSpc>
              <a:buNone/>
            </a:pPr>
            <a:r>
              <a:rPr lang="en-US" sz="1050" dirty="0">
                <a:solidFill>
                  <a:srgbClr val="E5E0DF"/>
                </a:solidFill>
                <a:latin typeface="Poppins Light" pitchFamily="34" charset="0"/>
                <a:ea typeface="Poppins Light" pitchFamily="34" charset="-122"/>
                <a:cs typeface="Poppins Light" pitchFamily="34" charset="-120"/>
              </a:rPr>
              <a:t>~$5.1M</a:t>
            </a:r>
            <a:endParaRPr lang="en-US" sz="1050" dirty="0"/>
          </a:p>
        </p:txBody>
      </p:sp>
      <p:sp>
        <p:nvSpPr>
          <p:cNvPr id="16" name="Text 13"/>
          <p:cNvSpPr/>
          <p:nvPr/>
        </p:nvSpPr>
        <p:spPr>
          <a:xfrm>
            <a:off x="5196721" y="6753344"/>
            <a:ext cx="1863209" cy="279083"/>
          </a:xfrm>
          <a:prstGeom prst="rect">
            <a:avLst/>
          </a:prstGeom>
          <a:noFill/>
          <a:ln/>
        </p:spPr>
        <p:txBody>
          <a:bodyPr wrap="square" lIns="0" tIns="0" rIns="0" bIns="0" rtlCol="0" anchor="t"/>
          <a:lstStyle/>
          <a:p>
            <a:pPr marL="0" indent="0" algn="l">
              <a:lnSpc>
                <a:spcPts val="1050"/>
              </a:lnSpc>
              <a:buNone/>
            </a:pPr>
            <a:r>
              <a:rPr lang="en-US" sz="850" dirty="0">
                <a:solidFill>
                  <a:srgbClr val="E5E0DF"/>
                </a:solidFill>
                <a:latin typeface="Roboto Light" pitchFamily="34" charset="0"/>
                <a:ea typeface="Roboto Light" pitchFamily="34" charset="-122"/>
                <a:cs typeface="Roboto Light" pitchFamily="34" charset="-120"/>
              </a:rPr>
              <a:t>Net financial benefit after campaign costs</a:t>
            </a:r>
            <a:endParaRPr lang="en-US" sz="850" dirty="0"/>
          </a:p>
        </p:txBody>
      </p:sp>
      <p:sp>
        <p:nvSpPr>
          <p:cNvPr id="17" name="Shape 14"/>
          <p:cNvSpPr/>
          <p:nvPr/>
        </p:nvSpPr>
        <p:spPr>
          <a:xfrm>
            <a:off x="2913340" y="7214354"/>
            <a:ext cx="2101453" cy="615077"/>
          </a:xfrm>
          <a:prstGeom prst="roundRect">
            <a:avLst>
              <a:gd name="adj" fmla="val 7623"/>
            </a:avLst>
          </a:prstGeom>
          <a:solidFill>
            <a:srgbClr val="3D3D42"/>
          </a:solidFill>
          <a:ln w="7620">
            <a:solidFill>
              <a:srgbClr val="56565B"/>
            </a:solidFill>
            <a:prstDash val="solid"/>
          </a:ln>
        </p:spPr>
      </p:sp>
      <p:sp>
        <p:nvSpPr>
          <p:cNvPr id="18" name="Text 15"/>
          <p:cNvSpPr/>
          <p:nvPr/>
        </p:nvSpPr>
        <p:spPr>
          <a:xfrm>
            <a:off x="3032522" y="7333536"/>
            <a:ext cx="1395412" cy="174427"/>
          </a:xfrm>
          <a:prstGeom prst="rect">
            <a:avLst/>
          </a:prstGeom>
          <a:noFill/>
          <a:ln/>
        </p:spPr>
        <p:txBody>
          <a:bodyPr wrap="none" lIns="0" tIns="0" rIns="0" bIns="0" rtlCol="0" anchor="t"/>
          <a:lstStyle/>
          <a:p>
            <a:pPr marL="0" indent="0" algn="l">
              <a:lnSpc>
                <a:spcPts val="1350"/>
              </a:lnSpc>
              <a:buNone/>
            </a:pPr>
            <a:r>
              <a:rPr lang="en-US" sz="1050" dirty="0">
                <a:solidFill>
                  <a:srgbClr val="E5E0DF"/>
                </a:solidFill>
                <a:latin typeface="Poppins Light" pitchFamily="34" charset="0"/>
                <a:ea typeface="Poppins Light" pitchFamily="34" charset="-122"/>
                <a:cs typeface="Poppins Light" pitchFamily="34" charset="-120"/>
              </a:rPr>
              <a:t>~170%</a:t>
            </a:r>
            <a:endParaRPr lang="en-US" sz="1050" dirty="0"/>
          </a:p>
        </p:txBody>
      </p:sp>
      <p:sp>
        <p:nvSpPr>
          <p:cNvPr id="19" name="Text 16"/>
          <p:cNvSpPr/>
          <p:nvPr/>
        </p:nvSpPr>
        <p:spPr>
          <a:xfrm>
            <a:off x="3032522" y="7570708"/>
            <a:ext cx="1863090" cy="139541"/>
          </a:xfrm>
          <a:prstGeom prst="rect">
            <a:avLst/>
          </a:prstGeom>
          <a:noFill/>
          <a:ln/>
        </p:spPr>
        <p:txBody>
          <a:bodyPr wrap="none" lIns="0" tIns="0" rIns="0" bIns="0" rtlCol="0" anchor="t"/>
          <a:lstStyle/>
          <a:p>
            <a:pPr marL="0" indent="0" algn="l">
              <a:lnSpc>
                <a:spcPts val="1050"/>
              </a:lnSpc>
              <a:buNone/>
            </a:pPr>
            <a:r>
              <a:rPr lang="en-US" sz="850" dirty="0">
                <a:solidFill>
                  <a:srgbClr val="E5E0DF"/>
                </a:solidFill>
                <a:latin typeface="Roboto Light" pitchFamily="34" charset="0"/>
                <a:ea typeface="Roboto Light" pitchFamily="34" charset="-122"/>
                <a:cs typeface="Roboto Light" pitchFamily="34" charset="-120"/>
              </a:rPr>
              <a:t>Return on investment</a:t>
            </a:r>
            <a:endParaRPr lang="en-US" sz="850" dirty="0"/>
          </a:p>
        </p:txBody>
      </p:sp>
      <p:sp>
        <p:nvSpPr>
          <p:cNvPr id="20" name="Shape 17"/>
          <p:cNvSpPr/>
          <p:nvPr/>
        </p:nvSpPr>
        <p:spPr>
          <a:xfrm>
            <a:off x="5077539" y="7214354"/>
            <a:ext cx="2101572" cy="615077"/>
          </a:xfrm>
          <a:prstGeom prst="roundRect">
            <a:avLst>
              <a:gd name="adj" fmla="val 7623"/>
            </a:avLst>
          </a:prstGeom>
          <a:solidFill>
            <a:srgbClr val="3D3D42"/>
          </a:solidFill>
          <a:ln w="7620">
            <a:solidFill>
              <a:srgbClr val="56565B"/>
            </a:solidFill>
            <a:prstDash val="solid"/>
          </a:ln>
        </p:spPr>
      </p:sp>
      <p:sp>
        <p:nvSpPr>
          <p:cNvPr id="21" name="Text 18"/>
          <p:cNvSpPr/>
          <p:nvPr/>
        </p:nvSpPr>
        <p:spPr>
          <a:xfrm>
            <a:off x="5196721" y="7333536"/>
            <a:ext cx="1395412" cy="174427"/>
          </a:xfrm>
          <a:prstGeom prst="rect">
            <a:avLst/>
          </a:prstGeom>
          <a:noFill/>
          <a:ln/>
        </p:spPr>
        <p:txBody>
          <a:bodyPr wrap="none" lIns="0" tIns="0" rIns="0" bIns="0" rtlCol="0" anchor="t"/>
          <a:lstStyle/>
          <a:p>
            <a:pPr marL="0" indent="0" algn="l">
              <a:lnSpc>
                <a:spcPts val="1350"/>
              </a:lnSpc>
              <a:buNone/>
            </a:pPr>
            <a:r>
              <a:rPr lang="en-US" sz="1050" dirty="0">
                <a:solidFill>
                  <a:srgbClr val="E5E0DF"/>
                </a:solidFill>
                <a:latin typeface="Poppins Light" pitchFamily="34" charset="0"/>
                <a:ea typeface="Poppins Light" pitchFamily="34" charset="-122"/>
                <a:cs typeface="Poppins Light" pitchFamily="34" charset="-120"/>
              </a:rPr>
              <a:t>&lt; 1 Year</a:t>
            </a:r>
            <a:endParaRPr lang="en-US" sz="1050" dirty="0"/>
          </a:p>
        </p:txBody>
      </p:sp>
      <p:sp>
        <p:nvSpPr>
          <p:cNvPr id="22" name="Text 19"/>
          <p:cNvSpPr/>
          <p:nvPr/>
        </p:nvSpPr>
        <p:spPr>
          <a:xfrm>
            <a:off x="5196721" y="7570708"/>
            <a:ext cx="1863209" cy="139541"/>
          </a:xfrm>
          <a:prstGeom prst="rect">
            <a:avLst/>
          </a:prstGeom>
          <a:noFill/>
          <a:ln/>
        </p:spPr>
        <p:txBody>
          <a:bodyPr wrap="none" lIns="0" tIns="0" rIns="0" bIns="0" rtlCol="0" anchor="t"/>
          <a:lstStyle/>
          <a:p>
            <a:pPr marL="0" indent="0" algn="l">
              <a:lnSpc>
                <a:spcPts val="1050"/>
              </a:lnSpc>
              <a:buNone/>
            </a:pPr>
            <a:r>
              <a:rPr lang="en-US" sz="850" dirty="0">
                <a:solidFill>
                  <a:srgbClr val="E5E0DF"/>
                </a:solidFill>
                <a:latin typeface="Roboto Light" pitchFamily="34" charset="0"/>
                <a:ea typeface="Roboto Light" pitchFamily="34" charset="-122"/>
                <a:cs typeface="Roboto Light" pitchFamily="34" charset="-120"/>
              </a:rPr>
              <a:t>Full payback period</a:t>
            </a:r>
            <a:endParaRPr lang="en-US" sz="850" dirty="0"/>
          </a:p>
        </p:txBody>
      </p:sp>
      <p:sp>
        <p:nvSpPr>
          <p:cNvPr id="23" name="Shape 20"/>
          <p:cNvSpPr/>
          <p:nvPr/>
        </p:nvSpPr>
        <p:spPr>
          <a:xfrm>
            <a:off x="7458908" y="6396990"/>
            <a:ext cx="4265771" cy="760928"/>
          </a:xfrm>
          <a:prstGeom prst="roundRect">
            <a:avLst>
              <a:gd name="adj" fmla="val 6162"/>
            </a:avLst>
          </a:prstGeom>
          <a:solidFill>
            <a:srgbClr val="022349"/>
          </a:solidFill>
          <a:ln/>
        </p:spPr>
      </p:sp>
      <p:pic>
        <p:nvPicPr>
          <p:cNvPr id="24" name="Image 1" descr="preencoded.png"/>
          <p:cNvPicPr>
            <a:picLocks noChangeAspect="1"/>
          </p:cNvPicPr>
          <p:nvPr/>
        </p:nvPicPr>
        <p:blipFill>
          <a:blip r:embed="rId4"/>
          <a:stretch>
            <a:fillRect/>
          </a:stretch>
        </p:blipFill>
        <p:spPr>
          <a:xfrm>
            <a:off x="7570470" y="6545461"/>
            <a:ext cx="139541" cy="111562"/>
          </a:xfrm>
          <a:prstGeom prst="rect">
            <a:avLst/>
          </a:prstGeom>
        </p:spPr>
      </p:pic>
      <p:sp>
        <p:nvSpPr>
          <p:cNvPr id="25" name="Text 21"/>
          <p:cNvSpPr/>
          <p:nvPr/>
        </p:nvSpPr>
        <p:spPr>
          <a:xfrm>
            <a:off x="7821573" y="6487597"/>
            <a:ext cx="3791545" cy="558165"/>
          </a:xfrm>
          <a:prstGeom prst="rect">
            <a:avLst/>
          </a:prstGeom>
          <a:noFill/>
          <a:ln/>
        </p:spPr>
        <p:txBody>
          <a:bodyPr wrap="square" lIns="0" tIns="0" rIns="0" bIns="0" rtlCol="0" anchor="t"/>
          <a:lstStyle/>
          <a:p>
            <a:pPr marL="0" indent="0" algn="l">
              <a:lnSpc>
                <a:spcPts val="1050"/>
              </a:lnSpc>
              <a:buNone/>
            </a:pPr>
            <a:r>
              <a:rPr lang="en-US" sz="850" dirty="0">
                <a:solidFill>
                  <a:srgbClr val="FFFFFF"/>
                </a:solidFill>
                <a:latin typeface="Roboto Light" pitchFamily="34" charset="0"/>
                <a:ea typeface="Roboto Light" pitchFamily="34" charset="-122"/>
                <a:cs typeface="Roboto Light" pitchFamily="34" charset="-120"/>
              </a:rPr>
              <a:t>Beyond the direct financial return, the system also delivers </a:t>
            </a:r>
            <a:r>
              <a:rPr lang="en-US" sz="850" b="1" dirty="0">
                <a:solidFill>
                  <a:srgbClr val="FFFFFF"/>
                </a:solidFill>
                <a:latin typeface="Roboto Light" pitchFamily="34" charset="0"/>
                <a:ea typeface="Roboto Light" pitchFamily="34" charset="-122"/>
                <a:cs typeface="Roboto Light" pitchFamily="34" charset="-120"/>
              </a:rPr>
              <a:t>compounding value</a:t>
            </a:r>
            <a:r>
              <a:rPr lang="en-US" sz="850" dirty="0">
                <a:solidFill>
                  <a:srgbClr val="FFFFFF"/>
                </a:solidFill>
                <a:latin typeface="Roboto Light" pitchFamily="34" charset="0"/>
                <a:ea typeface="Roboto Light" pitchFamily="34" charset="-122"/>
                <a:cs typeface="Roboto Light" pitchFamily="34" charset="-120"/>
              </a:rPr>
              <a:t> over time: each monthly retraining cycle improves model accuracy, and CRM integration enables increasingly personalized and effective retention campaigns.</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682228" y="533281"/>
            <a:ext cx="1035129" cy="305038"/>
          </a:xfrm>
          <a:prstGeom prst="roundRect">
            <a:avLst>
              <a:gd name="adj" fmla="val 18788"/>
            </a:avLst>
          </a:prstGeom>
          <a:solidFill>
            <a:srgbClr val="252528"/>
          </a:solidFill>
          <a:ln/>
        </p:spPr>
      </p:sp>
      <p:sp>
        <p:nvSpPr>
          <p:cNvPr id="3" name="Text 1"/>
          <p:cNvSpPr/>
          <p:nvPr/>
        </p:nvSpPr>
        <p:spPr>
          <a:xfrm>
            <a:off x="784503" y="584359"/>
            <a:ext cx="830580" cy="202883"/>
          </a:xfrm>
          <a:prstGeom prst="rect">
            <a:avLst/>
          </a:prstGeom>
          <a:noFill/>
          <a:ln/>
        </p:spPr>
        <p:txBody>
          <a:bodyPr wrap="none" lIns="0" tIns="0" rIns="0" bIns="0" rtlCol="0" anchor="t"/>
          <a:lstStyle/>
          <a:p>
            <a:pPr marL="0" indent="0" algn="l">
              <a:lnSpc>
                <a:spcPts val="1550"/>
              </a:lnSpc>
              <a:buNone/>
            </a:pPr>
            <a:r>
              <a:rPr lang="en-US" sz="1050" dirty="0">
                <a:solidFill>
                  <a:srgbClr val="E5E0DF"/>
                </a:solidFill>
                <a:latin typeface="Roboto Light" pitchFamily="34" charset="0"/>
                <a:ea typeface="Roboto Light" pitchFamily="34" charset="-122"/>
                <a:cs typeface="Roboto Light" pitchFamily="34" charset="-120"/>
              </a:rPr>
              <a:t>CONCLUSION</a:t>
            </a:r>
            <a:endParaRPr lang="en-US" sz="1050" dirty="0"/>
          </a:p>
        </p:txBody>
      </p:sp>
      <p:sp>
        <p:nvSpPr>
          <p:cNvPr id="4" name="Text 2"/>
          <p:cNvSpPr/>
          <p:nvPr/>
        </p:nvSpPr>
        <p:spPr>
          <a:xfrm>
            <a:off x="682228" y="896898"/>
            <a:ext cx="9165193" cy="532924"/>
          </a:xfrm>
          <a:prstGeom prst="rect">
            <a:avLst/>
          </a:prstGeom>
          <a:noFill/>
          <a:ln/>
        </p:spPr>
        <p:txBody>
          <a:bodyPr wrap="none" lIns="0" tIns="0" rIns="0" bIns="0" rtlCol="0" anchor="t"/>
          <a:lstStyle/>
          <a:p>
            <a:pPr marL="0" indent="0" algn="l">
              <a:lnSpc>
                <a:spcPts val="4150"/>
              </a:lnSpc>
              <a:buNone/>
            </a:pPr>
            <a:r>
              <a:rPr lang="en-US" sz="3350" dirty="0">
                <a:solidFill>
                  <a:srgbClr val="F2F2F3"/>
                </a:solidFill>
                <a:latin typeface="Poppins Light" pitchFamily="34" charset="0"/>
                <a:ea typeface="Poppins Light" pitchFamily="34" charset="-122"/>
                <a:cs typeface="Poppins Light" pitchFamily="34" charset="-120"/>
              </a:rPr>
              <a:t>From Experiment to Enterprise Data Product</a:t>
            </a:r>
            <a:endParaRPr lang="en-US" sz="3350" dirty="0"/>
          </a:p>
        </p:txBody>
      </p:sp>
      <p:sp>
        <p:nvSpPr>
          <p:cNvPr id="5" name="Text 3"/>
          <p:cNvSpPr/>
          <p:nvPr/>
        </p:nvSpPr>
        <p:spPr>
          <a:xfrm>
            <a:off x="682228" y="1649611"/>
            <a:ext cx="13265944" cy="507444"/>
          </a:xfrm>
          <a:prstGeom prst="rect">
            <a:avLst/>
          </a:prstGeom>
          <a:noFill/>
          <a:ln/>
        </p:spPr>
        <p:txBody>
          <a:bodyPr wrap="square" lIns="0" tIns="0" rIns="0" bIns="0" rtlCol="0" anchor="t"/>
          <a:lstStyle/>
          <a:p>
            <a:pPr marL="0" indent="0" algn="l">
              <a:lnSpc>
                <a:spcPts val="1950"/>
              </a:lnSpc>
              <a:buNone/>
            </a:pPr>
            <a:r>
              <a:rPr lang="en-US" sz="1300" dirty="0">
                <a:solidFill>
                  <a:srgbClr val="E5E0DF"/>
                </a:solidFill>
                <a:latin typeface="Roboto Light" pitchFamily="34" charset="0"/>
                <a:ea typeface="Roboto Light" pitchFamily="34" charset="-122"/>
                <a:cs typeface="Roboto Light" pitchFamily="34" charset="-120"/>
              </a:rPr>
              <a:t>What began as a machine learning model evolved into a production-ready, business-integrated data product — one that delivers measurable retention value every week. The system embodies the full journey from raw data to strategic business impact.</a:t>
            </a:r>
            <a:endParaRPr lang="en-US" sz="1300" dirty="0"/>
          </a:p>
        </p:txBody>
      </p:sp>
      <p:sp>
        <p:nvSpPr>
          <p:cNvPr id="6" name="Shape 4"/>
          <p:cNvSpPr/>
          <p:nvPr/>
        </p:nvSpPr>
        <p:spPr>
          <a:xfrm>
            <a:off x="559475" y="2321838"/>
            <a:ext cx="6670477" cy="5374481"/>
          </a:xfrm>
          <a:prstGeom prst="roundRect">
            <a:avLst>
              <a:gd name="adj" fmla="val 2285"/>
            </a:avLst>
          </a:prstGeom>
          <a:solidFill>
            <a:srgbClr val="F2F2F3"/>
          </a:solidFill>
          <a:ln/>
        </p:spPr>
      </p:sp>
      <p:sp>
        <p:nvSpPr>
          <p:cNvPr id="7" name="Text 5"/>
          <p:cNvSpPr/>
          <p:nvPr/>
        </p:nvSpPr>
        <p:spPr>
          <a:xfrm>
            <a:off x="729972" y="2468404"/>
            <a:ext cx="2131933" cy="266462"/>
          </a:xfrm>
          <a:prstGeom prst="rect">
            <a:avLst/>
          </a:prstGeom>
          <a:noFill/>
          <a:ln/>
        </p:spPr>
        <p:txBody>
          <a:bodyPr wrap="none" lIns="0" tIns="0" rIns="0" bIns="0" rtlCol="0" anchor="t"/>
          <a:lstStyle/>
          <a:p>
            <a:pPr marL="0" indent="0" algn="l">
              <a:lnSpc>
                <a:spcPts val="2050"/>
              </a:lnSpc>
              <a:buNone/>
            </a:pPr>
            <a:r>
              <a:rPr lang="en-US" sz="1650" dirty="0">
                <a:solidFill>
                  <a:srgbClr val="000000"/>
                </a:solidFill>
                <a:latin typeface="Poppins Light" pitchFamily="34" charset="0"/>
                <a:ea typeface="Poppins Light" pitchFamily="34" charset="-122"/>
                <a:cs typeface="Poppins Light" pitchFamily="34" charset="-120"/>
              </a:rPr>
              <a:t>What We Built</a:t>
            </a:r>
            <a:endParaRPr lang="en-US" sz="1650" dirty="0"/>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3909" y="2908161"/>
            <a:ext cx="255746" cy="255746"/>
          </a:xfrm>
          <a:prstGeom prst="rect">
            <a:avLst/>
          </a:prstGeom>
        </p:spPr>
      </p:pic>
      <p:sp>
        <p:nvSpPr>
          <p:cNvPr id="9" name="Text 6"/>
          <p:cNvSpPr/>
          <p:nvPr/>
        </p:nvSpPr>
        <p:spPr>
          <a:xfrm>
            <a:off x="1284208" y="2899648"/>
            <a:ext cx="2518886" cy="507444"/>
          </a:xfrm>
          <a:prstGeom prst="rect">
            <a:avLst/>
          </a:prstGeom>
          <a:noFill/>
          <a:ln/>
        </p:spPr>
        <p:txBody>
          <a:bodyPr wrap="square" lIns="0" tIns="0" rIns="0" bIns="0" rtlCol="0" anchor="t"/>
          <a:lstStyle/>
          <a:p>
            <a:pPr marL="0" indent="0" algn="l">
              <a:lnSpc>
                <a:spcPts val="1950"/>
              </a:lnSpc>
              <a:buNone/>
            </a:pPr>
            <a:r>
              <a:rPr lang="en-US" sz="1300" b="1" dirty="0">
                <a:solidFill>
                  <a:srgbClr val="000000"/>
                </a:solidFill>
                <a:latin typeface="Roboto Light" pitchFamily="34" charset="0"/>
                <a:ea typeface="Roboto Light" pitchFamily="34" charset="-122"/>
                <a:cs typeface="Roboto Light" pitchFamily="34" charset="-120"/>
              </a:rPr>
              <a:t>Proactive retention</a:t>
            </a:r>
            <a:r>
              <a:rPr lang="en-US" sz="1300" dirty="0">
                <a:solidFill>
                  <a:srgbClr val="000000"/>
                </a:solidFill>
                <a:latin typeface="Roboto Light" pitchFamily="34" charset="0"/>
                <a:ea typeface="Roboto Light" pitchFamily="34" charset="-122"/>
                <a:cs typeface="Roboto Light" pitchFamily="34" charset="-120"/>
              </a:rPr>
              <a:t> — intervene before customers decide to leave</a:t>
            </a:r>
            <a:endParaRPr lang="en-US" sz="1300" dirty="0"/>
          </a:p>
        </p:txBody>
      </p:sp>
      <p:pic>
        <p:nvPicPr>
          <p:cNvPr id="10"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50149" y="2908161"/>
            <a:ext cx="255746" cy="255746"/>
          </a:xfrm>
          <a:prstGeom prst="rect">
            <a:avLst/>
          </a:prstGeom>
        </p:spPr>
      </p:pic>
      <p:sp>
        <p:nvSpPr>
          <p:cNvPr id="11" name="Text 7"/>
          <p:cNvSpPr/>
          <p:nvPr/>
        </p:nvSpPr>
        <p:spPr>
          <a:xfrm>
            <a:off x="4540448" y="2899648"/>
            <a:ext cx="2519005" cy="761167"/>
          </a:xfrm>
          <a:prstGeom prst="rect">
            <a:avLst/>
          </a:prstGeom>
          <a:noFill/>
          <a:ln/>
        </p:spPr>
        <p:txBody>
          <a:bodyPr wrap="square" lIns="0" tIns="0" rIns="0" bIns="0" rtlCol="0" anchor="t"/>
          <a:lstStyle/>
          <a:p>
            <a:pPr marL="0" indent="0" algn="l">
              <a:lnSpc>
                <a:spcPts val="1950"/>
              </a:lnSpc>
              <a:buNone/>
            </a:pPr>
            <a:r>
              <a:rPr lang="en-US" sz="1300" b="1" dirty="0">
                <a:solidFill>
                  <a:srgbClr val="000000"/>
                </a:solidFill>
                <a:latin typeface="Roboto Light" pitchFamily="34" charset="0"/>
                <a:ea typeface="Roboto Light" pitchFamily="34" charset="-122"/>
                <a:cs typeface="Roboto Light" pitchFamily="34" charset="-120"/>
              </a:rPr>
              <a:t>Marketing efficiency</a:t>
            </a:r>
            <a:r>
              <a:rPr lang="en-US" sz="1300" dirty="0">
                <a:solidFill>
                  <a:srgbClr val="000000"/>
                </a:solidFill>
                <a:latin typeface="Roboto Light" pitchFamily="34" charset="0"/>
                <a:ea typeface="Roboto Light" pitchFamily="34" charset="-122"/>
                <a:cs typeface="Roboto Light" pitchFamily="34" charset="-120"/>
              </a:rPr>
              <a:t> — focus spend on the highest-value targets</a:t>
            </a:r>
            <a:endParaRPr lang="en-US" sz="130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3909" y="3962460"/>
            <a:ext cx="255746" cy="255746"/>
          </a:xfrm>
          <a:prstGeom prst="rect">
            <a:avLst/>
          </a:prstGeom>
        </p:spPr>
      </p:pic>
      <p:sp>
        <p:nvSpPr>
          <p:cNvPr id="13" name="Text 8"/>
          <p:cNvSpPr/>
          <p:nvPr/>
        </p:nvSpPr>
        <p:spPr>
          <a:xfrm>
            <a:off x="1284208" y="3953947"/>
            <a:ext cx="2518886" cy="761167"/>
          </a:xfrm>
          <a:prstGeom prst="rect">
            <a:avLst/>
          </a:prstGeom>
          <a:noFill/>
          <a:ln/>
        </p:spPr>
        <p:txBody>
          <a:bodyPr wrap="square" lIns="0" tIns="0" rIns="0" bIns="0" rtlCol="0" anchor="t"/>
          <a:lstStyle/>
          <a:p>
            <a:pPr marL="0" indent="0" algn="l">
              <a:lnSpc>
                <a:spcPts val="1950"/>
              </a:lnSpc>
              <a:buNone/>
            </a:pPr>
            <a:r>
              <a:rPr lang="en-US" sz="1300" b="1" dirty="0">
                <a:solidFill>
                  <a:srgbClr val="000000"/>
                </a:solidFill>
                <a:latin typeface="Roboto Light" pitchFamily="34" charset="0"/>
                <a:ea typeface="Roboto Light" pitchFamily="34" charset="-122"/>
                <a:cs typeface="Roboto Light" pitchFamily="34" charset="-120"/>
              </a:rPr>
              <a:t>Measurable ROI</a:t>
            </a:r>
            <a:r>
              <a:rPr lang="en-US" sz="1300" dirty="0">
                <a:solidFill>
                  <a:srgbClr val="000000"/>
                </a:solidFill>
                <a:latin typeface="Roboto Light" pitchFamily="34" charset="0"/>
                <a:ea typeface="Roboto Light" pitchFamily="34" charset="-122"/>
                <a:cs typeface="Roboto Light" pitchFamily="34" charset="-120"/>
              </a:rPr>
              <a:t> — $5.1M net benefit, 170% return, sub-year payback</a:t>
            </a:r>
            <a:endParaRPr lang="en-US" sz="1300" dirty="0"/>
          </a:p>
        </p:txBody>
      </p:sp>
      <p:pic>
        <p:nvPicPr>
          <p:cNvPr id="14"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50149" y="3962460"/>
            <a:ext cx="255746" cy="255746"/>
          </a:xfrm>
          <a:prstGeom prst="rect">
            <a:avLst/>
          </a:prstGeom>
        </p:spPr>
      </p:pic>
      <p:sp>
        <p:nvSpPr>
          <p:cNvPr id="15" name="Text 9"/>
          <p:cNvSpPr/>
          <p:nvPr/>
        </p:nvSpPr>
        <p:spPr>
          <a:xfrm>
            <a:off x="4540448" y="3953947"/>
            <a:ext cx="2519005" cy="761167"/>
          </a:xfrm>
          <a:prstGeom prst="rect">
            <a:avLst/>
          </a:prstGeom>
          <a:noFill/>
          <a:ln/>
        </p:spPr>
        <p:txBody>
          <a:bodyPr wrap="square" lIns="0" tIns="0" rIns="0" bIns="0" rtlCol="0" anchor="t"/>
          <a:lstStyle/>
          <a:p>
            <a:pPr marL="0" indent="0" algn="l">
              <a:lnSpc>
                <a:spcPts val="1950"/>
              </a:lnSpc>
              <a:buNone/>
            </a:pPr>
            <a:r>
              <a:rPr lang="en-US" sz="1300" b="1" dirty="0">
                <a:solidFill>
                  <a:srgbClr val="000000"/>
                </a:solidFill>
                <a:latin typeface="Roboto Light" pitchFamily="34" charset="0"/>
                <a:ea typeface="Roboto Light" pitchFamily="34" charset="-122"/>
                <a:cs typeface="Roboto Light" pitchFamily="34" charset="-120"/>
              </a:rPr>
              <a:t>Scalable infrastructure</a:t>
            </a:r>
            <a:r>
              <a:rPr lang="en-US" sz="1300" dirty="0">
                <a:solidFill>
                  <a:srgbClr val="000000"/>
                </a:solidFill>
                <a:latin typeface="Roboto Light" pitchFamily="34" charset="0"/>
                <a:ea typeface="Roboto Light" pitchFamily="34" charset="-122"/>
                <a:cs typeface="Roboto Light" pitchFamily="34" charset="-120"/>
              </a:rPr>
              <a:t> — Dockerized, automated, CRM-integrated</a:t>
            </a:r>
            <a:endParaRPr lang="en-US" sz="1300" dirty="0"/>
          </a:p>
        </p:txBody>
      </p:sp>
      <p:sp>
        <p:nvSpPr>
          <p:cNvPr id="16" name="Text 10"/>
          <p:cNvSpPr/>
          <p:nvPr/>
        </p:nvSpPr>
        <p:spPr>
          <a:xfrm>
            <a:off x="7530822" y="2468404"/>
            <a:ext cx="2131933" cy="266462"/>
          </a:xfrm>
          <a:prstGeom prst="rect">
            <a:avLst/>
          </a:prstGeom>
          <a:noFill/>
          <a:ln/>
        </p:spPr>
        <p:txBody>
          <a:bodyPr wrap="none" lIns="0" tIns="0" rIns="0" bIns="0" rtlCol="0" anchor="t"/>
          <a:lstStyle/>
          <a:p>
            <a:pPr marL="0" indent="0" algn="l">
              <a:lnSpc>
                <a:spcPts val="2050"/>
              </a:lnSpc>
              <a:buNone/>
            </a:pPr>
            <a:r>
              <a:rPr lang="en-US" sz="1650" dirty="0">
                <a:solidFill>
                  <a:srgbClr val="F2F2F3"/>
                </a:solidFill>
                <a:latin typeface="Poppins Light" pitchFamily="34" charset="0"/>
                <a:ea typeface="Poppins Light" pitchFamily="34" charset="-122"/>
                <a:cs typeface="Poppins Light" pitchFamily="34" charset="-120"/>
              </a:rPr>
              <a:t>Future Roadmap</a:t>
            </a:r>
            <a:endParaRPr lang="en-US" sz="1650" dirty="0"/>
          </a:p>
        </p:txBody>
      </p:sp>
      <p:sp>
        <p:nvSpPr>
          <p:cNvPr id="17" name="Text 11"/>
          <p:cNvSpPr/>
          <p:nvPr/>
        </p:nvSpPr>
        <p:spPr>
          <a:xfrm>
            <a:off x="7530822" y="2899648"/>
            <a:ext cx="341114" cy="213122"/>
          </a:xfrm>
          <a:prstGeom prst="rect">
            <a:avLst/>
          </a:prstGeom>
          <a:noFill/>
          <a:ln/>
        </p:spPr>
        <p:txBody>
          <a:bodyPr wrap="none" lIns="0" tIns="0" rIns="0" bIns="0" rtlCol="0" anchor="t"/>
          <a:lstStyle/>
          <a:p>
            <a:pPr marL="0" indent="0" algn="l">
              <a:lnSpc>
                <a:spcPts val="1950"/>
              </a:lnSpc>
              <a:buNone/>
            </a:pPr>
            <a:r>
              <a:rPr lang="en-US" sz="1300" dirty="0">
                <a:solidFill>
                  <a:srgbClr val="E5E0DF"/>
                </a:solidFill>
                <a:latin typeface="Poppins Light" pitchFamily="34" charset="0"/>
                <a:ea typeface="Poppins Light" pitchFamily="34" charset="-122"/>
                <a:cs typeface="Poppins Light" pitchFamily="34" charset="-120"/>
              </a:rPr>
              <a:t>01</a:t>
            </a:r>
            <a:endParaRPr lang="en-US" sz="1300" dirty="0"/>
          </a:p>
        </p:txBody>
      </p:sp>
      <p:sp>
        <p:nvSpPr>
          <p:cNvPr id="18" name="Shape 12"/>
          <p:cNvSpPr/>
          <p:nvPr/>
        </p:nvSpPr>
        <p:spPr>
          <a:xfrm>
            <a:off x="7530822" y="3166586"/>
            <a:ext cx="6424970" cy="22860"/>
          </a:xfrm>
          <a:prstGeom prst="rect">
            <a:avLst/>
          </a:prstGeom>
          <a:solidFill>
            <a:srgbClr val="F2F2F3"/>
          </a:solidFill>
          <a:ln/>
        </p:spPr>
      </p:sp>
      <p:sp>
        <p:nvSpPr>
          <p:cNvPr id="19" name="Text 13"/>
          <p:cNvSpPr/>
          <p:nvPr/>
        </p:nvSpPr>
        <p:spPr>
          <a:xfrm>
            <a:off x="7530822" y="3297555"/>
            <a:ext cx="2131933" cy="266462"/>
          </a:xfrm>
          <a:prstGeom prst="rect">
            <a:avLst/>
          </a:prstGeom>
          <a:noFill/>
          <a:ln/>
        </p:spPr>
        <p:txBody>
          <a:bodyPr wrap="none" lIns="0" tIns="0" rIns="0" bIns="0" rtlCol="0" anchor="t"/>
          <a:lstStyle/>
          <a:p>
            <a:pPr marL="0" indent="0" algn="l">
              <a:lnSpc>
                <a:spcPts val="2050"/>
              </a:lnSpc>
              <a:buNone/>
            </a:pPr>
            <a:r>
              <a:rPr lang="en-US" sz="1650" dirty="0">
                <a:solidFill>
                  <a:srgbClr val="E5E0DF"/>
                </a:solidFill>
                <a:latin typeface="Poppins Light" pitchFamily="34" charset="0"/>
                <a:ea typeface="Poppins Light" pitchFamily="34" charset="-122"/>
                <a:cs typeface="Poppins Light" pitchFamily="34" charset="-120"/>
              </a:rPr>
              <a:t>Real-Time Scoring</a:t>
            </a:r>
            <a:endParaRPr lang="en-US" sz="1650" dirty="0"/>
          </a:p>
        </p:txBody>
      </p:sp>
      <p:sp>
        <p:nvSpPr>
          <p:cNvPr id="20" name="Text 14"/>
          <p:cNvSpPr/>
          <p:nvPr/>
        </p:nvSpPr>
        <p:spPr>
          <a:xfrm>
            <a:off x="7530822" y="3710583"/>
            <a:ext cx="6424970" cy="507444"/>
          </a:xfrm>
          <a:prstGeom prst="rect">
            <a:avLst/>
          </a:prstGeom>
          <a:noFill/>
          <a:ln/>
        </p:spPr>
        <p:txBody>
          <a:bodyPr wrap="square" lIns="0" tIns="0" rIns="0" bIns="0" rtlCol="0" anchor="t"/>
          <a:lstStyle/>
          <a:p>
            <a:pPr marL="0" indent="0" algn="l">
              <a:lnSpc>
                <a:spcPts val="1950"/>
              </a:lnSpc>
              <a:buNone/>
            </a:pPr>
            <a:r>
              <a:rPr lang="en-US" sz="1300" dirty="0">
                <a:solidFill>
                  <a:srgbClr val="E5E0DF"/>
                </a:solidFill>
                <a:latin typeface="Roboto Light" pitchFamily="34" charset="0"/>
                <a:ea typeface="Roboto Light" pitchFamily="34" charset="-122"/>
                <a:cs typeface="Roboto Light" pitchFamily="34" charset="-120"/>
              </a:rPr>
              <a:t>Move from weekly batch scoring to event-triggered real-time predictions for faster intervention.</a:t>
            </a:r>
            <a:endParaRPr lang="en-US" sz="1300" dirty="0"/>
          </a:p>
        </p:txBody>
      </p:sp>
      <p:sp>
        <p:nvSpPr>
          <p:cNvPr id="21" name="Text 15"/>
          <p:cNvSpPr/>
          <p:nvPr/>
        </p:nvSpPr>
        <p:spPr>
          <a:xfrm>
            <a:off x="7530822" y="4492466"/>
            <a:ext cx="341114" cy="213122"/>
          </a:xfrm>
          <a:prstGeom prst="rect">
            <a:avLst/>
          </a:prstGeom>
          <a:noFill/>
          <a:ln/>
        </p:spPr>
        <p:txBody>
          <a:bodyPr wrap="none" lIns="0" tIns="0" rIns="0" bIns="0" rtlCol="0" anchor="t"/>
          <a:lstStyle/>
          <a:p>
            <a:pPr marL="0" indent="0" algn="l">
              <a:lnSpc>
                <a:spcPts val="1950"/>
              </a:lnSpc>
              <a:buNone/>
            </a:pPr>
            <a:r>
              <a:rPr lang="en-US" sz="1300" dirty="0">
                <a:solidFill>
                  <a:srgbClr val="E5E0DF"/>
                </a:solidFill>
                <a:latin typeface="Poppins Light" pitchFamily="34" charset="0"/>
                <a:ea typeface="Poppins Light" pitchFamily="34" charset="-122"/>
                <a:cs typeface="Poppins Light" pitchFamily="34" charset="-120"/>
              </a:rPr>
              <a:t>02</a:t>
            </a:r>
            <a:endParaRPr lang="en-US" sz="1300" dirty="0"/>
          </a:p>
        </p:txBody>
      </p:sp>
      <p:sp>
        <p:nvSpPr>
          <p:cNvPr id="22" name="Shape 16"/>
          <p:cNvSpPr/>
          <p:nvPr/>
        </p:nvSpPr>
        <p:spPr>
          <a:xfrm>
            <a:off x="7530822" y="4759404"/>
            <a:ext cx="6424970" cy="22860"/>
          </a:xfrm>
          <a:prstGeom prst="rect">
            <a:avLst/>
          </a:prstGeom>
          <a:solidFill>
            <a:srgbClr val="F2F2F3"/>
          </a:solidFill>
          <a:ln/>
        </p:spPr>
      </p:sp>
      <p:sp>
        <p:nvSpPr>
          <p:cNvPr id="23" name="Text 17"/>
          <p:cNvSpPr/>
          <p:nvPr/>
        </p:nvSpPr>
        <p:spPr>
          <a:xfrm>
            <a:off x="7530822" y="4890373"/>
            <a:ext cx="2894886" cy="266462"/>
          </a:xfrm>
          <a:prstGeom prst="rect">
            <a:avLst/>
          </a:prstGeom>
          <a:noFill/>
          <a:ln/>
        </p:spPr>
        <p:txBody>
          <a:bodyPr wrap="none" lIns="0" tIns="0" rIns="0" bIns="0" rtlCol="0" anchor="t"/>
          <a:lstStyle/>
          <a:p>
            <a:pPr marL="0" indent="0" algn="l">
              <a:lnSpc>
                <a:spcPts val="2050"/>
              </a:lnSpc>
              <a:buNone/>
            </a:pPr>
            <a:r>
              <a:rPr lang="en-US" sz="1650" dirty="0">
                <a:solidFill>
                  <a:srgbClr val="E5E0DF"/>
                </a:solidFill>
                <a:latin typeface="Poppins Light" pitchFamily="34" charset="0"/>
                <a:ea typeface="Poppins Light" pitchFamily="34" charset="-122"/>
                <a:cs typeface="Poppins Light" pitchFamily="34" charset="-120"/>
              </a:rPr>
              <a:t>Behavioral Data Integration</a:t>
            </a:r>
            <a:endParaRPr lang="en-US" sz="1650" dirty="0"/>
          </a:p>
        </p:txBody>
      </p:sp>
      <p:sp>
        <p:nvSpPr>
          <p:cNvPr id="24" name="Text 18"/>
          <p:cNvSpPr/>
          <p:nvPr/>
        </p:nvSpPr>
        <p:spPr>
          <a:xfrm>
            <a:off x="7530822" y="5303401"/>
            <a:ext cx="6424970" cy="507444"/>
          </a:xfrm>
          <a:prstGeom prst="rect">
            <a:avLst/>
          </a:prstGeom>
          <a:noFill/>
          <a:ln/>
        </p:spPr>
        <p:txBody>
          <a:bodyPr wrap="square" lIns="0" tIns="0" rIns="0" bIns="0" rtlCol="0" anchor="t"/>
          <a:lstStyle/>
          <a:p>
            <a:pPr marL="0" indent="0" algn="l">
              <a:lnSpc>
                <a:spcPts val="1950"/>
              </a:lnSpc>
              <a:buNone/>
            </a:pPr>
            <a:r>
              <a:rPr lang="en-US" sz="1300" dirty="0">
                <a:solidFill>
                  <a:srgbClr val="E5E0DF"/>
                </a:solidFill>
                <a:latin typeface="Roboto Light" pitchFamily="34" charset="0"/>
                <a:ea typeface="Roboto Light" pitchFamily="34" charset="-122"/>
                <a:cs typeface="Roboto Light" pitchFamily="34" charset="-120"/>
              </a:rPr>
              <a:t>Enrich the model with app usage, call patterns, and support ticket history for greater predictive depth.</a:t>
            </a:r>
            <a:endParaRPr lang="en-US" sz="1300" dirty="0"/>
          </a:p>
        </p:txBody>
      </p:sp>
      <p:sp>
        <p:nvSpPr>
          <p:cNvPr id="25" name="Text 19"/>
          <p:cNvSpPr/>
          <p:nvPr/>
        </p:nvSpPr>
        <p:spPr>
          <a:xfrm>
            <a:off x="7530822" y="6085284"/>
            <a:ext cx="341114" cy="213122"/>
          </a:xfrm>
          <a:prstGeom prst="rect">
            <a:avLst/>
          </a:prstGeom>
          <a:noFill/>
          <a:ln/>
        </p:spPr>
        <p:txBody>
          <a:bodyPr wrap="none" lIns="0" tIns="0" rIns="0" bIns="0" rtlCol="0" anchor="t"/>
          <a:lstStyle/>
          <a:p>
            <a:pPr marL="0" indent="0" algn="l">
              <a:lnSpc>
                <a:spcPts val="1950"/>
              </a:lnSpc>
              <a:buNone/>
            </a:pPr>
            <a:r>
              <a:rPr lang="en-US" sz="1300" dirty="0">
                <a:solidFill>
                  <a:srgbClr val="E5E0DF"/>
                </a:solidFill>
                <a:latin typeface="Poppins Light" pitchFamily="34" charset="0"/>
                <a:ea typeface="Poppins Light" pitchFamily="34" charset="-122"/>
                <a:cs typeface="Poppins Light" pitchFamily="34" charset="-120"/>
              </a:rPr>
              <a:t>03</a:t>
            </a:r>
            <a:endParaRPr lang="en-US" sz="1300" dirty="0"/>
          </a:p>
        </p:txBody>
      </p:sp>
      <p:sp>
        <p:nvSpPr>
          <p:cNvPr id="26" name="Shape 20"/>
          <p:cNvSpPr/>
          <p:nvPr/>
        </p:nvSpPr>
        <p:spPr>
          <a:xfrm>
            <a:off x="7530822" y="6352223"/>
            <a:ext cx="6424970" cy="22860"/>
          </a:xfrm>
          <a:prstGeom prst="rect">
            <a:avLst/>
          </a:prstGeom>
          <a:solidFill>
            <a:srgbClr val="F2F2F3"/>
          </a:solidFill>
          <a:ln/>
        </p:spPr>
      </p:sp>
      <p:sp>
        <p:nvSpPr>
          <p:cNvPr id="27" name="Text 21"/>
          <p:cNvSpPr/>
          <p:nvPr/>
        </p:nvSpPr>
        <p:spPr>
          <a:xfrm>
            <a:off x="7530822" y="6483191"/>
            <a:ext cx="2239328" cy="266462"/>
          </a:xfrm>
          <a:prstGeom prst="rect">
            <a:avLst/>
          </a:prstGeom>
          <a:noFill/>
          <a:ln/>
        </p:spPr>
        <p:txBody>
          <a:bodyPr wrap="none" lIns="0" tIns="0" rIns="0" bIns="0" rtlCol="0" anchor="t"/>
          <a:lstStyle/>
          <a:p>
            <a:pPr marL="0" indent="0" algn="l">
              <a:lnSpc>
                <a:spcPts val="2050"/>
              </a:lnSpc>
              <a:buNone/>
            </a:pPr>
            <a:r>
              <a:rPr lang="en-US" sz="1650" dirty="0">
                <a:solidFill>
                  <a:srgbClr val="E5E0DF"/>
                </a:solidFill>
                <a:latin typeface="Poppins Light" pitchFamily="34" charset="0"/>
                <a:ea typeface="Poppins Light" pitchFamily="34" charset="-122"/>
                <a:cs typeface="Poppins Light" pitchFamily="34" charset="-120"/>
              </a:rPr>
              <a:t>Retention Dashboard</a:t>
            </a:r>
            <a:endParaRPr lang="en-US" sz="1650" dirty="0"/>
          </a:p>
        </p:txBody>
      </p:sp>
      <p:sp>
        <p:nvSpPr>
          <p:cNvPr id="28" name="Text 22"/>
          <p:cNvSpPr/>
          <p:nvPr/>
        </p:nvSpPr>
        <p:spPr>
          <a:xfrm>
            <a:off x="7530822" y="6896219"/>
            <a:ext cx="6424970" cy="507444"/>
          </a:xfrm>
          <a:prstGeom prst="rect">
            <a:avLst/>
          </a:prstGeom>
          <a:noFill/>
          <a:ln/>
        </p:spPr>
        <p:txBody>
          <a:bodyPr wrap="square" lIns="0" tIns="0" rIns="0" bIns="0" rtlCol="0" anchor="t"/>
          <a:lstStyle/>
          <a:p>
            <a:pPr marL="0" indent="0" algn="l">
              <a:lnSpc>
                <a:spcPts val="1950"/>
              </a:lnSpc>
              <a:buNone/>
            </a:pPr>
            <a:r>
              <a:rPr lang="en-US" sz="1300" dirty="0">
                <a:solidFill>
                  <a:srgbClr val="E5E0DF"/>
                </a:solidFill>
                <a:latin typeface="Roboto Light" pitchFamily="34" charset="0"/>
                <a:ea typeface="Roboto Light" pitchFamily="34" charset="-122"/>
                <a:cs typeface="Roboto Light" pitchFamily="34" charset="-120"/>
              </a:rPr>
              <a:t>Build an interactive BI dashboard for campaign monitoring, model performance tracking, and executive reporting.</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Personalizado</PresentationFormat>
  <Paragraphs>0</Paragraphs>
  <Slides>20</Slides>
  <Notes>20</Notes>
  <HiddenSlides>0</HiddenSlides>
  <MMClips>0</MMClips>
  <ScaleCrop>false</ScaleCrop>
  <HeadingPairs>
    <vt:vector size="4" baseType="variant">
      <vt:variant>
        <vt:lpstr>Tema</vt:lpstr>
      </vt:variant>
      <vt:variant>
        <vt:i4>1</vt:i4>
      </vt:variant>
      <vt:variant>
        <vt:lpstr>Títulos de diapositiva</vt:lpstr>
      </vt:variant>
      <vt:variant>
        <vt:i4>20</vt:i4>
      </vt:variant>
    </vt:vector>
  </HeadingPairs>
  <TitlesOfParts>
    <vt:vector size="21" baseType="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30</cp:revision>
  <dcterms:created xsi:type="dcterms:W3CDTF">2026-04-20T07:14:07Z</dcterms:created>
  <dcterms:modified xsi:type="dcterms:W3CDTF">2026-04-21T10:33:43Z</dcterms:modified>
</cp:coreProperties>
</file>